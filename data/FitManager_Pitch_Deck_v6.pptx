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FitManager Studio+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CRM scientifico per professionisti fitness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Privacy-first. Offline. Deterministico.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97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391+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4297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34640" y="4663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Condizioni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Mediche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4297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4663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4297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40880" y="4663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Problema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professionista fitness oggi lavora con strumenti frammentati, costosi e insicuri.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9144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strumenti separati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Excel, app note, agenda cartacea, calcolatrice, Google Drive...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65760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54480"/>
            <a:ext cx="54864" cy="9144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su cloud stranieri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93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clinici dei tuoi clienti su server USA/UK. GDPR? Speriamo.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365760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651760"/>
            <a:ext cx="54864" cy="9144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24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in inglese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90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Interfacce pensate per il mercato USA, tradotte male o mai.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365760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651760"/>
            <a:ext cx="54864" cy="9144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724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da 15-130 EUR/mese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090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Trainerize EUR 58/mese, Virtuagym EUR 65/mese, PT Distinction EUR 45/mese.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749040"/>
            <a:ext cx="365760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749040"/>
            <a:ext cx="54864" cy="9144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822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scienza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879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competitor ha EMG matrix, volume model, o safety engine.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49040"/>
            <a:ext cx="365760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49040"/>
            <a:ext cx="54864" cy="9144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822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privacy reale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41879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anamnesi, patologie, farmaci: tutto in cloud senza garanzie.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Mercato Italiano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nicchia enorme e completamente scoperta.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30-50K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Trainer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P.IVA in Italia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55448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 Fitness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Palestre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 3.1B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Settore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Italia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47472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66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nicchia vuota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CRM in Italia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combina gestione clienti + programmazione scientifica + privacy locale.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competitor globali (Trainerize, MyPTHub, TrueCoach) sono cloud-only, in inglese, senza motori scientifici.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EvolutionFit (unico italiano) ha plicometria base ma zero biomeccanica, EMG, o safety engine.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Soluzione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CRM all-in-one pensato per chi lavora con il corpo delle persone.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Completo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Clienti, contratti, agenda, pagamenti, monitoraggio. Tutto in un posto.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14600"/>
            <a:ext cx="54864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Scienza Integrata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834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matrix, volume model, safety engine, periodizzazione evidence-based.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29184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Assoluta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611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cloud. I dati restano sul tuo PC. Crittografia RSA 2048.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0690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Italiano Nativo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389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terminologia, e logica pensate per il professionista italiano P.IVA.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Privacy-First: I Tuoi Dati sul Tuo PC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Obbligatorio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locale. Nessun dato lascia il tuo computer. Mai.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Crittografia RSA 2048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firmata con chiave asimmetrica. Nessun phone-home.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37744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Atomico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sqlite3.backup() + SHA-256 checksum + integrity check. Ripristino 1-click.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37744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Nativo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clinici, anamnesi, patologie, farmaci: tutto locale, zero rischio.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56616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Condivisione Controllata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VPN per accesso LAN sicuro. Funnel HTTPS per link pubblici temporanei.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56616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Sopravvive agli Aggiornamenti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Cartella data/ separata dal software. Aggiorna senza perdere nulla.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Ciclo di Lavoro — Fase 1: Onboarding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261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 Cliente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Crei il profilo in 30 secondi. Nome, contatti, obiettivo.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03120"/>
            <a:ext cx="73152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2176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Anamnesi Scientifica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Questionario 6-step: vita, obiettivi, sport, salute, alimentazione, logistica. Anche self-service via link smartphone.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731520" cy="77724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3090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Profile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regole estraggono automaticamente condizioni mediche. Risk Body Map con zone a rischio.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931920"/>
            <a:ext cx="73152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45920" y="4005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Pacchetto, crediti, prezzo, piano rate. 12 livelli di protezione finanziaria.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Ciclo di Lavoro — Fase 2: Operativo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261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&amp; Sessioni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drag &amp; drop. Ogni sessione PT consuma 1 credito automaticamente. Alert contratti in scadenza.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03120"/>
            <a:ext cx="73152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2176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Oggi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operativa: sessioni di oggi, readiness clinica, alert, azioni rapide. Tutto in un colpo d'occhio.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73152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3090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Pagamenti &amp; Cassa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atomico rate, saldo cumulativo, previsioni 3 mesi, spese ricorrenti, libro mastro.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931920"/>
            <a:ext cx="731520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45920" y="4005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Catena rinnovi con storico. Pre-fill automatico. Acconto atomico. Navigazione breadcrumb.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Ciclo di Lavoro — Fase 3: Scientifico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261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Allenamento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3-tab: sessioni board, analisi 4D scientifica, anteprima PDF. Drag &amp; drop con blocchi strutturati.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03120"/>
            <a:ext cx="73152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2176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grid, log allenamenti, portale 360 gradi. Avatar cliente a 6 dimensioni con semafori.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73152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3090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Misurazioni &amp; Clinica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Composizione corporea, BMI, FFMI, WHR. Range normativi OMS/ACSM/AHA. Trend automatici.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931920"/>
            <a:ext cx="7315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45920" y="4005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Nutrizione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7 giorni con scoring LARN. 226 alimenti CREA. Rotazione proteica. Validazione 3 assi.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Tempo che Risparmi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 risparmiata e un'ora in piu con i tuoi clienti.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0" y="1051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FitManager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4206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716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Anamnesi cliente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3716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1371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self-service: il cliente compila da smartphone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847088"/>
            <a:ext cx="822960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8470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Programmazione scheda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18470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45-60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18470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1847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Builder 4 fasi genera e analizza automaticamente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22576"/>
            <a:ext cx="8229600" cy="4206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32257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controindicazioni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min (manuale)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232257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Istantaneo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3225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 incrocia 47 condizioni x 434 esercizi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798064"/>
            <a:ext cx="822960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7980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pagamenti e 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279806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min/settimana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27980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279806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atomico 1-click, scadenze automatiche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273552"/>
            <a:ext cx="8229600" cy="4206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2735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 misurazioni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0" y="327355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31920" y="32735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327355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normativi OMS/ACSM calcolati in tempo reale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~4-6 ore/settimana risparmiate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3152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200+ ore/anno reinvestite nei tuoi clienti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0" y="3886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liberato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piu clienti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servizio migliore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tariffe piu alte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Tuo Cockpit Quotidiano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agenda, promemoria, alert operativi, readiness clinica.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37947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/Users/gvera/Projects/FitManager_AI_Studio/data/screenshots/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68096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Engine: Protezione Clinica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che nessun competitor ha. Ogni esercizio analizzato contro il profilo clinico del cliente.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3716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463040"/>
            <a:ext cx="13716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463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Pattern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463040"/>
            <a:ext cx="137160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1463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Condizioni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Mediche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463040"/>
            <a:ext cx="1371600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463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Esercizio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1463040"/>
            <a:ext cx="1371600" cy="8229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463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16002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49040" y="16002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16002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40880" y="16002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Livelli di Severita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237744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017520"/>
            <a:ext cx="54864" cy="9144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 controindicato. Escludere dalla scheda.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3017520"/>
            <a:ext cx="2377440" cy="9144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30175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Cautela. Possibile con adattamenti specifici.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017520"/>
            <a:ext cx="2377440" cy="9144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3017520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Adattare ROM, grip o carico. Biomeccanica specifica.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420624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Filosofia: INFORMARE, MAI LIMITARE. Il trainer decide sempre. Zero blocking, 100% informazione.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Tassonomico Scientifico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 Attivi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compound, 101 isolation, 54 stretching,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bodyweight, 35 cardio, 30 mobilita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280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Muscoli NSCA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gruppi muscolari principali.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 EMG 0-100 per esercizio.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280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Articolazioni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tipi giuntura (hinge, ball&amp;socket...).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in gradi per esercizio.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108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Condizioni Mediche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categorie: ortopediche, cardiovascolari,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metaboliche, neurologiche, speciali.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301752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0" y="3108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65760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 Esercizi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Composto, Isolamento, Corpo Libero,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Cardio, Stretching, Mobilita, Avviamento.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3108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10D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40080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Vettore Biomeccanico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Skill, coordinazione, stabilita, ballistico,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impatto, assiale, spalla, lombare, grip, metabolico.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Science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~3.500 linee di codice. 10 moduli core + 18 SMART runtime layers. Ogni numero ha una fonte scientifica.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645920" cy="4114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280160"/>
            <a:ext cx="59436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2801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(15 enum, 21 modelli) | Principles (5 obiettivi x 7 parametri)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16459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MUSCOLI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828800"/>
            <a:ext cx="59436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8288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Matrix 18x15 | Volume MEV/MAV/MRV | Balance Ratios (5)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77440"/>
            <a:ext cx="164592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PIANIFICAZIONE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2377440"/>
            <a:ext cx="59436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3774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Logic | Session Order | Plan Builder 4 fasi | Analyzer 4D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16459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PERIODIZZAZIONE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926080"/>
            <a:ext cx="59436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29260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Mesociclo a blocchi: Accumulazione &gt; Intensificazione &gt; Overreaching &gt; Deload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474720"/>
            <a:ext cx="16459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RUNTIME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3474720"/>
            <a:ext cx="59436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47472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Protocolli | Constraint Engine | 10D Demand | Feasibility | 6 Benchmark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152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18x15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83464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Matrix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93776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04088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Functions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EMG Matrix &amp; Volume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Contribuzione EMG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86868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64208" y="86868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Dorsali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139696" y="86868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 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615184" y="86868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090672" y="86868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Tricip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566160" y="86868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041648" y="86868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Femor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17136" y="86868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4320" y="10515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88720" y="1051560"/>
            <a:ext cx="457200" cy="2377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64208" y="105156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139696" y="1051560"/>
            <a:ext cx="4572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2615184" y="105156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090672" y="1051560"/>
            <a:ext cx="4572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105156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041648" y="105156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17136" y="105156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130759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88720" y="1307592"/>
            <a:ext cx="457200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Shape 21"/>
          <p:cNvSpPr/>
          <p:nvPr/>
        </p:nvSpPr>
        <p:spPr>
          <a:xfrm>
            <a:off x="1664208" y="130759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139696" y="1307592"/>
            <a:ext cx="457200" cy="2377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Shape 23"/>
          <p:cNvSpPr/>
          <p:nvPr/>
        </p:nvSpPr>
        <p:spPr>
          <a:xfrm>
            <a:off x="2615184" y="130759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090672" y="1307592"/>
            <a:ext cx="4572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Shape 25"/>
          <p:cNvSpPr/>
          <p:nvPr/>
        </p:nvSpPr>
        <p:spPr>
          <a:xfrm>
            <a:off x="3566160" y="130759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41648" y="130759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17136" y="130759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156362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88720" y="1563624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664208" y="1563624"/>
            <a:ext cx="457200" cy="2377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Shape 31"/>
          <p:cNvSpPr/>
          <p:nvPr/>
        </p:nvSpPr>
        <p:spPr>
          <a:xfrm>
            <a:off x="2139696" y="1563624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615184" y="1563624"/>
            <a:ext cx="4572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Shape 33"/>
          <p:cNvSpPr/>
          <p:nvPr/>
        </p:nvSpPr>
        <p:spPr>
          <a:xfrm>
            <a:off x="3090672" y="1563624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566160" y="1563624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041648" y="1563624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517136" y="1563624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18196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V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0" y="1819656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664208" y="1819656"/>
            <a:ext cx="457200" cy="2377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2" name="Shape 40"/>
          <p:cNvSpPr/>
          <p:nvPr/>
        </p:nvSpPr>
        <p:spPr>
          <a:xfrm>
            <a:off x="2139696" y="1819656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2615184" y="1819656"/>
            <a:ext cx="4572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Shape 42"/>
          <p:cNvSpPr/>
          <p:nvPr/>
        </p:nvSpPr>
        <p:spPr>
          <a:xfrm>
            <a:off x="3090672" y="1819656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3566160" y="1819656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041648" y="1819656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517136" y="1819656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07568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188720" y="2075688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664208" y="2075688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2139696" y="2075688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2615184" y="2075688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3090672" y="2075688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3566160" y="2075688"/>
            <a:ext cx="457200" cy="2377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5" name="Shape 53"/>
          <p:cNvSpPr/>
          <p:nvPr/>
        </p:nvSpPr>
        <p:spPr>
          <a:xfrm>
            <a:off x="4041648" y="2075688"/>
            <a:ext cx="457200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6" name="Shape 54"/>
          <p:cNvSpPr/>
          <p:nvPr/>
        </p:nvSpPr>
        <p:spPr>
          <a:xfrm>
            <a:off x="4517136" y="2075688"/>
            <a:ext cx="4572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233172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188720" y="233172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1664208" y="233172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2139696" y="233172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2615184" y="233172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3090672" y="2331720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3566160" y="2331720"/>
            <a:ext cx="457200" cy="23774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64" name="Shape 62"/>
          <p:cNvSpPr/>
          <p:nvPr/>
        </p:nvSpPr>
        <p:spPr>
          <a:xfrm>
            <a:off x="4041648" y="2331720"/>
            <a:ext cx="457200" cy="2377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5" name="Shape 63"/>
          <p:cNvSpPr/>
          <p:nvPr/>
        </p:nvSpPr>
        <p:spPr>
          <a:xfrm>
            <a:off x="4517136" y="2331720"/>
            <a:ext cx="4572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25877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188720" y="258775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1664208" y="258775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2139696" y="258775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2615184" y="2587752"/>
            <a:ext cx="457200" cy="2377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1" name="Shape 69"/>
          <p:cNvSpPr/>
          <p:nvPr/>
        </p:nvSpPr>
        <p:spPr>
          <a:xfrm>
            <a:off x="3090672" y="258775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3566160" y="258775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4041648" y="258775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4517136" y="2587752"/>
            <a:ext cx="457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5303520" y="1051560"/>
            <a:ext cx="16459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6" name="Text 74"/>
          <p:cNvSpPr/>
          <p:nvPr/>
        </p:nvSpPr>
        <p:spPr>
          <a:xfrm>
            <a:off x="5504688" y="10515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Primario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303520" y="1280160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8" name="Text 76"/>
          <p:cNvSpPr/>
          <p:nvPr/>
        </p:nvSpPr>
        <p:spPr>
          <a:xfrm>
            <a:off x="5504688" y="12801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Sinergista+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303520" y="150876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0" name="Text 78"/>
          <p:cNvSpPr/>
          <p:nvPr/>
        </p:nvSpPr>
        <p:spPr>
          <a:xfrm>
            <a:off x="5504688" y="15087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Sinergista-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303520" y="1737360"/>
            <a:ext cx="164592" cy="16459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82" name="Text 80"/>
          <p:cNvSpPr/>
          <p:nvPr/>
        </p:nvSpPr>
        <p:spPr>
          <a:xfrm>
            <a:off x="5504688" y="17373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Stabilizzatore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303520" y="2103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Model: MEV / MAV / MRV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377440"/>
          <a:ext cx="3474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"/>
                <a:gridCol w="640080"/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Muscolo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 max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Dorsali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Quadricipiti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Femorali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5" name="Shape 82"/>
          <p:cNvSpPr/>
          <p:nvPr/>
        </p:nvSpPr>
        <p:spPr>
          <a:xfrm>
            <a:off x="731520" y="329184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6" name="Shape 83"/>
          <p:cNvSpPr/>
          <p:nvPr/>
        </p:nvSpPr>
        <p:spPr>
          <a:xfrm>
            <a:off x="731520" y="329184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7" name="Text 84"/>
          <p:cNvSpPr/>
          <p:nvPr/>
        </p:nvSpPr>
        <p:spPr>
          <a:xfrm>
            <a:off x="1005840" y="3383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</a:t>
            </a:r>
            <a:endParaRPr lang="en-US" sz="1300" dirty="0"/>
          </a:p>
        </p:txBody>
      </p:sp>
      <p:sp>
        <p:nvSpPr>
          <p:cNvPr id="88" name="Text 85"/>
          <p:cNvSpPr/>
          <p:nvPr/>
        </p:nvSpPr>
        <p:spPr>
          <a:xfrm>
            <a:off x="1005840" y="365760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Volume Calculation: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Sets (lavoro meccanico) + Hypertrophy Sets (qualita stimolo).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Dose-Response Model: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dose[muscolo] = EMG x serie x intensity_weight (normalizzato sul piano).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Demografico: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Sesso (F=0.85, Vingren 2010) x Eta (45-59=0.85, 60+=0.75, Peterson 2011).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Israetel RP 2020, Schoenfeld 2017, Krieger 2010, Contreras 2010.</a:t>
            </a:r>
            <a:endParaRPr lang="en-US" sz="1100" dirty="0"/>
          </a:p>
        </p:txBody>
      </p:sp>
      <p:sp>
        <p:nvSpPr>
          <p:cNvPr id="89" name="Text 8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Programmazione intelligente: profilo cliente + protocollo + vincoli biomeccanici + catalogo esercizi.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Vettore Biomeccanico 10D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0" y="1362456"/>
            <a:ext cx="8229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362456"/>
            <a:ext cx="41148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819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Coordinazione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618488"/>
            <a:ext cx="8229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1618488"/>
            <a:ext cx="61722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37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0" y="1874520"/>
            <a:ext cx="8229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1874520"/>
            <a:ext cx="41148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093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Ballistico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28800" y="2130552"/>
            <a:ext cx="8229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0" y="2130552"/>
            <a:ext cx="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350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0" y="2386584"/>
            <a:ext cx="8229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2386584"/>
            <a:ext cx="20574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1325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 Assiale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023360" y="1362456"/>
            <a:ext cx="8229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4023360" y="1362456"/>
            <a:ext cx="61722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0" y="15819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Spalla Complex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23360" y="1618488"/>
            <a:ext cx="8229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4023360" y="1618488"/>
            <a:ext cx="82296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1837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 Lombare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23360" y="1874520"/>
            <a:ext cx="8229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4023360" y="1874520"/>
            <a:ext cx="61722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0" y="2093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23360" y="2130552"/>
            <a:ext cx="8229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4023360" y="2130552"/>
            <a:ext cx="41148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2350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023360" y="2386584"/>
            <a:ext cx="82296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4023360" y="2386584"/>
            <a:ext cx="41148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1005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 Selezione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03520" y="1325880"/>
            <a:ext cx="32918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394960" y="13441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Cliente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0" y="1344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+ obiettivo + anamnesi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03520" y="1755648"/>
            <a:ext cx="329184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17739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Selector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17739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protocolli PRT-001..006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303520" y="2185416"/>
            <a:ext cx="329184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5394960" y="22037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Engine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0" y="22037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biomeccanico 10D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03520" y="2615184"/>
            <a:ext cx="329184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5394960" y="26334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Ranker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0" y="26334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affinita + demand fit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03520" y="3044952"/>
            <a:ext cx="3291840" cy="34747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9" name="Text 47"/>
          <p:cNvSpPr/>
          <p:nvPr/>
        </p:nvSpPr>
        <p:spPr>
          <a:xfrm>
            <a:off x="5394960" y="30632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Engine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58000" y="3063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finale + metadata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1520" y="3337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Protocolli Supportati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66160"/>
          <a:ext cx="7680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645920"/>
                <a:gridCol w="731520"/>
                <a:gridCol w="1097280"/>
              </a:tblGrid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Livello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Principiante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Body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Supportato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Body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Supportato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Upper/Lower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Supportato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Upper/Lower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Supportato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PRT-005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Avanzato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Push/Pull/Legs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5-6x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PRT-006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Adattato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" name="Text 5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Builder &amp; Analisi 4D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Piano: 4 Fasi con Feedback Loop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per ruolo sessione. SNC-demanding first.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18872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188720"/>
            <a:ext cx="182880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Compound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muscoli &lt; MAV? Boost serie compound. MAV guard.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188720"/>
            <a:ext cx="18288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Comp.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Muscoli ancora sotto MEV? Aggiungi isolamento per affinita.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188720"/>
            <a:ext cx="182880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Ricalcola volume. Deficit significativi? Ripeti fase 2+3.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2651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4D (0-100 punti)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3017520"/>
            <a:ext cx="1828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371600" y="3108960"/>
            <a:ext cx="5486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3840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muscolo nella zona MEV-MAV-MRV?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MEV = zero stimolo. Sopra MRV = overtraining.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88920" y="3017520"/>
            <a:ext cx="1828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29000" y="3108960"/>
            <a:ext cx="54864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9260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926080" y="3840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rapporti biomeccanici in tolleranza?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Push:Pull, Quad:Ham, Ant:Post, Push H:V, Pull H:V.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017520"/>
            <a:ext cx="1828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0" y="3108960"/>
            <a:ext cx="54864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9834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83480" y="3840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muscolo stimolato 2x/settimana?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Schoenfeld 2016: MPS ottimale a 2x.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3017520"/>
            <a:ext cx="1828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43800" y="3108960"/>
            <a:ext cx="54864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7543800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408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40880" y="3840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sovrapposizione su sessioni consecutive?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Finestra recupero 48-72h (NSCA 2016).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Fonti Scientifiche Peer-Reviewed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formula, ogni soglia, ogni coefficiente ha una fonte bibliografica verificabile.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2011680"/>
                <a:gridCol w="3657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Haff &amp; Triplett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NSCA Essentials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Volume-load, intensita, frequenza,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Schoenfeld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Hypertrophy Research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EMG, dose-response, frequenza ottimale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Israetel (RP)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Scientific Principles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MEV/MAV/MRV, mesociclo, supercompensazione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vs Multiple 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Validazione soglia MEV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Sahrmann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Movement Impairment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ratios, sindromi crociate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Contreras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EMG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Matrice contribuzione 18x15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Zourdos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RPE/RIR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Autoregolazione 2.5% per RIR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2016-2019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RPE &amp; Pyramid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Protocolli deload, progressione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Periodization 6th 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 periodizzazione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LARN/SINU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Livelli di Assunzione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nutrienti, 8 fasce eta/sesso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2018-2019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Linee Guida + Tavole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 alimenti, frequenze settimanali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OMS/ACSM/AHA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Norms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BMI, WHR, VO2max, PA ranges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 Science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Basato su LARN 2014 (SINU) e Linee Guida CREA 2018. ~2.100 LOC.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188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+ USDA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88920" y="114300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1188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926080" y="1554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Monitorati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188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Eta/Sesso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114300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188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40880" y="1554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Porzioni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103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Generazione Piano 7 Giorni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146304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23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2468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286000" y="2423160"/>
            <a:ext cx="1463040" cy="594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2423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2468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023360" y="2423160"/>
            <a:ext cx="146304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2423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Varieta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2468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760720" y="2423160"/>
            <a:ext cx="146304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5760720" y="2423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Ottimizzazione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2468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498080" y="2423160"/>
            <a:ext cx="146304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2423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LARN 3-Assi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Rotazione Proteica Settimanale (CREA Dir. 9)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20440"/>
          <a:ext cx="7680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57200"/>
                <a:gridCol w="457200"/>
                <a:gridCol w="5303520"/>
              </a:tblGrid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Pesce azzurro (omega-3)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Carne bianca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Pollo, tacchino, coniglio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Carne rossa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WCRF: limitare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Uova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2-4/settimana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Legumi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Lenticchie, ceci, tofu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Affettati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WCRF: minimizzare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Nutrizionale 3 Assi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piano alimentare riceve un punteggio composito 0-100 basato su 3 dimensioni LARN/CREA.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24688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 1: Macro (25%)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% kcal: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Proteine 12-20%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Carboidrati 45-60%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Grassi 20-35%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LARN 2014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188720"/>
            <a:ext cx="24688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 2: Micro (35%)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73736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nutrienti vs AR/PRI/AI/UL: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vitamine (A,D,E,C,B1-B6,B9,B12)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minerali (Ca,Fe,Zn,Mg,P,K,Se,Na)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fibra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LARN 2014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88720"/>
            <a:ext cx="24688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 3: Frequenze (40%)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73736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Porzioni settimanali vs target CREA: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sotto-gruppi alimentari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sotto-frequenze proteiche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Rotazione varieta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CREA 2018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11480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605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Finale = Macro x 0.25 + Micro x 0.35 + Frequenze x 0.40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480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maggiore alle frequenze (40%) perche determinano l'aderenza comportamentale a lungo termine.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Catalogo in Azione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434 esercizi con foto, muscoli target, categoria, difficolta. Filtri multipli.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37947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/Users/gvera/Projects/FitManager_AI_Studio/data/screenshots/04-eserciz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68096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 Dimostrabile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tuo lavoro diventa visibile. I risultati parlano con dati, non con opinioni.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FitManager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 sento meglio" — feedback soggettivo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su foglio Excel o app note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dato su progressi misurabili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non vede il valore aggiunto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Giustificare la tariffa e difficile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PT sembra sostituibile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FitManager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clinico con range OMS/ACSM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con analisi 4D e score scientifico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Grafici progressi: peso, composizione, forza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Engine: "Ho verificato le tue condizioni"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VEDE il metodo dietro al servizio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PT diventa insostituibile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principio chiave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069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il cliente vede i dati —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grafici, score, analisi biomeccanica, report clinico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percepisce un servizio di livello superiore.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stai vendendo "allenamento". Stai vendendo un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scientifico personalizzato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 un metodo scientifico vale di piu.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Confronto Competitivo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37160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MyPTHub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EMG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18x15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MEV/MAV/MRV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condizioni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Periodizzazione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fasi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Ratios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biomeccanici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Dati Locali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Si, zero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 Nativo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Tradotto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Nutrizione LARN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 alimenti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Prezzo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149-249 una tantum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696/anno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588/anno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468/anno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Perpetua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Abbonamento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Abbonamento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Abbonamento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Circolo Virtuoso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FitManager trasforma il tuo business.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8288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Risparmi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ore/settimana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liberate da burocrazia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6459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51760" y="1188720"/>
            <a:ext cx="18288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118872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8892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 tempo per ogni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piu attenzione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16459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846320" y="1188720"/>
            <a:ext cx="18288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118872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98348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grafici, score: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VEDE il valore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16459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040880" y="1188720"/>
            <a:ext cx="18288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0" y="118872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7804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 Alte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7804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scientifico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posizionamento premium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291840"/>
            <a:ext cx="54864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L'effetto sulla tua attivita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36576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tariffa +10-15%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36576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EUR 40 a EUR 45-46/sessione grazie alla percezione di servizio clinico-scientifico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0050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clienti in piu/mese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400507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liberato = slot disponibili. Il passaparola cresce con la qualita visibile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3525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in 30-60 giorni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435254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20 clienti a +EUR 5/sessione x 4 sessioni/mese = +EUR 400/mese di fatturato aggiuntivo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Investimento Unico vs Abbonamento Eterno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868680"/>
            <a:ext cx="36576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Studio+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 149 - 249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tantum. Per sempre.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perpetua, nessun canone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 opzionali EUR 49/anno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motori scientifici inclusi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costi cloud (dati locali)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dal primo mese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3657600" cy="3657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SaaS (media)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 170-1.548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All'anno. Ogni anno.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Abbonamento mensile obbligatorio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persi se smetti di pagare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cloud inclusi nel prezzo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scientifiche: nessuna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3 anni: EUR 500-4.600 spesi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5029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136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PT che guadagna EUR 20-33K/anno risparmia EUR 400-1.300/anno scegliendo FitManager.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36576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434840"/>
            <a:ext cx="54864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462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Trainerize EUR 696/a | MyPTHub EUR 588/a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4434840"/>
            <a:ext cx="36576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4434840"/>
            <a:ext cx="54864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4462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Distinction EUR 540/a | EvolutionFit EUR 468/a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Prodotto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9144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508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completo, Training Science Engine,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Engine, Workout Builder, Cassa,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Windows, Licenza RSA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03120"/>
            <a:ext cx="91440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423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Nutrizione completa (piano 7gg + scoring),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clinico avanzato,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avanzate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017520"/>
            <a:ext cx="914400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3337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(Ollama locale, zero cloud),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Programmazione automatica smart,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NLP integrato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931920"/>
            <a:ext cx="91440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31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343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4251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companion (offline-first),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opzionale P2P (no cloud),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Multi-operatore per palestre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tuo studio.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tuoi dati.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tua scienza.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Studio+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Contatti e demo: [da definire]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 |  Offline  |  Scientifico  |  Italiano  |  Tuo per sempre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FitManager Studio+ — Pitch Deck</dc:title>
  <dc:subject>PptxGenJS Presentation</dc:subject>
  <dc:creator>FitManager Studio+</dc:creator>
  <cp:lastModifiedBy>FitManager Studio+</cp:lastModifiedBy>
  <cp:revision>1</cp:revision>
  <dcterms:created xsi:type="dcterms:W3CDTF">2026-03-17T11:57:41Z</dcterms:created>
  <dcterms:modified xsi:type="dcterms:W3CDTF">2026-03-17T11:57:41Z</dcterms:modified>
</cp:coreProperties>
</file>