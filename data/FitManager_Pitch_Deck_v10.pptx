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/>
        </p:spPr>
      </p:sp>
      <p:pic>
        <p:nvPicPr>
          <p:cNvPr id="3" name="Image 0" descr="C:/Users/gvera/Projects/FitManager_AI_Studio/data/pitch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20040"/>
            <a:ext cx="1463040" cy="133502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377440" y="411480"/>
            <a:ext cx="6217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FitManager Studio+</a:t>
            </a:r>
            <a:endParaRPr lang="en-US" sz="4200" dirty="0"/>
          </a:p>
        </p:txBody>
      </p:sp>
      <p:sp>
        <p:nvSpPr>
          <p:cNvPr id="5" name="Text 2"/>
          <p:cNvSpPr/>
          <p:nvPr/>
        </p:nvSpPr>
        <p:spPr>
          <a:xfrm>
            <a:off x="2377440" y="1005840"/>
            <a:ext cx="6217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Kinesiologist Workflow Platform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731520" y="192024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software che trasforma</a:t>
            </a:r>
            <a:endParaRPr lang="en-US" sz="2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personal trainer in un professionista clinico.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731520" y="292608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Privacy-first  ·  Offline  ·  Scientifico  ·  Italiano nativo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0" y="4114800"/>
            <a:ext cx="9144000" cy="10287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9" name="Text 6"/>
          <p:cNvSpPr/>
          <p:nvPr/>
        </p:nvSpPr>
        <p:spPr>
          <a:xfrm>
            <a:off x="914400" y="42062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3600" dirty="0"/>
          </a:p>
        </p:txBody>
      </p:sp>
      <p:sp>
        <p:nvSpPr>
          <p:cNvPr id="10" name="Text 7"/>
          <p:cNvSpPr/>
          <p:nvPr/>
        </p:nvSpPr>
        <p:spPr>
          <a:xfrm>
            <a:off x="914400" y="466344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Motori Scientifici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3657600" y="42062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3600" dirty="0"/>
          </a:p>
        </p:txBody>
      </p:sp>
      <p:sp>
        <p:nvSpPr>
          <p:cNvPr id="12" name="Text 9"/>
          <p:cNvSpPr/>
          <p:nvPr/>
        </p:nvSpPr>
        <p:spPr>
          <a:xfrm>
            <a:off x="3657600" y="466344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Dati in Cloud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(Zero, Mai)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0" y="42062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600" dirty="0"/>
          </a:p>
        </p:txBody>
      </p:sp>
      <p:sp>
        <p:nvSpPr>
          <p:cNvPr id="14" name="Text 11"/>
          <p:cNvSpPr/>
          <p:nvPr/>
        </p:nvSpPr>
        <p:spPr>
          <a:xfrm>
            <a:off x="6400800" y="466344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Investimento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Tantum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804672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17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Il Problema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097280"/>
            <a:ext cx="768096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097280"/>
            <a:ext cx="54864" cy="1097280"/>
          </a:xfrm>
          <a:prstGeom prst="rect">
            <a:avLst/>
          </a:prstGeom>
          <a:solidFill>
            <a:srgbClr val="F97066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1207008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app per un solo cliente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005840" y="155448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per comunicare, Excel per le schede, un'app per i pagamenti,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Drive per i documenti, carta per l'anamnesi.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giorno perdi ore a saltare da uno strumento all'altro.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2377440"/>
            <a:ext cx="768096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31520" y="2377440"/>
            <a:ext cx="54864" cy="10972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9" name="Text 7"/>
          <p:cNvSpPr/>
          <p:nvPr/>
        </p:nvSpPr>
        <p:spPr>
          <a:xfrm>
            <a:off x="1005840" y="2487168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dati clinici dei tuoi clienti sono in cloud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005840" y="283464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Patologie, farmaci, infortuni pregressi: su server USA o UK.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controllo su chi li legge. Zero garanzie GDPR reali.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smetti di pagare, perdi tutto.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31520" y="3657600"/>
            <a:ext cx="768096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31520" y="3657600"/>
            <a:ext cx="54864" cy="109728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3" name="Text 11"/>
          <p:cNvSpPr/>
          <p:nvPr/>
        </p:nvSpPr>
        <p:spPr>
          <a:xfrm>
            <a:off x="1005840" y="3767328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tuo metodo e invisibile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005840" y="411480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cliente non vede la differenza tra te e l'app gratuita.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puo. Non hai gli strumenti per mostrargliela.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senza prove, giustificare la tua tariffa diventa una battaglia.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04672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17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Soluzione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unico strumento. Scientifico. Privato. Tuo per sempre.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31520" y="1554480"/>
            <a:ext cx="7680960" cy="6858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1554480"/>
            <a:ext cx="54864" cy="68580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7" name="Shape 5"/>
          <p:cNvSpPr/>
          <p:nvPr/>
        </p:nvSpPr>
        <p:spPr>
          <a:xfrm>
            <a:off x="960120" y="1691640"/>
            <a:ext cx="457200" cy="41148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1691640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645920" y="162763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Completo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645920" y="1920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Clienti, contratti, agenda, pagamenti, monitoraggio — tutto in un posto. Basta 5 app.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31520" y="2377440"/>
            <a:ext cx="7680960" cy="6858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0" y="2377440"/>
            <a:ext cx="54864" cy="6858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13" name="Shape 11"/>
          <p:cNvSpPr/>
          <p:nvPr/>
        </p:nvSpPr>
        <p:spPr>
          <a:xfrm>
            <a:off x="960120" y="2514600"/>
            <a:ext cx="457200" cy="41148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960120" y="2514600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645920" y="2450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Scienza Integrata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645920" y="274320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engine, analisi biomeccanica 4D, nutrizione LARN. Non opinioni: numeri con fonti.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31520" y="3200400"/>
            <a:ext cx="7680960" cy="6858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18" name="Shape 16"/>
          <p:cNvSpPr/>
          <p:nvPr/>
        </p:nvSpPr>
        <p:spPr>
          <a:xfrm>
            <a:off x="731520" y="3200400"/>
            <a:ext cx="54864" cy="6858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9" name="Shape 17"/>
          <p:cNvSpPr/>
          <p:nvPr/>
        </p:nvSpPr>
        <p:spPr>
          <a:xfrm>
            <a:off x="960120" y="3337560"/>
            <a:ext cx="457200" cy="41148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960120" y="3337560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645920" y="32735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Assoluta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645920" y="356616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dati restano sul tuo PC. Nessun server. Nessun abbonamento cloud. GDPR by design.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31520" y="4023360"/>
            <a:ext cx="7680960" cy="6858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24" name="Shape 22"/>
          <p:cNvSpPr/>
          <p:nvPr/>
        </p:nvSpPr>
        <p:spPr>
          <a:xfrm>
            <a:off x="731520" y="4023360"/>
            <a:ext cx="54864" cy="6858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25" name="Shape 23"/>
          <p:cNvSpPr/>
          <p:nvPr/>
        </p:nvSpPr>
        <p:spPr>
          <a:xfrm>
            <a:off x="960120" y="4160520"/>
            <a:ext cx="457200" cy="41148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26" name="Text 24"/>
          <p:cNvSpPr/>
          <p:nvPr/>
        </p:nvSpPr>
        <p:spPr>
          <a:xfrm>
            <a:off x="960120" y="4160520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645920" y="409651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Italiano Nativo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645920" y="438912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Interfaccia, terminologia e flussi pensati per il professionista fitness italiano a P.IVA.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04672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17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Hub Cliente: Tutto in un Colpo d'Occhio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457200"/>
            <a:ext cx="7498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Readiness score, semafori clinici, percorso onboarding, alert automatici, 6 tab operativi.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051560" y="777240"/>
            <a:ext cx="7040880" cy="4343400"/>
          </a:xfrm>
          <a:prstGeom prst="rect">
            <a:avLst/>
          </a:prstGeom>
          <a:solidFill>
            <a:srgbClr val="0F172A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6" name="Image 0" descr="C:/Users/gvera/Projects/FitManager_AI_Studio/data/screenshots/power-07-profilo-clien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822960"/>
            <a:ext cx="6858000" cy="42519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4672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17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9706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Safety Engine: Quello che Nessuno Ha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457200"/>
            <a:ext cx="7498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 condizioni cliniche × 434 esercizi. Ogni esercizio valutato in tempo reale contro il profilo del cliente.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051560" y="777240"/>
            <a:ext cx="7040880" cy="3794760"/>
          </a:xfrm>
          <a:prstGeom prst="rect">
            <a:avLst/>
          </a:prstGeom>
          <a:solidFill>
            <a:srgbClr val="0F172A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6" name="Image 0" descr="C:/Users/gvera/Projects/FitManager_AI_Studio/data/screenshots/targeted-02b-safety-buil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822960"/>
            <a:ext cx="6858000" cy="37033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31520" y="4617720"/>
            <a:ext cx="7680960" cy="41148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8" name="Shape 5"/>
          <p:cNvSpPr/>
          <p:nvPr/>
        </p:nvSpPr>
        <p:spPr>
          <a:xfrm>
            <a:off x="731520" y="4617720"/>
            <a:ext cx="54864" cy="411480"/>
          </a:xfrm>
          <a:prstGeom prst="rect">
            <a:avLst/>
          </a:prstGeom>
          <a:solidFill>
            <a:srgbClr val="F97066"/>
          </a:solidFill>
          <a:ln/>
        </p:spPr>
      </p:sp>
      <p:sp>
        <p:nvSpPr>
          <p:cNvPr id="9" name="Text 6"/>
          <p:cNvSpPr/>
          <p:nvPr/>
        </p:nvSpPr>
        <p:spPr>
          <a:xfrm>
            <a:off x="1005840" y="4645152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Filosofia: INFORMARE, MAI LIMITARE. Il trainer decide sempre. Il sistema informa con dati, non blocca.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04672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17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Workout Builder: La Scienza Guida la Scheda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457200"/>
            <a:ext cx="7498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Kanban 3 sessioni. Profilo clinico integrato. Safety badge per esercizio. Analisi 4D automatica.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051560" y="777240"/>
            <a:ext cx="7040880" cy="4343400"/>
          </a:xfrm>
          <a:prstGeom prst="rect">
            <a:avLst/>
          </a:prstGeom>
          <a:solidFill>
            <a:srgbClr val="0F172A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6" name="Image 0" descr="C:/Users/gvera/Projects/FitManager_AI_Studio/data/screenshots/targeted-01-scheda-analis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822960"/>
            <a:ext cx="6858000" cy="42519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4672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Piano Nutrizionale con Validazione LARN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457200"/>
            <a:ext cx="7498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Griglia 7 giorni × 8 pasti. 226 alimenti CREA. Score LARN 84/100 calcolato su 3 assi scientifici.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051560" y="777240"/>
            <a:ext cx="7040880" cy="4343400"/>
          </a:xfrm>
          <a:prstGeom prst="rect">
            <a:avLst/>
          </a:prstGeom>
          <a:solidFill>
            <a:srgbClr val="0F172A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6" name="Image 0" descr="C:/Users/gvera/Projects/FitManager_AI_Studio/data/screenshots/targeted-03-nutrizione-pian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822960"/>
            <a:ext cx="6858000" cy="42519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4672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Gestione Finanziaria Completa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457200"/>
            <a:ext cx="7498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Saldo live, entrate/uscite, grafico giornaliero, proiezione, rinnovi con catena storica 1-click.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051560" y="777240"/>
            <a:ext cx="7040880" cy="4343400"/>
          </a:xfrm>
          <a:prstGeom prst="rect">
            <a:avLst/>
          </a:prstGeom>
          <a:solidFill>
            <a:srgbClr val="0F172A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6" name="Image 0" descr="C:/Users/gvera/Projects/FitManager_AI_Studio/data/screenshots/power-01-cass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822960"/>
            <a:ext cx="6858000" cy="42519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4672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82880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Il Tempo che Risparmi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594360"/>
            <a:ext cx="7680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ora liberata e un'ora in piu con i tuoi clienti — o un cliente in piu al mese.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8229600" cy="292608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96012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Attivita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834640" y="96012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023360" y="9601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FitManager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394960" y="96012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1298448"/>
            <a:ext cx="8229600" cy="4572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129844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Anamnesi cliente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834640" y="129844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97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20-30 min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023360" y="1298448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394960" y="1298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self-service: il cliente compila da smartphone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1801368"/>
            <a:ext cx="8229600" cy="4572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180136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Programmazione scheda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834640" y="180136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97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45-60 min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023360" y="1801368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10-15 min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394960" y="180136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Builder 4 fasi con analisi automatica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2304288"/>
            <a:ext cx="8229600" cy="4572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230428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Controllo controindicazioni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2834640" y="230428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97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15-20 min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023360" y="2304288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Istantaneo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394960" y="230428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Engine: 47 condizioni × 434 esercizi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7200" y="2807208"/>
            <a:ext cx="8229600" cy="4572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6" name="Text 24"/>
          <p:cNvSpPr/>
          <p:nvPr/>
        </p:nvSpPr>
        <p:spPr>
          <a:xfrm>
            <a:off x="548640" y="280720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Gestione pagamenti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834640" y="280720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97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min/sett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023360" y="2807208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394960" y="280720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Pagamento atomico 1-click, scadenze automatiche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57200" y="3310128"/>
            <a:ext cx="8229600" cy="4572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1" name="Text 29"/>
          <p:cNvSpPr/>
          <p:nvPr/>
        </p:nvSpPr>
        <p:spPr>
          <a:xfrm>
            <a:off x="548640" y="331012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e misurazioni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2834640" y="331012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97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20-30 min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023360" y="3310128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min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394960" y="331012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 normativi OMS/ACSM calcolati in tempo reale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57200" y="3931920"/>
            <a:ext cx="8229600" cy="77724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6" name="Shape 34"/>
          <p:cNvSpPr/>
          <p:nvPr/>
        </p:nvSpPr>
        <p:spPr>
          <a:xfrm>
            <a:off x="457200" y="3931920"/>
            <a:ext cx="54864" cy="77724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7" name="Text 35"/>
          <p:cNvSpPr/>
          <p:nvPr/>
        </p:nvSpPr>
        <p:spPr>
          <a:xfrm>
            <a:off x="731520" y="397764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~4-6 ore/settimana risparmiate</a:t>
            </a:r>
            <a:endParaRPr lang="en-US" sz="2000" dirty="0"/>
          </a:p>
        </p:txBody>
      </p:sp>
      <p:sp>
        <p:nvSpPr>
          <p:cNvPr id="38" name="Text 36"/>
          <p:cNvSpPr/>
          <p:nvPr/>
        </p:nvSpPr>
        <p:spPr>
          <a:xfrm>
            <a:off x="731520" y="431596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200+ ore/anno che puoi reinvestire nei tuoi clienti o nella crescita del tuo business.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804672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17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Il Tuo Lavoro Diventa Visibile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31520" y="914400"/>
            <a:ext cx="365760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914400"/>
            <a:ext cx="3657600" cy="365760"/>
          </a:xfrm>
          <a:prstGeom prst="rect">
            <a:avLst/>
          </a:prstGeom>
          <a:solidFill>
            <a:srgbClr val="F97066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9144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Oggi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1417320"/>
            <a:ext cx="320040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"Mi sento meglio" — feedback soggettivo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Scheda su foglio Excel o app note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Nessun dato su progressi misurabili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cliente non vede il tuo metodo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Giustificare la tariffa e una battaglia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754880" y="914400"/>
            <a:ext cx="365760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754880" y="914400"/>
            <a:ext cx="3657600" cy="36576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9" name="Text 7"/>
          <p:cNvSpPr/>
          <p:nvPr/>
        </p:nvSpPr>
        <p:spPr>
          <a:xfrm>
            <a:off x="4754880" y="9144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FitManager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37760" y="1417320"/>
            <a:ext cx="320040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clinico con range OMS/ACSM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Scheda con analisi 4D e score scientifico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Grafici progressi: peso, composizione, forza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Safety: "Ho verificato le tue condizioni"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cliente VEDE il metodo. E paga il metodo.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31520" y="3749040"/>
            <a:ext cx="768096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31520" y="3749040"/>
            <a:ext cx="54864" cy="109728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3" name="Text 11"/>
          <p:cNvSpPr/>
          <p:nvPr/>
        </p:nvSpPr>
        <p:spPr>
          <a:xfrm>
            <a:off x="1005840" y="3886200"/>
            <a:ext cx="7132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stai vendendo "allenamento".</a:t>
            </a:r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Stai vendendo un </a:t>
            </a:r>
            <a:pPr indent="0" marL="0">
              <a:lnSpc>
                <a:spcPct val="135000"/>
              </a:lnSpc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 scientifico personalizzato</a:t>
            </a:r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il cliente vede i dati — grafici, score, analisi biomeccanica, report clinico —</a:t>
            </a:r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percepisce un servizio di livello superiore. E un servizio superiore vale di piu.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04672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17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8288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Scienza Sotto il Cofano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640080"/>
            <a:ext cx="7680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motori specializzati. Ogni numero ha una fonte. Ogni soglia e verificabile. Nessuna scatola nera.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1572768" cy="2286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005840"/>
            <a:ext cx="1572768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143000"/>
            <a:ext cx="138988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Science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31520" y="1737360"/>
            <a:ext cx="1024128" cy="18288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1874520"/>
            <a:ext cx="1389888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Periodizzazione, volume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MEV/MAV/MRV, analisi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biomeccanica 4D.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176272" y="1005840"/>
            <a:ext cx="1572768" cy="2286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11" name="Shape 9"/>
          <p:cNvSpPr/>
          <p:nvPr/>
        </p:nvSpPr>
        <p:spPr>
          <a:xfrm>
            <a:off x="2176272" y="1005840"/>
            <a:ext cx="1572768" cy="54864"/>
          </a:xfrm>
          <a:prstGeom prst="rect">
            <a:avLst/>
          </a:prstGeom>
          <a:solidFill>
            <a:srgbClr val="F97066"/>
          </a:solidFill>
          <a:ln/>
        </p:spPr>
      </p:sp>
      <p:sp>
        <p:nvSpPr>
          <p:cNvPr id="12" name="Text 10"/>
          <p:cNvSpPr/>
          <p:nvPr/>
        </p:nvSpPr>
        <p:spPr>
          <a:xfrm>
            <a:off x="2267712" y="1143000"/>
            <a:ext cx="138988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450592" y="1737360"/>
            <a:ext cx="1024128" cy="18288"/>
          </a:xfrm>
          <a:prstGeom prst="rect">
            <a:avLst/>
          </a:prstGeom>
          <a:solidFill>
            <a:srgbClr val="F97066"/>
          </a:solidFill>
          <a:ln/>
        </p:spPr>
      </p:sp>
      <p:sp>
        <p:nvSpPr>
          <p:cNvPr id="14" name="Text 12"/>
          <p:cNvSpPr/>
          <p:nvPr/>
        </p:nvSpPr>
        <p:spPr>
          <a:xfrm>
            <a:off x="2267712" y="1874520"/>
            <a:ext cx="1389888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 condizioni × 80 regole.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esercizio valutato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 il profilo clinico.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895344" y="1005840"/>
            <a:ext cx="1572768" cy="2286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16" name="Shape 14"/>
          <p:cNvSpPr/>
          <p:nvPr/>
        </p:nvSpPr>
        <p:spPr>
          <a:xfrm>
            <a:off x="3895344" y="1005840"/>
            <a:ext cx="1572768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7" name="Text 15"/>
          <p:cNvSpPr/>
          <p:nvPr/>
        </p:nvSpPr>
        <p:spPr>
          <a:xfrm>
            <a:off x="3986784" y="1143000"/>
            <a:ext cx="138988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Nutrition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Science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169664" y="1737360"/>
            <a:ext cx="1024128" cy="18288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9" name="Text 17"/>
          <p:cNvSpPr/>
          <p:nvPr/>
        </p:nvSpPr>
        <p:spPr>
          <a:xfrm>
            <a:off x="3986784" y="1874520"/>
            <a:ext cx="1389888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Piano 7gg LARN.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 3 assi su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226 alimenti CREA.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614416" y="1005840"/>
            <a:ext cx="1572768" cy="2286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21" name="Shape 19"/>
          <p:cNvSpPr/>
          <p:nvPr/>
        </p:nvSpPr>
        <p:spPr>
          <a:xfrm>
            <a:off x="5614416" y="1005840"/>
            <a:ext cx="1572768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22" name="Text 20"/>
          <p:cNvSpPr/>
          <p:nvPr/>
        </p:nvSpPr>
        <p:spPr>
          <a:xfrm>
            <a:off x="5705856" y="1143000"/>
            <a:ext cx="138988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888736" y="1737360"/>
            <a:ext cx="1024128" cy="1828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24" name="Text 22"/>
          <p:cNvSpPr/>
          <p:nvPr/>
        </p:nvSpPr>
        <p:spPr>
          <a:xfrm>
            <a:off x="5705856" y="1874520"/>
            <a:ext cx="1389888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 normativi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OMS/ACSM/AHA.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automatici.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333488" y="1005840"/>
            <a:ext cx="1572768" cy="2286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26" name="Shape 24"/>
          <p:cNvSpPr/>
          <p:nvPr/>
        </p:nvSpPr>
        <p:spPr>
          <a:xfrm>
            <a:off x="7333488" y="1005840"/>
            <a:ext cx="1572768" cy="5486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7" name="Text 25"/>
          <p:cNvSpPr/>
          <p:nvPr/>
        </p:nvSpPr>
        <p:spPr>
          <a:xfrm>
            <a:off x="7424928" y="1143000"/>
            <a:ext cx="138988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7607808" y="1737360"/>
            <a:ext cx="1024128" cy="18288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9" name="Text 27"/>
          <p:cNvSpPr/>
          <p:nvPr/>
        </p:nvSpPr>
        <p:spPr>
          <a:xfrm>
            <a:off x="7424928" y="1874520"/>
            <a:ext cx="1389888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Selezione esercizi per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livello, obiettivo e vincoli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biomeccanici 10D.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57200" y="3474720"/>
            <a:ext cx="8229600" cy="5029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1" name="Shape 29"/>
          <p:cNvSpPr/>
          <p:nvPr/>
        </p:nvSpPr>
        <p:spPr>
          <a:xfrm>
            <a:off x="457200" y="3474720"/>
            <a:ext cx="54864" cy="5029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2" name="Text 30"/>
          <p:cNvSpPr/>
          <p:nvPr/>
        </p:nvSpPr>
        <p:spPr>
          <a:xfrm>
            <a:off x="731520" y="3493008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18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1920240" y="3493008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Fonti peer-reviewed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3474720" y="3493008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35+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4663440" y="3493008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Formule evidence-based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217920" y="3493008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5.600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7406640" y="3493008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Righe di logica scientifica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57200" y="40690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Fonti: Schoenfeld, Israetel (RP), NSCA (Haff &amp; Triplett), Contreras, Helms, Bompa, LARN 2014, CREA 2018, OMS/ACSM/AHA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804672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17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Tuoi Dati. Sul Tuo PC. Punto.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Patologie, farmaci, infortuni, dati finanziari: informazioni sensibili che meritano protezione reale, non promesse.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3657600" cy="1234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371600"/>
            <a:ext cx="54864" cy="123444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148132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Cloud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60120" y="187452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locale. Nessun dato lascia il tuo computer.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Nessun server terzo. Mai.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754880" y="1371600"/>
            <a:ext cx="3657600" cy="1234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54880" y="1371600"/>
            <a:ext cx="54864" cy="123444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0" name="Text 8"/>
          <p:cNvSpPr/>
          <p:nvPr/>
        </p:nvSpPr>
        <p:spPr>
          <a:xfrm>
            <a:off x="4983480" y="148132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GDPR by Design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983480" y="187452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Dati clinici, anamnesi e finanziari protetti nativamente.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e un'opzione: e l'architettura.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31520" y="2834640"/>
            <a:ext cx="3657600" cy="1234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31520" y="2834640"/>
            <a:ext cx="54864" cy="12344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4" name="Text 12"/>
          <p:cNvSpPr/>
          <p:nvPr/>
        </p:nvSpPr>
        <p:spPr>
          <a:xfrm>
            <a:off x="960120" y="294436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Atomico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960120" y="333756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1-click con SHA-256 checksum e integrity check.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Ripristino completo in 30 secondi.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754880" y="2834640"/>
            <a:ext cx="3657600" cy="1234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54880" y="2834640"/>
            <a:ext cx="54864" cy="123444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8" name="Text 16"/>
          <p:cNvSpPr/>
          <p:nvPr/>
        </p:nvSpPr>
        <p:spPr>
          <a:xfrm>
            <a:off x="4983480" y="294436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Licenza Offline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983480" y="333756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Crittografia RSA 2048. Nessun phone-home.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Funziona anche senza internet. Sempre.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31520" y="4389120"/>
            <a:ext cx="7680960" cy="502920"/>
          </a:xfrm>
          <a:prstGeom prst="rect">
            <a:avLst/>
          </a:prstGeom>
          <a:solidFill>
            <a:srgbClr val="ECFDF5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31520" y="4389120"/>
            <a:ext cx="54864" cy="5029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2" name="Text 20"/>
          <p:cNvSpPr/>
          <p:nvPr/>
        </p:nvSpPr>
        <p:spPr>
          <a:xfrm>
            <a:off x="1005840" y="4462272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competitor cloud-based gestiscono i dati dei TUOI clienti sui LORO server. Tu sei responsabile. Loro no.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04672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17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28600"/>
            <a:ext cx="7680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Confronto Competitivo</a:t>
            </a:r>
            <a:endParaRPr lang="en-US" sz="3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82296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645920"/>
                <a:gridCol w="1371600"/>
                <a:gridCol w="1371600"/>
                <a:gridCol w="13716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FitManager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Trainerize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MyPTHub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EvolutionFit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415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Safety Engine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 condizioni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Volume MEV/MAV/MRV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Analisi biomeccanica 4D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Balance Ratios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rapporti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Nutrizione LARN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226 alimenti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Basica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Periodizzazione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Evidence-based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Basica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Dati locali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Si, zero cloud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 only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 only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 only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Italiano nativo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Tradotto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Prezzo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EUR 149-249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tantum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EUR 696/anno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EUR 588/anno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EUR 468/anno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Licenza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Perpetua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Abbonamento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Abbonamento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Abbonamento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804672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17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82880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Il Circolo Virtuoso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777240"/>
            <a:ext cx="1920240" cy="18288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777240"/>
            <a:ext cx="192024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868680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48640" y="13258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Risparmi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18288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4-6 ore/settimana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liberate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377440" y="1188720"/>
            <a:ext cx="320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2697480" y="777240"/>
            <a:ext cx="1920240" cy="18288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11" name="Shape 9"/>
          <p:cNvSpPr/>
          <p:nvPr/>
        </p:nvSpPr>
        <p:spPr>
          <a:xfrm>
            <a:off x="2697480" y="777240"/>
            <a:ext cx="1920240" cy="5486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2697480" y="868680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2788920" y="13258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Servizio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Migliore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788920" y="18288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Piu attenzione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ogni cliente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617720" y="1188720"/>
            <a:ext cx="320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4937760" y="777240"/>
            <a:ext cx="1920240" cy="18288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17" name="Shape 15"/>
          <p:cNvSpPr/>
          <p:nvPr/>
        </p:nvSpPr>
        <p:spPr>
          <a:xfrm>
            <a:off x="4937760" y="777240"/>
            <a:ext cx="192024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8" name="Text 16"/>
          <p:cNvSpPr/>
          <p:nvPr/>
        </p:nvSpPr>
        <p:spPr>
          <a:xfrm>
            <a:off x="4937760" y="868680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0B98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5029200" y="13258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Qualita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Visibile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029200" y="18288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e score: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cliente vede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858000" y="1188720"/>
            <a:ext cx="320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7178040" y="777240"/>
            <a:ext cx="1920240" cy="18288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23" name="Shape 21"/>
          <p:cNvSpPr/>
          <p:nvPr/>
        </p:nvSpPr>
        <p:spPr>
          <a:xfrm>
            <a:off x="7178040" y="777240"/>
            <a:ext cx="1920240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24" name="Text 22"/>
          <p:cNvSpPr/>
          <p:nvPr/>
        </p:nvSpPr>
        <p:spPr>
          <a:xfrm>
            <a:off x="7178040" y="868680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3B82F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800" dirty="0"/>
          </a:p>
        </p:txBody>
      </p:sp>
      <p:sp>
        <p:nvSpPr>
          <p:cNvPr id="25" name="Text 23"/>
          <p:cNvSpPr/>
          <p:nvPr/>
        </p:nvSpPr>
        <p:spPr>
          <a:xfrm>
            <a:off x="7269480" y="13258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Tariffe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Piu Alte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269480" y="18288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Posizionamento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57200" y="2880360"/>
            <a:ext cx="8229600" cy="201168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28" name="Shape 26"/>
          <p:cNvSpPr/>
          <p:nvPr/>
        </p:nvSpPr>
        <p:spPr>
          <a:xfrm>
            <a:off x="457200" y="2880360"/>
            <a:ext cx="54864" cy="201168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9" name="Text 27"/>
          <p:cNvSpPr/>
          <p:nvPr/>
        </p:nvSpPr>
        <p:spPr>
          <a:xfrm>
            <a:off x="731520" y="292608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on Investment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731520" y="333756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Aumento tariffa +10-15%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3657600" y="33375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EUR 40 a EUR 45-46/sessione grazie alla percezione di servizio clinico-scientifico.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31520" y="37033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2-3 clienti in piu al mese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3657600" y="370332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 liberato = slot disponibili. La qualita visibile genera passaparola.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731520" y="40690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 in 30-60 giorni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3657600" y="406908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clienti × +EUR 5/sessione × 4 sessioni/mese = +EUR 400/mese di fatturato aggiuntivo.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731520" y="44348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Risparmio vs SaaS: EUR 400-1.300/anno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3657600" y="44348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Investimento unico EUR 149-249 vs abbonamenti da EUR 468-696/anno. Dal secondo anno e tutto margine.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04672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17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286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Investimento Unico vs Abbonamento Eterno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731520" y="822960"/>
            <a:ext cx="3657600" cy="3017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822960"/>
            <a:ext cx="3657600" cy="41148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82296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FitManager Studio+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13258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EUR 149 - 249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178308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tantum. Per sempre.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97280" y="2103120"/>
            <a:ext cx="29260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Licenza perpetua, nessun canone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Tutti i motori scientifici inclusi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costi cloud (dati locali)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Aggiornamenti opzionali EUR 49/anno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 dal primo mese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754880" y="822960"/>
            <a:ext cx="3657600" cy="3017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822960"/>
            <a:ext cx="3657600" cy="41148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82296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Competitor SaaS (media)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937760" y="13258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970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EUR 468 - 696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4937760" y="178308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All'anno. Ogni anno. Per sempre.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120640" y="2103120"/>
            <a:ext cx="29260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Abbonamento mensile obbligatorio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Dati persi se smetti di pagare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motori scientifici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3 anni: EUR 1.400 - 2.100 spesi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non hai ancora niente di tuo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31520" y="4023360"/>
            <a:ext cx="7680960" cy="822960"/>
          </a:xfrm>
          <a:prstGeom prst="rect">
            <a:avLst/>
          </a:prstGeom>
          <a:solidFill>
            <a:srgbClr val="ECFDF5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31520" y="4023360"/>
            <a:ext cx="54864" cy="82296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7" name="Text 15"/>
          <p:cNvSpPr/>
          <p:nvPr/>
        </p:nvSpPr>
        <p:spPr>
          <a:xfrm>
            <a:off x="1005840" y="406908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confronto reale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05840" y="4370832"/>
            <a:ext cx="713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PT che guadagna EUR 20-33K/anno risparmia EUR 400-1.300/anno scegliendo FitManager.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ottiene motori scientifici che nessun competitor offre a nessun prezzo.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04672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17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680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Roadmap Prodotto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31520" y="1005840"/>
            <a:ext cx="7680960" cy="868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005840"/>
            <a:ext cx="1005840" cy="86868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051560"/>
            <a:ext cx="100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v1.0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150876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920240" y="10972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2026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920240" y="137160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completo + Training Science Engine + Safety Engine + Workout Builder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Cassa + Rinnovi + Installer Windows + Licenza RSA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31520" y="2011680"/>
            <a:ext cx="7680960" cy="868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31520" y="2011680"/>
            <a:ext cx="1005840" cy="86868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057400"/>
            <a:ext cx="100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v1.5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31520" y="25146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920240" y="21031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2026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920240" y="237744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Nutrizione completa (piano 7gg + scoring LARN) + Export PDF clinico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Dashboard analytics avanzate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31520" y="3017520"/>
            <a:ext cx="7680960" cy="868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31520" y="3017520"/>
            <a:ext cx="1005840" cy="86868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3063240"/>
            <a:ext cx="100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v2.0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31520" y="352044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920240" y="31089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2026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920240" y="338328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Coach locale (Ollama, zero cloud) + Programmazione automatica smart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Assistente NLP integrato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31520" y="4023360"/>
            <a:ext cx="7680960" cy="868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31520" y="4023360"/>
            <a:ext cx="1005840" cy="8686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3" name="Text 21"/>
          <p:cNvSpPr/>
          <p:nvPr/>
        </p:nvSpPr>
        <p:spPr>
          <a:xfrm>
            <a:off x="731520" y="4069080"/>
            <a:ext cx="100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v3.0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31520" y="452628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920240" y="4114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920240" y="438912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mobile companion (offline-first) + Sync opzionale P2P (no cloud)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Multi-operatore per palestre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04672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17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822960"/>
            <a:ext cx="76809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Il tuo studio.</a:t>
            </a:r>
            <a:endParaRPr lang="en-US" sz="3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tuoi dati.</a:t>
            </a:r>
            <a:endParaRPr lang="en-US" sz="3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tua scienza.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2606040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FitManager Studio+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31520" y="3200400"/>
            <a:ext cx="3291840" cy="5029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320040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Richiedi una demo gratuita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379476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info@fitmanager.studio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0" y="4480560"/>
            <a:ext cx="9144000" cy="66294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452628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Privacy-First  |  Offline  |  Scientifico  |  Italiano  |  Tuo per sempre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04672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17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FitManager Studio+ — Pitch Deck v10</dc:title>
  <dc:subject>PptxGenJS Presentation</dc:subject>
  <dc:creator>FitManager Studio+</dc:creator>
  <cp:lastModifiedBy>FitManager Studio+</cp:lastModifiedBy>
  <cp:revision>1</cp:revision>
  <dcterms:created xsi:type="dcterms:W3CDTF">2026-03-17T15:11:04Z</dcterms:created>
  <dcterms:modified xsi:type="dcterms:W3CDTF">2026-03-17T15:11:04Z</dcterms:modified>
</cp:coreProperties>
</file>