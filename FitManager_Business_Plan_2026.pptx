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rts/chart3.xml" ContentType="application/vnd.openxmlformats-officedocument.drawingml.chart+xml"/>
  <Override PartName="/ppt/notesSlides/notesSlide53.xml" ContentType="application/vnd.openxmlformats-officedocument.presentationml.notesSlide+xml"/>
  <Override PartName="/ppt/charts/chart4.xml" ContentType="application/vnd.openxmlformats-officedocument.drawingml.chart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6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Totale 3 anni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FitManager
(licenza)</c:v>
                </c:pt>
                <c:pt idx="1">
                  <c:v>FitManager
Box</c:v>
                </c:pt>
                <c:pt idx="2">
                  <c:v>Mangofit
Pro</c:v>
                </c:pt>
                <c:pt idx="3">
                  <c:v>EvolutionFit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407</c:v>
                </c:pt>
                <c:pt idx="1">
                  <c:v>607</c:v>
                </c:pt>
                <c:pt idx="2">
                  <c:v>1440</c:v>
                </c:pt>
                <c:pt idx="3">
                  <c:v>2160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3D-47EC-8264-DBEB5F82E7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Margine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571-418A-901E-AC21B88BA559}"/>
              </c:ext>
            </c:extLst>
          </c:dPt>
          <c:dPt>
            <c:idx val="1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571-418A-901E-AC21B88BA559}"/>
              </c:ext>
            </c:extLst>
          </c:dPt>
          <c:dPt>
            <c:idx val="2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571-418A-901E-AC21B88BA55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571-418A-901E-AC21B88BA55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71-418A-901E-AC21B88BA55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71-418A-901E-AC21B88BA55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Margine Licenza</c:v>
                </c:pt>
                <c:pt idx="1">
                  <c:v>Margine Box</c:v>
                </c:pt>
                <c:pt idx="2">
                  <c:v>Margine Assist.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67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571-418A-901E-AC21B88BA5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Conservativo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Anno 1</c:v>
                </c:pt>
                <c:pt idx="1">
                  <c:v>Anno 2</c:v>
                </c:pt>
                <c:pt idx="2">
                  <c:v>Anno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10715</c:v>
                </c:pt>
                <c:pt idx="1">
                  <c:v>17086</c:v>
                </c:pt>
                <c:pt idx="2">
                  <c:v>27441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AF-4B06-94B1-9F09357CD3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Anno 1</c:v>
                </c:pt>
                <c:pt idx="1">
                  <c:v>Anno 2</c:v>
                </c:pt>
                <c:pt idx="2">
                  <c:v>Anno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17150</c:v>
                </c:pt>
                <c:pt idx="1">
                  <c:v>29650</c:v>
                </c:pt>
                <c:pt idx="2">
                  <c:v>49650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AF-4B06-94B1-9F09357CD3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Ottimistico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Anno 1</c:v>
                </c:pt>
                <c:pt idx="1">
                  <c:v>Anno 2</c:v>
                </c:pt>
                <c:pt idx="2">
                  <c:v>Anno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27973</c:v>
                </c:pt>
                <c:pt idx="1">
                  <c:v>49140</c:v>
                </c:pt>
                <c:pt idx="2">
                  <c:v>81500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AF-4B06-94B1-9F09357CD3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Senza partner</c:v>
                </c:pt>
              </c:strCache>
            </c:strRef>
          </c:tx>
          <c:spPr>
            <a:ln w="38100" cap="flat">
              <a:solidFill>
                <a:srgbClr val="4755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75569"/>
              </a:solidFill>
              <a:ln w="9525" cap="flat">
                <a:solidFill>
                  <a:srgbClr val="47556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Anno 1</c:v>
                </c:pt>
                <c:pt idx="1">
                  <c:v>Anno 2</c:v>
                </c:pt>
                <c:pt idx="2">
                  <c:v>Anno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-112</c:v>
                </c:pt>
                <c:pt idx="1">
                  <c:v>2165</c:v>
                </c:pt>
                <c:pt idx="2">
                  <c:v>3600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E45-49FF-A88A-F02BF83436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partner (base)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Anno 1</c:v>
                </c:pt>
                <c:pt idx="1">
                  <c:v>Anno 2</c:v>
                </c:pt>
                <c:pt idx="2">
                  <c:v>Anno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2615</c:v>
                </c:pt>
                <c:pt idx="1">
                  <c:v>4895</c:v>
                </c:pt>
                <c:pt idx="2">
                  <c:v>12535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E45-49FF-A88A-F02BF83436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 partner (ottim.)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Anno 1</c:v>
                </c:pt>
                <c:pt idx="1">
                  <c:v>Anno 2</c:v>
                </c:pt>
                <c:pt idx="2">
                  <c:v>Anno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6549</c:v>
                </c:pt>
                <c:pt idx="1">
                  <c:v>12290</c:v>
                </c:pt>
                <c:pt idx="2">
                  <c:v>19080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5E45-49FF-A88A-F02BF834368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26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858000" y="457200"/>
            <a:ext cx="2011680" cy="2011680"/>
          </a:xfrm>
          <a:prstGeom prst="rect">
            <a:avLst/>
          </a:prstGeom>
          <a:solidFill>
            <a:srgbClr val="0D9488">
              <a:alpha val="92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7315200" y="914400"/>
            <a:ext cx="1371600" cy="1371600"/>
          </a:xfrm>
          <a:prstGeom prst="rect">
            <a:avLst/>
          </a:prstGeom>
          <a:solidFill>
            <a:srgbClr val="14B8A6">
              <a:alpha val="8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FitManager Studio+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completo per il Personal Trainer Evoluto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4.2 — 26 marzo 2026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Verardo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Confidenziale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 ALLA LETTURA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leggere questo documento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di verità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1887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numeri, le assunzioni e le proiezioni sono qui. Ogni altro documento deriva da questo.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 tracciabili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numero è tracciabile a un'assunzione dichiarata (Appendice A4).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31520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6517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Proiezioni costruite dalla capacità reale di generare vendite, non da TAM top-down.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scenari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33832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Conservativo, base, ottimistico — la gamma completa di risultati possibili.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configurazioni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41148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 senza Industry Partner — il business sta in piedi in entrambi i casi.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240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 Studio+ è un sistema completo — software e dispositivo dedicato — che permette al personal trainer di gestire clienti, schede di allenamento, pagamenti e anamnesi da qualunque dispositivo, con la scienza integrata e i dati che restano nel suo studio.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48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 completo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v1.0.4 in uso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quotidiano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06040" y="20116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1488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professionisti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0604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 target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Italia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20116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1488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strutturata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75488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professionisti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giorni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903720" y="20116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21488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debito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90372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sostenibile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ogni scenario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compra una volta, non si paga ogni mese. Cerchiamo un Industry Partner per accelerare la crescita.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problema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personal trainer in Italia conosce questa storia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3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383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F6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ha 32 clienti. Gestisce le anamnesi su fogli Word, le schede su PDF, i pagamenti su un foglio Excel. Ogni lunedì perde due ore a ricostruire chi ha pagato e chi no. Un mese fa ha dimenticato che un cliente aveva un'ernia lombare e gli ha assegnato stacchi da terra. Il cliente non è tornato.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non è un caso isolato. È la norma.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706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6 problemi che ogni trainer riconosce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perse in admin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3-5h/settimana in lavoro che non genera valore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80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Tetto ai clienti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Oltre 25-30 clienti il sistema artigianale crolla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24028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688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visione unificata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8872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Anamnesi, schede, pagamenti sparsi ovunque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224028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46888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Contabilità dispersa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48640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dimenticate, nessun report finanziario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4290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6576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 errori clinici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8872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Condizioni patologiche dimenticate o ignorate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754880" y="34290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65760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8640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Impossibilità di differenziarsi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48640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dati, tutti offrono lo stesso servizio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COMPETITOR VERO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 è un altro software.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È l'abitudine.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trainer usa WhatsApp ed Excel perché "ha sempre fatto così" — non perché funzioni, ma perché nessuno gli ha offerto qualcosa di meglio che rispetti il suo modo di lavorare.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54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soluzione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completo: software + dispositivo dedicato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unico strumento che permette al personal trainer di gestire clienti, schede di allenamento, pagamenti e anamnesi da qualunque dispositivo, con la scienza integrata e i dati che restano nel suo studio.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compra una volta, non si paga ogni mese.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54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3 — IL SOFTWARE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software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clienti e contratti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51560" y="1371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Anagrafica, contratti, scadenze, storico. Ogni lunedì sai chi ha pagato, chi deve rinnovare.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344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924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Schede di allenamento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349240" y="1371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esercizi con progressioni, regressioni e varianti. Scheda professionale in 5 minuti.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4231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Protezione errori clinici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51560" y="25603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Engine: 47 condizioni cliniche, 80 regole automatiche. Avvisa se un esercizio è controindicato.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42316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4924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Nutrizione italiana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349240" y="25603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 alimenti CREA. Piani alimentari LARN settimanali. Database ufficiale italiano.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61188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Anamnesi strutturata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1051560" y="3749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passaggi guidati. Il cliente compila dal proprio telefono via portale web sicuro.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611880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4924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Pagamenti e cassa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5349240" y="3749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pagamenti, stato finanziario di ogni cliente e del business in tempo reale.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3 — FITMANAGER BOX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FitManager Box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piccolo dispositivo dedicato che il trainer mette nel suo studio. Lo attacca alla corrente e al WiFi — fine.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quel momento accede a FitManager da qualunque dispositivo: il computer a casa, il telefono in palestra, il tablet durante le sessioni.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non vanno mai in cloud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175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acceso, non dipende dal PC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204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474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da qualunque dispositivo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2336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3977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+ Ethernet + Tailscale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5303520" y="1097280"/>
            <a:ext cx="34747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0"/>
          <p:cNvSpPr/>
          <p:nvPr/>
        </p:nvSpPr>
        <p:spPr>
          <a:xfrm>
            <a:off x="5303520" y="1097280"/>
            <a:ext cx="347472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1"/>
          <p:cNvSpPr/>
          <p:nvPr/>
        </p:nvSpPr>
        <p:spPr>
          <a:xfrm>
            <a:off x="530352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SPECIFICHE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48640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94944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5, 4GB RAM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94944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64GB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48640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Connessione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94944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+ Ethernet + Tailscale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94944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~5W (~€10/anno)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48640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94944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Automatico su USB (notturno)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8640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unitario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94944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~€130-150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48640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vendita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94944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€449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48640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lordo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94944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€299-319 (67-71%)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913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Stato del prodotto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prodotto è completo e funzionante (versione 1.0.4).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utilizzatrice reale — una chinesiologia di Genova — lo usa quotidianamente per gestire i propri clienti. Le sue clienti ricevono schede professionali e compilano le anamnesi dal proprio telefono.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508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45.000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di codice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2468880"/>
            <a:ext cx="1508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148840" y="2606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48840" y="3200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2468880"/>
            <a:ext cx="1508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840480" y="2606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40480" y="3200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2468880"/>
            <a:ext cx="1508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532120" y="2606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32120" y="3200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alimenti CREA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2468880"/>
            <a:ext cx="1508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223760" y="2606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223760" y="3200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 scientifici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977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Confronto con le alternative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86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FitManager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Mangofit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EvolutionFit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Excel+WhatsApp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Dati nel tuo studio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(cloud)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(cloud)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 mobile/tablet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Parziale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Segnala errori patologie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 (47 cond.)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Nutrizione italiana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 (880 alim.)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Scienza allenamento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 una tantum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(abb.)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(abb.)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 (€0)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prodotto sul mercato combina accesso locale, scienza integrata e assenza di abbonamento.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 costa in 3 anni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1920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Software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Anno 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Anno 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Anno 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Totale 3 anni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FitManager (licenza)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FitManager 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Mangofit 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€1.440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€2.160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914400" y="3108960"/>
          <a:ext cx="73152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mercato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100.000+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professionisti fitness P.IVA in Italia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 miliardi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 fitness Italia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6751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anno su anno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730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Segmento target e trend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TARGET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10.000 – 15.000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professionisti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clienti attivi (soglia problema)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Aree urbane/peri-urbane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Aperti a strumenti professionali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93776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CHE FAVORISCONO L'ADOZIONE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Professionalizzazione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CONI attivo dal 1 luglio 2023, ATECO 85.51.09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rende il cloud problematico per dati sensibili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Personalizzazione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 più esigenti, vogliono progressioni misurabili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0A7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IL MERCATO È VUOTO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prodotto combina architettura locale, scienza dell'allenamento integrata, nutrizione italiana e modello perpetuo. Questo posizionamento richiede competenze di dominio profonde combinate con competenze tecniche specifiche. FitManager è l'unico prodotto costruito all'intersezione.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6 — IL MODELLO ECONOMICO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92561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5176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Software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€249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completo sul PC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da telefono/tablet (Tailscale)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Installazione assistita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337560" y="1051560"/>
            <a:ext cx="265176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33756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 Box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€449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20440" y="25603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dedicato + software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ovunque, dati locali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&amp; play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217920" y="1051560"/>
            <a:ext cx="2651760" cy="640080"/>
          </a:xfrm>
          <a:prstGeom prst="rect">
            <a:avLst/>
          </a:prstGeom>
          <a:solidFill>
            <a:srgbClr val="0A7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21792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Assistenza Annuale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€79/anno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Aggiornamenti software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Nuovi esercizi e alimenti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Supporto — inclusa 12 mesi per i primi 30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perpetua: il trainer compra una volta e il software è suo per sempre. Nessun abbonamento obbligatorio.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Margini unitari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645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Prodotto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Prezzo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Costo vivo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Margine lordo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Licenza software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€219 (88%)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FitManager 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€299 (67%)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Assistenza annuale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€79 (100%)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costo server. I dati sono locali. Ogni vendita aggiuntiva è quasi interamente margine.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286000" y="3474720"/>
          <a:ext cx="457200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 al mese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fissi mensili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~€360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medio per vendita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~€220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 break-even operativo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1,7/mese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 break-even reale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3/mese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lo raggiungiamo stabilmente dal mese 5-6, il business è sostenibile.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7 — COME ARRIVIAMO AI CLIENTI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118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fonti di lead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515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del partner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83280" y="10515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Contatti diretti, presentazioni, eventi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0" y="10515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8-12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709928"/>
            <a:ext cx="8229600" cy="56692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80136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7099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del founder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3280" y="17099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Contenuti settimanali, post educativi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58000" y="17099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5-8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2368296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45973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23682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dai clienti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383280" y="23682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Passaparola + programma referral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858000" y="23682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2-4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3026664"/>
            <a:ext cx="8229600" cy="56692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11810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0266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mensile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383280" y="30266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Formazione gratuita + demo integrata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58000" y="3026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57200" y="3685032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77647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97280" y="36850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Passaparola e community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83280" y="36850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organica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858000" y="368503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2-4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858000" y="777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Lead/mese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029200" y="4434840"/>
            <a:ext cx="36576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25"/>
          <p:cNvSpPr/>
          <p:nvPr/>
        </p:nvSpPr>
        <p:spPr>
          <a:xfrm>
            <a:off x="502920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 a regime (mesi 7-12): 20-33 lead/mese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454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funnel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6400800" cy="731520"/>
          </a:xfrm>
          <a:prstGeom prst="rect">
            <a:avLst/>
          </a:prstGeom>
          <a:solidFill>
            <a:srgbClr val="14B8A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286000"/>
            <a:ext cx="4572000" cy="7315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28600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50-60%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0" y="3292786"/>
            <a:ext cx="2286000" cy="731520"/>
          </a:xfrm>
          <a:prstGeom prst="rect">
            <a:avLst/>
          </a:prstGeom>
          <a:solidFill>
            <a:srgbClr val="0A7A7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4290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10-15%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126782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40080" y="4154529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potenziale a demo: 50-60%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Lead già qualificati (network, referral)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demo ad acquisto: 20-25%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Benchmark B2B early stage con prodotto funzionante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8 — STRATEGIA MARKETING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tre canali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 opera in un mercato da educare. I trainer non cercano un gestionale — non sanno di averne bisogno.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 propri (owned)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Sito web, blog SEO, email automatizzate, community clienti. Costano tempo, non denaro. Risultati crescenti.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651760" cy="5486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47472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 del partner (borrowed)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personale, masterclass, podcast settore, enti formazione. Impatto immediato, dipendono dalla relazione.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51760" cy="54864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35508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 a pagamento (paid)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286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dalla Fase 3 (mesi 7-12), budget €500-1.200/anno. Non il motore — un acceleratore.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41434" y="3566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marketing Anno 1 e asset pre-lancio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+ hosting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€120/anno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€0-180/anno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demo/testimonial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€0-200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Pubblicità (mesi 7-12)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€300-500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 Anno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€120-880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PRE-LANCIO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Sito web / landing page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1371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creare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0" y="1371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list virale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creare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1737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demo (3 min)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103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creare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2103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teaser (60 sec)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creare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0" y="2468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professionali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2834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creare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63840" y="28346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 LinkedIn attivo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3200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Parziale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457200" y="365760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731520" y="3749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VIRALE NEL PRODOTTO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4023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volta che un trainer invia il link anamnesi, il cliente vede "Powered by FitManager Studio+" nel footer. Con 30 trainer attivi e 20 clienti ciascuno = 600+ esposizioni/mese a costo zero. Il meccanismo cresce automaticamente.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864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Risultati attesi per fase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Pre-lancio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sett. prima POC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1097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iscritti waiting list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3152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1-3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10 Fondatori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(selezionati)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0A7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3152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2926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4-6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15-25/mese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926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2-3/mese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731520" y="38404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pieno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37744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7-12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0" y="3840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22-35/mese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3-5/mese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Proof of Concept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vendiamo subito. Prima dimostriamo — il pacchetto completo.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primi 10 non sono solo tester del software. Sono i primi studenti del Metodo PT Evoluto. La POC valida simultaneamente il prodotto, la categoria professionale, la community, e il ruolo dell'Industry Partner.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non funziona, lo scopriamo con 10 persone e ~€1.000.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ricevono i 10 Fondatori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Fondatori non ricevono solo il software. Ricevono il percorso completo per 12 mesi: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276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63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 Box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0" y="14630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ricevono la licenza (€99), 2 ricevono la Box (€199)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25856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Circle 12 mesi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74720" y="21488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Masterclass, webinar, mastermind — incluso, non extra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4436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834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Fondatori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474720" y="28346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 riservato per feedback, idee, supporto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5204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3016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Installazione assistita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3474720" y="35204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1:1 con il founder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E6FA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17"/>
          <p:cNvSpPr/>
          <p:nvPr/>
        </p:nvSpPr>
        <p:spPr>
          <a:xfrm>
            <a:off x="640080" y="4206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reale del pacchetto: €498 (licenza) / €698 (Box). I Fondatori lo ottengono a €99 / €199 perché sono l'investimento più importante del progetto.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63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protocollo: prodotto + formazione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73152" cy="7772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Setup e 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Giorni 1-14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professionisti selezionati. Questionario baseline. Installazione e inserimento primi clienti.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Adozione e masterclass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Giorni 15-75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reale quotidiano. Check-in bisettimanale. Micro-sondaggio settimanale. 3 masterclass condotte dal Partner.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73152" cy="777240"/>
          </a:xfrm>
          <a:prstGeom prst="rect">
            <a:avLst/>
          </a:prstGeom>
          <a:solidFill>
            <a:srgbClr val="0A7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3152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 — Misurazione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Giorni 75-90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Questionario finale. Confronto prima/dopo. Video-intervista. Sessione di gruppo. Decisione GO/NO-GO.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 masterclass (condotte dall'Industry Partner):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1: "Il Metodo PT Evoluto — come cambia il tuo lavoro"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2: "Le prime 4 settimane con FitManager — risultati e domande"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3: "Da 25 a 45 clienti — il metodo in pratica"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metriche della POC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12724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Prima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Valida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Ore admin/settimana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Prodotto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Organizzazione (1-10)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Prodotto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Dati persi/mese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Prodotto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 (-100/+100)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Sopra 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Prodotto + percorso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"Lo ricompreresti a prezzo pieno?"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8/10 sì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"Masterclass hanno cambiato approccio?"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7+/10 sì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Percorso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tuoi clienti notano differenza?"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5+/10 sì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Volano PT Evoluto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"Ti definiresti un PT Evoluto?"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6+/10 sì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creation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ultime 3 metriche validano la categoria e il volano — non solo il software.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6418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profili e la decisione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10 FONDATORI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trainer in palestra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freelance con studio proprio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chinesiologi con clienti clinici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trainer online/ibrido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neoqualificato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senior con 40+ clienti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almeno 10 clienti attivi, disponibilità a dare feedback strutturato per 90 giorni.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54864" cy="6858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212080" y="14630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50+, ore dimezzate, 8+ attivi, 5+ clienti notano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228600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5029200" y="22860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212080" y="22860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cautela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30-50, miglioramenti parziali, categoria parziale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310896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5029200" y="3108960"/>
            <a:ext cx="54864" cy="6858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212080" y="3108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108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&lt;30, meno di 6 attivi, categoria non risuona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0A7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40080" y="385876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ABBIAMO AL MESE 4 (se GO)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0416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storie reali con dati misurabili (prima/dopo)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video-interviste testimonial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masterclass registrate (libreria Inner Circle)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aggregati + community funzionante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prova che il percorso PT Evoluto funziona — non solo il software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7049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Costo della POC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licenze Fondatore a €99 + 2 Box a €199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€1.190 (ricavo)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vivo hardware 2 Box 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founder (check-in, supporto, analisi)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ore in 90 gg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40080" y="2606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partner (selezione, 3 masterclass)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~15-20 ore in 90 gg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solidFill>
            <a:srgbClr val="E6FA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netto in cash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~€300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partner viene compensato con il 25% dei ricavi POC (€298) e con la proprietà condivisa delle registrazioni: le 3 masterclass entrano nella libreria Inner Circle e generano il 30% di revenue share per ogni futuro membro.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totale se ci fermiamo al giorno 90: 3 mesi di tempo e circa €1.000.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Proiezioni finanziarie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strutture a confronto: il business sta in piedi indipendentemente dalla partnership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10 — CONFIGURAZIONE 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solo (senza Industry Partner)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organico, SEO, referral, webinar self-hosted. Lead a regime: 10-14/mese. Vendite a regime: 1-2/mese.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606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Anno 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Anno 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Anno 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Nuovi clienti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cumulativa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€22.000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totali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€5.800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€2.835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founder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€2.165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business sopravvive. Non genera debito. Ma la crescita è lenta e il founder non si paga un vero stipendio per almeno 2 anni.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10 — CONFIG. B CONSERVATIVO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partner — Scenario conservativo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arriva tardi, conversione 20%, Inner Circle con bassa adozione (12% della base)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318211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 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 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 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Nuovi clienti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cumulativa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Vendite prodotto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€8.559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€12.632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€18.108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Assistenza PRO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€2.414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€4.945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Circle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€2.040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€4.388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€10.715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€17.086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€27.441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+ operativi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€6.970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€9.330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€12.990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Compenso partner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€1.735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€2.782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€4.590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€3.588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€6.467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founder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-€240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€1.386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€3.394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partner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€1.735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€2.782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€4.590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10 — CONFIG. B BASE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partner — Scenario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operativo dal mese 2, conversione 25%, Inner Circle al 20% della base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318211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 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 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 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Nuovi clienti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cumulativa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Vendite prodotto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€13.950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€21.450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€32.850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Assistenza PRO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€3.700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Circle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€17.150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€29.650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€49.650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+ operativi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€8.560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€14.325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€22.865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Compenso partner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€2.375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€6.230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€6.750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founder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€2.615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€4.895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€12.535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partner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€2.375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5262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Dall'Anno 3, con fatturato &gt;€40K, transizione a regime ordinario/SRL. Tasse ~35% sul reddito netto (costi deducibili).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10 — CONFIG. B OTTIMISTICO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partner — Scenario ottimistico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forte, conversione 30%, Inner Circle al 25% della base</a:t>
            </a:r>
            <a:endParaRPr lang="en-US" sz="1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318211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 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 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 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Nuovi clienti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cumulativa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Vendite prodotto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€23.383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€37.330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€57.680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Assistenza PRO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€4.430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€8.620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Circle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€2.990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€7.380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€15.200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€27.973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€49.140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€81.500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+ operativi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€11.050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€22.130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€38.250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Compenso partner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€13.900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€5.874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€6.620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€10.270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founder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€6.549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€12.290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€19.080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partner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€13.900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CONFRONTO DIRETTO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cambia con il partner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43230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Senza partner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 partner (base)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Moltiplicatore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Clienti Anno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Clienti Anno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 Anno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€17.150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 Anno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€49.650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founder Anno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€12.535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 cumulativo 3 anni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€42.700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€96.450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partner non solo raddoppia le vendite — abilita un intero flusso di ricavo (Inner Circle) che non esiste senza partner. Moltiplicatore 3,5x sul netto: l'IC è ad alto margine e cresce con la base.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business funziona senza partner. Con il partner, decolla.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Vista cumulativa (scenario base)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429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Anno 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Anno 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Anno 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Cumulativo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PROGETTO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Clienti (base installata)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cui Inner Circle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€17.150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€29.650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€49.650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€96.450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cui ricorrente (PRO+IC)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€16.800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€28.200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cash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€2.615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€4.895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€12.535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€20.045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detenuta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92-95%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92-95%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92-95%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(compenso diff.)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€2.375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€14.075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detenuta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equity stimato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€8.400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 partner (cash+eq.)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€3.975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€8.300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€15.900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€28.175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stimato progetto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€26.000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€68.000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48056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Valutazione: 2x ricavo ricorrente annualizzato + valore base installata + IP + community. Metodo conservativo per software B2B verticali.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va male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scenario peggiore — tutto va male contemporaneamente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1920240" cy="822960"/>
          </a:xfrm>
          <a:prstGeom prst="rect">
            <a:avLst/>
          </a:prstGeom>
          <a:solidFill>
            <a:srgbClr val="16253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3401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18-20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 Anno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3383280"/>
            <a:ext cx="1920240" cy="822960"/>
          </a:xfrm>
          <a:prstGeom prst="rect">
            <a:avLst/>
          </a:prstGeom>
          <a:solidFill>
            <a:srgbClr val="16253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560320" y="3401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~€5.500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383280"/>
            <a:ext cx="1920240" cy="822960"/>
          </a:xfrm>
          <a:prstGeom prst="rect">
            <a:avLst/>
          </a:prstGeom>
          <a:solidFill>
            <a:srgbClr val="16253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663440" y="3401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~€700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Perdita netta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3383280"/>
            <a:ext cx="1920240" cy="822960"/>
          </a:xfrm>
          <a:prstGeom prst="rect">
            <a:avLst/>
          </a:prstGeom>
          <a:solidFill>
            <a:srgbClr val="16253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766560" y="3401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~€2.000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Perdita massima cash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business non chiude. Non genera debito. La perdita massima è il costo di un corso di formazione.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54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Rischi specifici e mitigazioni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7772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trainer non vogliono pagare per un software."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38988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POC include misurazione WTP prima di rivelare il prezzo. Se il dato esce basso, lo sappiamo con 10 persone.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54864" cy="7772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31520" y="1984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"Il partner si disimpegna."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con cliff 12 mesi. Il business parte anche senza partner — più lentamente (Config. A).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54864" cy="7772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31520" y="28712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competitor copia."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1638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scientifico (500 esercizi, 940 relazioni, Safety Engine, CREA) = 6+ mesi di lavoro. Architettura locale non replicabile da SaaS.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54864" cy="7772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31520" y="3758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rinnovi assistenza sono bassi."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050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sotto 40%, il contenuto non ha valore percepito sufficiente. Lo misuriamo e correggiamo. Business non dipende dai rinnovi Anno 1.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54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12 — TEAM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1: founder + Industry Partner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Verardo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prodotto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 dirette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Supporto clienti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organico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operativa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88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3776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Professionista fitness con esperienza, credibilità, network attivo. Impegno: 8-10 ore/mese.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937760" y="21945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Seleziona i Fondatori POC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al proprio network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Conduce masterclass/webinar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posizionamento PT Evoluto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2"/>
          <p:cNvSpPr/>
          <p:nvPr/>
        </p:nvSpPr>
        <p:spPr>
          <a:xfrm>
            <a:off x="640080" y="4160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Evoluzione: Anno 2 + tirocinante part-time (€4-5K)  |  Anno 3 + junior dev + ufficio (€12-16K)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Struttura di compenso del partner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partner non riceve un compenso fisso. Riceve una quota dei ricavi con struttura differenziata: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737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Applicata 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Ricavi POC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Licenze e Box Fondatori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Vendite dal suo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Licenze e Box via referral tracciato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Assistenza PRO e Inner Circle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Tutti i rinnovi e abbonamenti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Masterclass condotte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Sessioni live e registrate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918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5-8%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246888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Maturazione 4 anni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 12 mesi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proprietà condivisa delle 3 masterclass POC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(revenue share per ogni futuro membro IC)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32918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493776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PER IL PROGETTO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93776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3,8x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937760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Compenso triennio: €14.075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 aggiuntivo: €53.750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54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È IL FOUNDER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Giacomo Verardo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sistemi complessi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828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 nella cantieristica navale e operazioni offshore (SAIPEM). Navi, cantieri, operazioni in Brasile, Africa, Cina.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0487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Competenza tecnologica ereditata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0584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anni a fianco del padre, pioniere AI in Italia. Sistemi di visione artificiale per l'industria.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82112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0584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mesi sviluppo full-time. 45.000 LOC, 395 test, 5 motori scientifici. In uso quotidiano da una professionista reale.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59352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Competenza di dominio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00584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Conoscenza diretta del fitness come praticante e istruttore. Intersezione tra competenza tecnica e dominio.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54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Piano di crescita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73152" cy="7498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1-3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097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con percorso completo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3898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Fondatori, software/Box + IC incluso 12 mesi. 3 masterclass. Validazione simultanea prodotto, percorso, categoria, ruolo partner.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73152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85800" y="1965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4-6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1965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 + Inner Circle attivo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2585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 POC come leva. Network del partner. IC disponibile. Webinar gratuito mensile. Target: 15-20 clienti, 30% con IC.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73152" cy="749808"/>
          </a:xfrm>
          <a:prstGeom prst="rect">
            <a:avLst/>
          </a:prstGeom>
          <a:solidFill>
            <a:srgbClr val="0A7A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85800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7-12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2834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pieno e scala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31272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canali attivi. IC consolidato con masterclass mensili. PT Evoluto circola nel settore. Target: 3-5 vendite/mese.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73152" cy="74980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85800" y="3703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2+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3703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Espansione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68880" y="39959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a pieno regime. Fiere (RiminiWellness). Partnership enti formazione. Bundle Box+Tablet. Primo collaboratore. Certificazione PT Evoluto.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volano parte dalla POC: masterclass → PT Evoluto → clienti notano differenza → colleghi chiedono → passaparola → nuovi membri IC → community cresce → contenuto → ciclo. I costi acquisizione scendono, il ricorrente sale.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54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cerchiamo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3931920" cy="1828800"/>
          </a:xfrm>
          <a:prstGeom prst="rect">
            <a:avLst/>
          </a:prstGeom>
          <a:solidFill>
            <a:srgbClr val="16253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professionista fitness con esperienza, credibilità e network attivo. Non un dipendente — un partner con incentivi allineati (equity + rev share, zero costi fissi).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743200"/>
            <a:ext cx="3931920" cy="1828800"/>
          </a:xfrm>
          <a:prstGeom prst="rect">
            <a:avLst/>
          </a:prstGeom>
          <a:solidFill>
            <a:srgbClr val="16253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754880" y="27432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FINANZIAMENTO (post-POC)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€20.000-40.000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37760" y="3749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validazione POC (NPS, WTP, adozione). Per marketing strutturato, fiere, primo collaboratore. Con 46+ clienti e dati reali.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54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A1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Dettaglio prodotto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Cosa fa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Clienti, contratti, pagamenti, agenda, cassa — tutto in un profilo unico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Anamnesi guidata 6 step, misurazioni, avatar 6 viste, prontezza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Allenamento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Workout builder 3 modalità, drag &amp; drop, blocchi, export PDF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Nutrizione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880 alimenti CREA, 210 ricette, 12 template LARN, piano settimanale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guidato, licenza HW-bound, backup/ripristino, diagnostica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Portale anamnesi self-service, accesso remoto Tailscale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esercizi, 940 relazioni (progressioni, regressioni, varianti), 47 condizioni cliniche, 80 regole Safety Engine.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A3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P&amp;L triennale dettagliato (scenario base)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</a:t>
            </a:r>
            <a:endParaRPr lang="en-US" sz="9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148132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Anno 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Anno 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Anno 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Licenze software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€4.278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€5.727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€7.719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€9.672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€15.723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€25.131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Assistenza PRO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€3.700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Circle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 totale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€17.150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€29.650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€49.650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697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</a:t>
            </a:r>
            <a:endParaRPr lang="en-US" sz="900" dirty="0"/>
          </a:p>
        </p:txBody>
      </p:sp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26080"/>
          <a:ext cx="859536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Anno 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Anno 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Anno 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€17.150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€29.650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€49.650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Margine lordo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€12.890 (75%)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€23.825 (80%)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€40.785 (82%)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operativi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Compenso partner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€2.375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€6.215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€11.125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€13.285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€6.230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€6.750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founder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€2.615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€4.895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€12.535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457200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margine lordo migliora nel tempo: il ricavo ricorrente (PRO + IC) ha margine 100% e cresce in % del fatturato.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A4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assunzioni chiave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Cod.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Assunzione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Validazione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perde 3-5h/sett in admin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Ipotesi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Questionario baseline POC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disposto a pagare €249-449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Ipotesi critica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Willingness-to-pay POC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Box risolve il problema mobile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Ipotesi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2 Fondatori POC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genera 8-12 lead/mese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Ipotesi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Primo trim. partnership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Conversione demo-acquisto 20-25%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Ipotesi conserv.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Dati reali mesi 4-6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Rinnovo assistenza 55-60%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Ipotesi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 reale Anno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target 10-15K 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 6 mesi vendita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raggiunge 20% base (base)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Ipotesi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 reale mesi 7-12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Masterclass generano adozione cat.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Ipotesi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Metriche POC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proiezione è conservativa. I ricavi Inner Circle inclusi dal mese 4 (post-POC) nelle config. con partner.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A5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Ecosistema community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mantiene il software vivo. Inner Circle fa crescere il professionista.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masterclass e i webinar del partner sono esclusivi Inner Circle, non PRO.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68580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1 — Base (gratuita, inclusa nella licenza)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764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Forum, knowledge base, annunci versioni, networking tra PT, onboarding guidato in 5 passi.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73152" cy="2331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3152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2 — PRO  "Il tuo software resta vivo"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€79/anno</a:t>
            </a:r>
            <a:endParaRPr lang="en-US" sz="16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70048"/>
          <a:ext cx="7772400" cy="155448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Contenuto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Frequenza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Aggiornamenti software (bugfix, miglioramenti)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Nuovi esercizi nel catalogo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Trimestrale (30-50 nuovi)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Nuovi alimenti nel database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schede scaricabili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Mensile (1-2 template)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Supporto prioritario (risposta &lt;24h)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PRO nella community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31520" y="4160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percepito: ~€300/anno per €79 (rapporto 3,8:1).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rinnovi? Il software funziona ma smette di aggiornarsi.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 30 clienti: 12 mesi inclusi. Dal 31°: €79 parte all'acquisto. Primi rinnovi: mese 13.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54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A5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3079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Ecosistema community — Inner Circle &amp; Mentorship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00007"/>
            <a:ext cx="822960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73152" cy="2788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3 — Inner Circle  "Diventa un PT Evoluto"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960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€249/anno</a:t>
            </a:r>
            <a:endParaRPr lang="en-US" sz="16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98448"/>
          <a:ext cx="7772400" cy="15544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Contenuto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Frequenza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Conduce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Masterclass tematiche (45-60 min + Q&amp;A)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Partner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Webinar "Chiedi all'esperto"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Mensile (alternato)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+ ospiti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Mastermind group (max 30-50)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Mensile (60-90 min)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Partner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studio dalla community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access nuove feature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ogni major release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Certificazione PT Evoluto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Partner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31520" y="2834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percepito: ~€800-900/anno per €249 (rapporto 3,4:1).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Attivo dal mese 4. Masterclass partono durante POC per i 10 Fondatori.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3152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gratuito mensile: </a:t>
            </a:r>
            <a:r>
              <a:rPr lang="en-US" sz="850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strumento di acquisizione (Touch 5 del funnel). Non compete con IC — lo alimenta.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57200" y="3886200"/>
            <a:ext cx="73152" cy="6858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731520" y="3913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4 — Mentorship (futuro, Anno 3+, max 15-20)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€499-599/anno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" y="4233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1:1, co-creazione roadmap, eventi in presenza. Da definire con base IC &gt;30 membri.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54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2516" y="16553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A5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— Proiezione ricavi (</a:t>
            </a:r>
            <a:r>
              <a:rPr lang="en-US" sz="28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scen.base</a:t>
            </a: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6858000" cy="2240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 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 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 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Membri PRO (paganti)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47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92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Membri Inner Circle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18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38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Ricavo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€950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€3.700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€7.300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Ricavo Inner Circle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€2.250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€4.500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€9.500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 ricorrente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A7A7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€3.200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A7A7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€8.200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A7A7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€16.800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del fatturato totale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A7A7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19%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A7A7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28%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A7A7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34%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3566160"/>
            <a:ext cx="7315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914400" y="356616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1188720" y="36118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ricorrente cresce dal 19% al 34% del fatturato in 3 anni.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 è il pavimento che copre i costi operativi e rende il business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progressivamente indipendente dalle nuove vendite.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54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A6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Piano B senza partner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ridotta a 5 Fondatori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Reclutati via LinkedIn e community fitness online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organico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Impatto: -40% volume vendite rispetto allo scenario base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clienti Anno 1  —  Fatturato ~€7.200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business non genera debito.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partner accelera, non abilita.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54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A7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Struttura fiscale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 1-2: FORFETTARIO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ATECO 62.10.00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Coefficiente redditività: 67%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IRPEF: 5%  |  INPS: 26%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 effettivo: ~21% del fatturato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Limite: €85.000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costi hardware Box non deducibili nel forfettario. Aliquota effettiva Box ~31% vs licenza ~24%.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937760" y="1188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3+: ORDINARIO / SRL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Transizione se fatturato &gt;€30-40K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deducibili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Aliquota effettiva: ~35%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deducibile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operativi deducibili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per collaboratori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54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A8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Glossario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4130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Termine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Significato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Classificazione attività economiche italiane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 dedicato basato su Raspberry Pi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Comitato Olimpico Nazionale Italiano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 tabelle nutrizionali ufficiali italiane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Periodo minimo prima che l'equity maturi (12 mesi)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Utile prima di interessi, tasse e ammortamenti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Forfettario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fiscale agevolato per P.IVA sotto €85K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Livelli di Assunzione Riferimento Nutrienti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Promoter Score (-100/+100)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Concept — test con 10 utenti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Evoluto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Categoria: trainer con scienza + dati + strumenti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share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ricavi condivisa con il partner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Engine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Motore 47 condizioni cliniche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as a Service (abbonamento + cloud)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Connessione sicura per accesso remoto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Maturazione progressiva dell'equity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Willingness to Pay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54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— GRAFICI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Fatturato triennale — 3 scenari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54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— GRAFICI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Netto founder triennale — confronto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54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FitManager Studio+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completo per il Personal Trainer Evoluto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Verardo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v4.2 — 26 marzo 2026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Confidenziale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prodotto è completo. La prima utilizzatrice reale lo usa ogni giorno.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Cerchiamo un partner per accelerare — il business parte anche senza.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54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5226</Words>
  <Application>Microsoft Office PowerPoint</Application>
  <PresentationFormat>Presentazione su schermo (16:9)</PresentationFormat>
  <Paragraphs>1242</Paragraphs>
  <Slides>54</Slides>
  <Notes>54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54</vt:i4>
      </vt:variant>
    </vt:vector>
  </HeadingPairs>
  <TitlesOfParts>
    <vt:vector size="58" baseType="lpstr">
      <vt:lpstr>Arial</vt:lpstr>
      <vt:lpstr>Calibri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FitManager Studio+ — Business Plan v4.2</dc:title>
  <dc:subject>PptxGenJS Presentation</dc:subject>
  <dc:creator>Giacomo Verardo</dc:creator>
  <cp:lastModifiedBy>Giacomo Verardo</cp:lastModifiedBy>
  <cp:revision>14</cp:revision>
  <dcterms:created xsi:type="dcterms:W3CDTF">2026-03-27T00:50:24Z</dcterms:created>
  <dcterms:modified xsi:type="dcterms:W3CDTF">2026-03-27T00:56:27Z</dcterms:modified>
</cp:coreProperties>
</file>