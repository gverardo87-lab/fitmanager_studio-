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310" r:id="rId10"/>
    <p:sldId id="264" r:id="rId11"/>
    <p:sldId id="265" r:id="rId12"/>
    <p:sldId id="266" r:id="rId13"/>
    <p:sldId id="267" r:id="rId14"/>
    <p:sldId id="268" r:id="rId15"/>
    <p:sldId id="269" r:id="rId16"/>
    <p:sldId id="311" r:id="rId62"/>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860"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 Id="rId6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Totale 3 anni</c:v>
                </c:pt>
              </c:strCache>
            </c:strRef>
          </c:tx>
          <c:spPr>
            <a:solidFill>
              <a:srgbClr val="0D9488"/>
            </a:solidFill>
            <a:effectLst/>
          </c:spPr>
          <c:invertIfNegative val="0"/>
          <c:dLbls>
            <c:numFmt formatCode="#,##0" sourceLinked="0"/>
            <c:spPr>
              <a:noFill/>
              <a:ln>
                <a:noFill/>
              </a:ln>
              <a:effectLst/>
            </c:spPr>
            <c:txPr>
              <a:bodyPr/>
              <a:lstStyle/>
              <a:p>
                <a:pPr>
                  <a:defRPr sz="1000" b="0" i="0" u="none" strike="noStrike">
                    <a:solidFill>
                      <a:srgbClr val="1E293B"/>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FitManager
(licenza)</c:v>
                </c:pt>
                <c:pt idx="1">
                  <c:v>FitManager
Box</c:v>
                </c:pt>
                <c:pt idx="2">
                  <c:v>Mangofit
Pro</c:v>
                </c:pt>
                <c:pt idx="3">
                  <c:v>EvolutionFit</c:v>
                </c:pt>
              </c:strCache>
            </c:strRef>
          </c:cat>
          <c:val>
            <c:numRef>
              <c:f>Sheet1!$B$2:$B$5</c:f>
              <c:numCache>
                <c:formatCode>General</c:formatCode>
                <c:ptCount val="4"/>
                <c:pt idx="0">
                  <c:v>407</c:v>
                </c:pt>
                <c:pt idx="1">
                  <c:v>607</c:v>
                </c:pt>
                <c:pt idx="2">
                  <c:v>1440</c:v>
                </c:pt>
                <c:pt idx="3">
                  <c:v>2160</c:v>
                </c:pt>
              </c:numCache>
            </c:numRef>
          </c:val>
          <c:extLst>
            <c:ext xmlns:c16="http://schemas.microsoft.com/office/drawing/2014/chart" uri="{C3380CC4-5D6E-409C-BE32-E72D297353CC}">
              <c16:uniqueId val="{00000000-973D-47EC-8264-DBEB5F82E7E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doughnutChart>
        <c:varyColors val="1"/>
        <c:ser>
          <c:idx val="0"/>
          <c:order val="0"/>
          <c:tx>
            <c:strRef>
              <c:f>Sheet1!$B$1</c:f>
              <c:strCache>
                <c:ptCount val="1"/>
                <c:pt idx="0">
                  <c:v>Margine</c:v>
                </c:pt>
              </c:strCache>
            </c:strRef>
          </c:tx>
          <c:spPr>
            <a:solidFill>
              <a:schemeClr val="accent1"/>
            </a:solidFill>
            <a:ln w="9525" cap="flat">
              <a:solidFill>
                <a:srgbClr val="F9F9F9"/>
              </a:solidFill>
              <a:prstDash val="solid"/>
              <a:round/>
            </a:ln>
            <a:effectLst/>
          </c:spPr>
          <c:dPt>
            <c:idx val="0"/>
            <c:bubble3D val="0"/>
            <c:spPr>
              <a:solidFill>
                <a:srgbClr val="0D9488"/>
              </a:solidFill>
              <a:effectLst/>
            </c:spPr>
            <c:extLst>
              <c:ext xmlns:c16="http://schemas.microsoft.com/office/drawing/2014/chart" uri="{C3380CC4-5D6E-409C-BE32-E72D297353CC}">
                <c16:uniqueId val="{00000001-B571-418A-901E-AC21B88BA559}"/>
              </c:ext>
            </c:extLst>
          </c:dPt>
          <c:dPt>
            <c:idx val="1"/>
            <c:bubble3D val="0"/>
            <c:spPr>
              <a:solidFill>
                <a:srgbClr val="1E3A5F"/>
              </a:solidFill>
              <a:effectLst/>
            </c:spPr>
            <c:extLst>
              <c:ext xmlns:c16="http://schemas.microsoft.com/office/drawing/2014/chart" uri="{C3380CC4-5D6E-409C-BE32-E72D297353CC}">
                <c16:uniqueId val="{00000003-B571-418A-901E-AC21B88BA559}"/>
              </c:ext>
            </c:extLst>
          </c:dPt>
          <c:dPt>
            <c:idx val="2"/>
            <c:bubble3D val="0"/>
            <c:spPr>
              <a:solidFill>
                <a:srgbClr val="14B8A6"/>
              </a:solidFill>
              <a:effectLst/>
            </c:spPr>
            <c:extLst>
              <c:ext xmlns:c16="http://schemas.microsoft.com/office/drawing/2014/chart" uri="{C3380CC4-5D6E-409C-BE32-E72D297353CC}">
                <c16:uniqueId val="{00000005-B571-418A-901E-AC21B88BA559}"/>
              </c:ext>
            </c:extLst>
          </c:dPt>
          <c:dLbls>
            <c:dLbl>
              <c:idx val="0"/>
              <c:numFmt formatCode="0%" sourceLinked="0"/>
              <c:spPr/>
              <c:txPr>
                <a:bodyPr/>
                <a:lstStyle/>
                <a:p>
                  <a:pPr>
                    <a:defRPr sz="1000" b="0" i="0" u="none" strike="noStrike">
                      <a:solidFill>
                        <a:srgbClr val="FFFFFF"/>
                      </a:solidFill>
                      <a:latin typeface="Arial"/>
                    </a:defRPr>
                  </a:pPr>
                  <a:endParaRPr lang="it-IT"/>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B571-418A-901E-AC21B88BA559}"/>
                </c:ext>
              </c:extLst>
            </c:dLbl>
            <c:dLbl>
              <c:idx val="1"/>
              <c:numFmt formatCode="0%" sourceLinked="0"/>
              <c:spPr/>
              <c:txPr>
                <a:bodyPr/>
                <a:lstStyle/>
                <a:p>
                  <a:pPr>
                    <a:defRPr sz="1000" b="0" i="0" u="none" strike="noStrike">
                      <a:solidFill>
                        <a:srgbClr val="FFFFFF"/>
                      </a:solidFill>
                      <a:latin typeface="Arial"/>
                    </a:defRPr>
                  </a:pPr>
                  <a:endParaRPr lang="it-IT"/>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B571-418A-901E-AC21B88BA559}"/>
                </c:ext>
              </c:extLst>
            </c:dLbl>
            <c:dLbl>
              <c:idx val="2"/>
              <c:layout>
                <c:manualLayout>
                  <c:x val="-6.1142994481277763E-3"/>
                  <c:y val="8.158406309024456E-2"/>
                </c:manualLayout>
              </c:layout>
              <c:numFmt formatCode="0%" sourceLinked="0"/>
              <c:spPr/>
              <c:txPr>
                <a:bodyPr/>
                <a:lstStyle/>
                <a:p>
                  <a:pPr>
                    <a:defRPr sz="1000" b="0" i="0" u="none" strike="noStrike">
                      <a:solidFill>
                        <a:srgbClr val="FFFFFF"/>
                      </a:solidFill>
                      <a:latin typeface="Arial"/>
                    </a:defRPr>
                  </a:pPr>
                  <a:endParaRPr lang="it-IT"/>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B571-418A-901E-AC21B88BA559}"/>
                </c:ext>
              </c:extLst>
            </c:dLbl>
            <c:numFmt formatCode="0%" sourceLinked="0"/>
            <c:spPr>
              <a:noFill/>
              <a:ln>
                <a:noFill/>
              </a:ln>
              <a:effectLst/>
            </c:spPr>
            <c:txPr>
              <a:bodyPr/>
              <a:lstStyle/>
              <a:p>
                <a:pPr>
                  <a:defRPr sz="1000" b="0" i="0" u="none" strike="noStrike">
                    <a:solidFill>
                      <a:srgbClr val="000000"/>
                    </a:solidFill>
                    <a:latin typeface="Arial"/>
                  </a:defRPr>
                </a:pPr>
                <a:endParaRPr lang="it-IT"/>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Margine Licenza</c:v>
                </c:pt>
                <c:pt idx="1">
                  <c:v>Margine Box</c:v>
                </c:pt>
                <c:pt idx="2">
                  <c:v>Margine Assist.</c:v>
                </c:pt>
              </c:strCache>
            </c:strRef>
          </c:cat>
          <c:val>
            <c:numRef>
              <c:f>Sheet1!$B$2:$B$4</c:f>
              <c:numCache>
                <c:formatCode>General</c:formatCode>
                <c:ptCount val="3"/>
                <c:pt idx="0">
                  <c:v>88</c:v>
                </c:pt>
                <c:pt idx="1">
                  <c:v>67</c:v>
                </c:pt>
                <c:pt idx="2">
                  <c:v>100</c:v>
                </c:pt>
              </c:numCache>
            </c:numRef>
          </c:val>
          <c:extLst>
            <c:ext xmlns:c16="http://schemas.microsoft.com/office/drawing/2014/chart" uri="{C3380CC4-5D6E-409C-BE32-E72D297353CC}">
              <c16:uniqueId val="{00000006-B571-418A-901E-AC21B88BA559}"/>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100"/>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Conservativo</c:v>
                </c:pt>
              </c:strCache>
            </c:strRef>
          </c:tx>
          <c:spPr>
            <a:solidFill>
              <a:srgbClr val="475569"/>
            </a:solidFill>
            <a:effectLst/>
          </c:spPr>
          <c:invertIfNegative val="0"/>
          <c:dLbls>
            <c:numFmt formatCode="#,##0" sourceLinked="0"/>
            <c:spPr>
              <a:noFill/>
              <a:ln>
                <a:noFill/>
              </a:ln>
              <a:effectLst/>
            </c:spPr>
            <c:txPr>
              <a:bodyPr/>
              <a:lstStyle/>
              <a:p>
                <a:pPr>
                  <a:defRPr sz="800" b="0" i="0" u="none" strike="noStrike">
                    <a:solidFill>
                      <a:srgbClr val="1E293B"/>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Sheet1!$B$2:$B$4</c:f>
              <c:numCache>
                <c:formatCode>General</c:formatCode>
                <c:ptCount val="3"/>
                <c:pt idx="0">
                  <c:v>10715</c:v>
                </c:pt>
                <c:pt idx="1">
                  <c:v>17086</c:v>
                </c:pt>
                <c:pt idx="2">
                  <c:v>27441</c:v>
                </c:pt>
              </c:numCache>
            </c:numRef>
          </c:val>
          <c:extLst>
            <c:ext xmlns:c16="http://schemas.microsoft.com/office/drawing/2014/chart" uri="{C3380CC4-5D6E-409C-BE32-E72D297353CC}">
              <c16:uniqueId val="{00000000-38AF-4B06-94B1-9F09357CD351}"/>
            </c:ext>
          </c:extLst>
        </c:ser>
        <c:ser>
          <c:idx val="1"/>
          <c:order val="1"/>
          <c:tx>
            <c:strRef>
              <c:f>Sheet1!$C$1</c:f>
              <c:strCache>
                <c:ptCount val="1"/>
                <c:pt idx="0">
                  <c:v>Base</c:v>
                </c:pt>
              </c:strCache>
            </c:strRef>
          </c:tx>
          <c:spPr>
            <a:solidFill>
              <a:srgbClr val="0D9488"/>
            </a:solidFill>
            <a:effectLst/>
          </c:spPr>
          <c:invertIfNegative val="0"/>
          <c:dLbls>
            <c:numFmt formatCode="#,##0" sourceLinked="0"/>
            <c:spPr>
              <a:noFill/>
              <a:ln>
                <a:noFill/>
              </a:ln>
              <a:effectLst/>
            </c:spPr>
            <c:txPr>
              <a:bodyPr/>
              <a:lstStyle/>
              <a:p>
                <a:pPr>
                  <a:defRPr sz="800" b="0" i="0" u="none" strike="noStrike">
                    <a:solidFill>
                      <a:srgbClr val="1E293B"/>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Sheet1!$C$2:$C$4</c:f>
              <c:numCache>
                <c:formatCode>General</c:formatCode>
                <c:ptCount val="3"/>
                <c:pt idx="0">
                  <c:v>17150</c:v>
                </c:pt>
                <c:pt idx="1">
                  <c:v>29650</c:v>
                </c:pt>
                <c:pt idx="2">
                  <c:v>49650</c:v>
                </c:pt>
              </c:numCache>
            </c:numRef>
          </c:val>
          <c:extLst>
            <c:ext xmlns:c16="http://schemas.microsoft.com/office/drawing/2014/chart" uri="{C3380CC4-5D6E-409C-BE32-E72D297353CC}">
              <c16:uniqueId val="{00000001-38AF-4B06-94B1-9F09357CD351}"/>
            </c:ext>
          </c:extLst>
        </c:ser>
        <c:ser>
          <c:idx val="2"/>
          <c:order val="2"/>
          <c:tx>
            <c:strRef>
              <c:f>Sheet1!$D$1</c:f>
              <c:strCache>
                <c:ptCount val="1"/>
                <c:pt idx="0">
                  <c:v>Ottimistico</c:v>
                </c:pt>
              </c:strCache>
            </c:strRef>
          </c:tx>
          <c:spPr>
            <a:solidFill>
              <a:srgbClr val="F59E0B"/>
            </a:solidFill>
            <a:effectLst/>
          </c:spPr>
          <c:invertIfNegative val="0"/>
          <c:dLbls>
            <c:numFmt formatCode="#,##0" sourceLinked="0"/>
            <c:spPr>
              <a:noFill/>
              <a:ln>
                <a:noFill/>
              </a:ln>
              <a:effectLst/>
            </c:spPr>
            <c:txPr>
              <a:bodyPr/>
              <a:lstStyle/>
              <a:p>
                <a:pPr>
                  <a:defRPr sz="800" b="0" i="0" u="none" strike="noStrike">
                    <a:solidFill>
                      <a:srgbClr val="1E293B"/>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Sheet1!$D$2:$D$4</c:f>
              <c:numCache>
                <c:formatCode>General</c:formatCode>
                <c:ptCount val="3"/>
                <c:pt idx="0">
                  <c:v>27973</c:v>
                </c:pt>
                <c:pt idx="1">
                  <c:v>49140</c:v>
                </c:pt>
                <c:pt idx="2">
                  <c:v>81500</c:v>
                </c:pt>
              </c:numCache>
            </c:numRef>
          </c:val>
          <c:extLst>
            <c:ext xmlns:c16="http://schemas.microsoft.com/office/drawing/2014/chart" uri="{C3380CC4-5D6E-409C-BE32-E72D297353CC}">
              <c16:uniqueId val="{00000002-38AF-4B06-94B1-9F09357CD35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lineChart>
        <c:grouping val="standard"/>
        <c:varyColors val="0"/>
        <c:ser>
          <c:idx val="0"/>
          <c:order val="0"/>
          <c:tx>
            <c:strRef>
              <c:f>Sheet1!$B$1</c:f>
              <c:strCache>
                <c:ptCount val="1"/>
                <c:pt idx="0">
                  <c:v>Senza partner</c:v>
                </c:pt>
              </c:strCache>
            </c:strRef>
          </c:tx>
          <c:spPr>
            <a:ln w="38100" cap="flat">
              <a:solidFill>
                <a:srgbClr val="475569"/>
              </a:solidFill>
              <a:prstDash val="solid"/>
              <a:round/>
            </a:ln>
            <a:effectLst/>
          </c:spPr>
          <c:marker>
            <c:symbol val="circle"/>
            <c:size val="6"/>
            <c:spPr>
              <a:solidFill>
                <a:srgbClr val="475569"/>
              </a:solidFill>
              <a:ln w="9525" cap="flat">
                <a:solidFill>
                  <a:srgbClr val="475569"/>
                </a:solidFill>
                <a:prstDash val="solid"/>
                <a:round/>
              </a:ln>
              <a:effectLst/>
            </c:spPr>
          </c:marker>
          <c:dLbls>
            <c:numFmt formatCode="#,##0" sourceLinked="0"/>
            <c:spPr>
              <a:noFill/>
              <a:ln>
                <a:noFill/>
              </a:ln>
              <a:effectLst/>
            </c:spPr>
            <c:txPr>
              <a:bodyPr/>
              <a:lstStyle/>
              <a:p>
                <a:pPr>
                  <a:defRPr sz="900" b="0" i="0" u="none" strike="noStrike">
                    <a:solidFill>
                      <a:srgbClr val="1E293B"/>
                    </a:solidFill>
                    <a:latin typeface="Arial"/>
                  </a:defRPr>
                </a:pPr>
                <a:endParaRPr lang="it-IT"/>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Sheet1!$B$2:$B$4</c:f>
              <c:numCache>
                <c:formatCode>General</c:formatCode>
                <c:ptCount val="3"/>
                <c:pt idx="0">
                  <c:v>-112</c:v>
                </c:pt>
                <c:pt idx="1">
                  <c:v>2165</c:v>
                </c:pt>
                <c:pt idx="2">
                  <c:v>3600</c:v>
                </c:pt>
              </c:numCache>
            </c:numRef>
          </c:val>
          <c:smooth val="1"/>
          <c:extLst>
            <c:ext xmlns:c16="http://schemas.microsoft.com/office/drawing/2014/chart" uri="{C3380CC4-5D6E-409C-BE32-E72D297353CC}">
              <c16:uniqueId val="{00000000-5E45-49FF-A88A-F02BF834368E}"/>
            </c:ext>
          </c:extLst>
        </c:ser>
        <c:ser>
          <c:idx val="1"/>
          <c:order val="1"/>
          <c:tx>
            <c:strRef>
              <c:f>Sheet1!$C$1</c:f>
              <c:strCache>
                <c:ptCount val="1"/>
                <c:pt idx="0">
                  <c:v>Con partner (base)</c:v>
                </c:pt>
              </c:strCache>
            </c:strRef>
          </c:tx>
          <c:spPr>
            <a:ln w="38100" cap="flat">
              <a:solidFill>
                <a:srgbClr val="0D9488"/>
              </a:solidFill>
              <a:prstDash val="solid"/>
              <a:round/>
            </a:ln>
            <a:effectLst/>
          </c:spPr>
          <c:marker>
            <c:symbol val="circle"/>
            <c:size val="6"/>
            <c:spPr>
              <a:solidFill>
                <a:srgbClr val="0D9488"/>
              </a:solidFill>
              <a:ln w="9525" cap="flat">
                <a:solidFill>
                  <a:srgbClr val="0D9488"/>
                </a:solidFill>
                <a:prstDash val="solid"/>
                <a:round/>
              </a:ln>
              <a:effectLst/>
            </c:spPr>
          </c:marker>
          <c:dLbls>
            <c:numFmt formatCode="#,##0" sourceLinked="0"/>
            <c:spPr>
              <a:noFill/>
              <a:ln>
                <a:noFill/>
              </a:ln>
              <a:effectLst/>
            </c:spPr>
            <c:txPr>
              <a:bodyPr/>
              <a:lstStyle/>
              <a:p>
                <a:pPr>
                  <a:defRPr sz="900" b="0" i="0" u="none" strike="noStrike">
                    <a:solidFill>
                      <a:srgbClr val="1E293B"/>
                    </a:solidFill>
                    <a:latin typeface="Arial"/>
                  </a:defRPr>
                </a:pPr>
                <a:endParaRPr lang="it-IT"/>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Sheet1!$C$2:$C$4</c:f>
              <c:numCache>
                <c:formatCode>General</c:formatCode>
                <c:ptCount val="3"/>
                <c:pt idx="0">
                  <c:v>2615</c:v>
                </c:pt>
                <c:pt idx="1">
                  <c:v>4895</c:v>
                </c:pt>
                <c:pt idx="2">
                  <c:v>12535</c:v>
                </c:pt>
              </c:numCache>
            </c:numRef>
          </c:val>
          <c:smooth val="1"/>
          <c:extLst>
            <c:ext xmlns:c16="http://schemas.microsoft.com/office/drawing/2014/chart" uri="{C3380CC4-5D6E-409C-BE32-E72D297353CC}">
              <c16:uniqueId val="{00000001-5E45-49FF-A88A-F02BF834368E}"/>
            </c:ext>
          </c:extLst>
        </c:ser>
        <c:ser>
          <c:idx val="2"/>
          <c:order val="2"/>
          <c:tx>
            <c:strRef>
              <c:f>Sheet1!$D$1</c:f>
              <c:strCache>
                <c:ptCount val="1"/>
                <c:pt idx="0">
                  <c:v>Con partner (ottim.)</c:v>
                </c:pt>
              </c:strCache>
            </c:strRef>
          </c:tx>
          <c:spPr>
            <a:ln w="38100" cap="flat">
              <a:solidFill>
                <a:srgbClr val="F59E0B"/>
              </a:solidFill>
              <a:prstDash val="solid"/>
              <a:round/>
            </a:ln>
            <a:effectLst/>
          </c:spPr>
          <c:marker>
            <c:symbol val="circle"/>
            <c:size val="6"/>
            <c:spPr>
              <a:solidFill>
                <a:srgbClr val="F59E0B"/>
              </a:solidFill>
              <a:ln w="9525" cap="flat">
                <a:solidFill>
                  <a:srgbClr val="F59E0B"/>
                </a:solidFill>
                <a:prstDash val="solid"/>
                <a:round/>
              </a:ln>
              <a:effectLst/>
            </c:spPr>
          </c:marker>
          <c:dLbls>
            <c:numFmt formatCode="#,##0" sourceLinked="0"/>
            <c:spPr>
              <a:noFill/>
              <a:ln>
                <a:noFill/>
              </a:ln>
              <a:effectLst/>
            </c:spPr>
            <c:txPr>
              <a:bodyPr/>
              <a:lstStyle/>
              <a:p>
                <a:pPr>
                  <a:defRPr sz="900" b="0" i="0" u="none" strike="noStrike">
                    <a:solidFill>
                      <a:srgbClr val="1E293B"/>
                    </a:solidFill>
                    <a:latin typeface="Arial"/>
                  </a:defRPr>
                </a:pPr>
                <a:endParaRPr lang="it-IT"/>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Anno 1</c:v>
                </c:pt>
                <c:pt idx="1">
                  <c:v>Anno 2</c:v>
                </c:pt>
                <c:pt idx="2">
                  <c:v>Anno 3</c:v>
                </c:pt>
              </c:strCache>
            </c:strRef>
          </c:cat>
          <c:val>
            <c:numRef>
              <c:f>Sheet1!$D$2:$D$4</c:f>
              <c:numCache>
                <c:formatCode>General</c:formatCode>
                <c:ptCount val="3"/>
                <c:pt idx="0">
                  <c:v>6549</c:v>
                </c:pt>
                <c:pt idx="1">
                  <c:v>12290</c:v>
                </c:pt>
                <c:pt idx="2">
                  <c:v>19080</c:v>
                </c:pt>
              </c:numCache>
            </c:numRef>
          </c:val>
          <c:smooth val="1"/>
          <c:extLst>
            <c:ext xmlns:c16="http://schemas.microsoft.com/office/drawing/2014/chart" uri="{C3380CC4-5D6E-409C-BE32-E72D297353CC}">
              <c16:uniqueId val="{00000002-5E45-49FF-A88A-F02BF834368E}"/>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6261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7.png"/><Relationship Id="rId4"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4.png"/><Relationship Id="rId6"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chart" Target="../charts/char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it-IT"/>
          </a:p>
        </p:txBody>
      </p:sp>
      <p:sp>
        <p:nvSpPr>
          <p:cNvPr id="3" name="Shape 1"/>
          <p:cNvSpPr/>
          <p:nvPr/>
        </p:nvSpPr>
        <p:spPr>
          <a:xfrm>
            <a:off x="6858000" y="457200"/>
            <a:ext cx="2011680" cy="2011680"/>
          </a:xfrm>
          <a:prstGeom prst="rect">
            <a:avLst/>
          </a:prstGeom>
          <a:solidFill>
            <a:srgbClr val="0D9488">
              <a:alpha val="92000"/>
            </a:srgbClr>
          </a:solidFill>
          <a:ln/>
        </p:spPr>
        <p:txBody>
          <a:bodyPr/>
          <a:lstStyle/>
          <a:p>
            <a:endParaRPr lang="it-IT"/>
          </a:p>
        </p:txBody>
      </p:sp>
      <p:sp>
        <p:nvSpPr>
          <p:cNvPr id="4" name="Shape 2"/>
          <p:cNvSpPr/>
          <p:nvPr/>
        </p:nvSpPr>
        <p:spPr>
          <a:xfrm>
            <a:off x="7315200" y="914400"/>
            <a:ext cx="1371600" cy="1371600"/>
          </a:xfrm>
          <a:prstGeom prst="rect">
            <a:avLst/>
          </a:prstGeom>
          <a:solidFill>
            <a:srgbClr val="14B8A6">
              <a:alpha val="88000"/>
            </a:srgbClr>
          </a:solidFill>
          <a:ln/>
        </p:spPr>
        <p:txBody>
          <a:bodyPr/>
          <a:lstStyle/>
          <a:p>
            <a:endParaRPr lang="it-IT"/>
          </a:p>
        </p:txBody>
      </p:sp>
      <p:sp>
        <p:nvSpPr>
          <p:cNvPr id="5" name="Text 3"/>
          <p:cNvSpPr/>
          <p:nvPr/>
        </p:nvSpPr>
        <p:spPr>
          <a:xfrm>
            <a:off x="640080" y="457200"/>
            <a:ext cx="6400800" cy="365760"/>
          </a:xfrm>
          <a:prstGeom prst="rect">
            <a:avLst/>
          </a:prstGeom>
          <a:noFill/>
          <a:ln/>
        </p:spPr>
        <p:txBody>
          <a:bodyPr wrap="square" rtlCol="0" anchor="ctr"/>
          <a:lstStyle/>
          <a:p>
            <a:pPr marL="0" indent="0">
              <a:buNone/>
            </a:pPr>
            <a:r>
              <a:rPr lang="en-US" sz="1100" b="1" kern="0" spc="600" dirty="0">
                <a:solidFill>
                  <a:srgbClr val="14B8A6"/>
                </a:solidFill>
                <a:latin typeface="Calibri" pitchFamily="34" charset="0"/>
                <a:ea typeface="Calibri" pitchFamily="34" charset="-122"/>
                <a:cs typeface="Calibri" pitchFamily="34" charset="-120"/>
              </a:rPr>
              <a:t>BUSINESS PLAN</a:t>
            </a:r>
            <a:endParaRPr lang="en-US" sz="1100" dirty="0"/>
          </a:p>
        </p:txBody>
      </p:sp>
      <p:sp>
        <p:nvSpPr>
          <p:cNvPr id="6" name="Text 4"/>
          <p:cNvSpPr/>
          <p:nvPr/>
        </p:nvSpPr>
        <p:spPr>
          <a:xfrm>
            <a:off x="640080" y="1280160"/>
            <a:ext cx="73152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FitManager Studio+</a:t>
            </a:r>
            <a:endParaRPr lang="en-US" sz="4400" dirty="0"/>
          </a:p>
        </p:txBody>
      </p:sp>
      <p:sp>
        <p:nvSpPr>
          <p:cNvPr id="7" name="Text 5"/>
          <p:cNvSpPr/>
          <p:nvPr/>
        </p:nvSpPr>
        <p:spPr>
          <a:xfrm>
            <a:off x="640080" y="2468880"/>
            <a:ext cx="6400800" cy="548640"/>
          </a:xfrm>
          <a:prstGeom prst="rect">
            <a:avLst/>
          </a:prstGeom>
          <a:noFill/>
          <a:ln/>
        </p:spPr>
        <p:txBody>
          <a:bodyPr wrap="square" rtlCol="0" anchor="ctr"/>
          <a:lstStyle/>
          <a:p>
            <a:pPr marL="0" indent="0">
              <a:buNone/>
            </a:pPr>
            <a:r>
              <a:rPr lang="en-US" sz="1800" i="1" dirty="0">
                <a:solidFill>
                  <a:srgbClr val="14B8A6"/>
                </a:solidFill>
                <a:latin typeface="Calibri" pitchFamily="34" charset="0"/>
                <a:ea typeface="Calibri" pitchFamily="34" charset="-122"/>
                <a:cs typeface="Calibri" pitchFamily="34" charset="-120"/>
              </a:rPr>
              <a:t>Il sistema completo per il Personal Trainer Evoluto</a:t>
            </a:r>
            <a:endParaRPr lang="en-US" sz="1800" dirty="0"/>
          </a:p>
        </p:txBody>
      </p:sp>
      <p:sp>
        <p:nvSpPr>
          <p:cNvPr id="8" name="Shape 6"/>
          <p:cNvSpPr/>
          <p:nvPr/>
        </p:nvSpPr>
        <p:spPr>
          <a:xfrm>
            <a:off x="640080" y="3200400"/>
            <a:ext cx="1828800" cy="36576"/>
          </a:xfrm>
          <a:prstGeom prst="rect">
            <a:avLst/>
          </a:prstGeom>
          <a:solidFill>
            <a:srgbClr val="0D9488"/>
          </a:solidFill>
          <a:ln/>
        </p:spPr>
        <p:txBody>
          <a:bodyPr/>
          <a:lstStyle/>
          <a:p>
            <a:endParaRPr lang="it-IT"/>
          </a:p>
        </p:txBody>
      </p:sp>
      <p:sp>
        <p:nvSpPr>
          <p:cNvPr id="9" name="Text 7"/>
          <p:cNvSpPr/>
          <p:nvPr/>
        </p:nvSpPr>
        <p:spPr>
          <a:xfrm>
            <a:off x="640080" y="3474720"/>
            <a:ext cx="4572000" cy="1097280"/>
          </a:xfrm>
          <a:prstGeom prst="rect">
            <a:avLst/>
          </a:prstGeom>
          <a:noFill/>
          <a:ln/>
        </p:spPr>
        <p:txBody>
          <a:bodyPr wrap="square" rtlCol="0" anchor="ctr"/>
          <a:lstStyle/>
          <a:p>
            <a:pPr marL="0" indent="0">
              <a:buNone/>
            </a:pPr>
            <a:r>
              <a:rPr lang="en-US" sz="1300" dirty="0">
                <a:solidFill>
                  <a:srgbClr val="94A3B8"/>
                </a:solidFill>
                <a:latin typeface="Calibri" pitchFamily="34" charset="0"/>
                <a:ea typeface="Calibri" pitchFamily="34" charset="-122"/>
                <a:cs typeface="Calibri" pitchFamily="34" charset="-120"/>
              </a:rPr>
              <a:t>Versione 4.3 — 27 marzo 2026</a:t>
            </a:r>
            <a:endParaRPr lang="en-US" sz="1300" dirty="0"/>
          </a:p>
          <a:p>
            <a:pPr marL="0" indent="0">
              <a:buNone/>
            </a:pPr>
            <a:r>
              <a:rPr lang="en-US" sz="1300" b="1" dirty="0">
                <a:solidFill>
                  <a:srgbClr val="FFFFFF"/>
                </a:solidFill>
                <a:latin typeface="Calibri" pitchFamily="34" charset="0"/>
                <a:ea typeface="Calibri" pitchFamily="34" charset="-122"/>
                <a:cs typeface="Calibri" pitchFamily="34" charset="-120"/>
              </a:rPr>
              <a:t>Giacomo Verardo</a:t>
            </a:r>
            <a:endParaRPr lang="en-US" sz="1300" dirty="0"/>
          </a:p>
          <a:p>
            <a:pPr marL="0" indent="0">
              <a:buNone/>
            </a:pPr>
            <a:r>
              <a:rPr lang="en-US" sz="1300" dirty="0">
                <a:solidFill>
                  <a:srgbClr val="F96167"/>
                </a:solidFill>
                <a:latin typeface="Calibri" pitchFamily="34" charset="0"/>
                <a:ea typeface="Calibri" pitchFamily="34" charset="-122"/>
                <a:cs typeface="Calibri" pitchFamily="34" charset="-120"/>
              </a:rPr>
              <a:t>Confidenziale</a:t>
            </a:r>
            <a:endParaRPr lang="en-US" sz="1300" dirty="0"/>
          </a:p>
        </p:txBody>
      </p:sp>
      <p:sp>
        <p:nvSpPr>
          <p:cNvPr id="10" name="Text 8"/>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 / 56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GUIDA ALLA LETTURA</a:t>
            </a:r>
            <a:endParaRPr lang="en-US" sz="800" dirty="0"/>
          </a:p>
        </p:txBody>
      </p:sp>
      <p:sp>
        <p:nvSpPr>
          <p:cNvPr id="3" name="Text 1"/>
          <p:cNvSpPr/>
          <p:nvPr/>
        </p:nvSpPr>
        <p:spPr>
          <a:xfrm>
            <a:off x="457200" y="40233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Come leggere questo documento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188720"/>
            <a:ext cx="8229600" cy="640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188720"/>
            <a:ext cx="54864" cy="640080"/>
          </a:xfrm>
          <a:prstGeom prst="rect">
            <a:avLst/>
          </a:prstGeom>
          <a:solidFill>
            <a:srgbClr val="0D9488"/>
          </a:solidFill>
          <a:ln/>
        </p:spPr>
        <p:txBody>
          <a:bodyPr/>
          <a:lstStyle/>
          <a:p>
            <a:endParaRPr lang="it-IT"/>
          </a:p>
        </p:txBody>
      </p:sp>
      <p:sp>
        <p:nvSpPr>
          <p:cNvPr id="7" name="Text 5"/>
          <p:cNvSpPr/>
          <p:nvPr/>
        </p:nvSpPr>
        <p:spPr>
          <a:xfrm>
            <a:off x="731520" y="1188720"/>
            <a:ext cx="2011680" cy="64008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Fonte di verità</a:t>
            </a:r>
            <a:endParaRPr lang="en-US" sz="1300" dirty="0"/>
          </a:p>
        </p:txBody>
      </p:sp>
      <p:sp>
        <p:nvSpPr>
          <p:cNvPr id="8" name="Text 6"/>
          <p:cNvSpPr/>
          <p:nvPr/>
        </p:nvSpPr>
        <p:spPr>
          <a:xfrm>
            <a:off x="2743200" y="1188720"/>
            <a:ext cx="5760720" cy="6400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Tutti i numeri, le assunzioni e le proiezioni sono qui. Ogni altro documento deriva da questo.</a:t>
            </a:r>
            <a:endParaRPr lang="en-US" sz="1200" dirty="0"/>
          </a:p>
        </p:txBody>
      </p:sp>
      <p:sp>
        <p:nvSpPr>
          <p:cNvPr id="9" name="Shape 7"/>
          <p:cNvSpPr/>
          <p:nvPr/>
        </p:nvSpPr>
        <p:spPr>
          <a:xfrm>
            <a:off x="457200" y="1920240"/>
            <a:ext cx="8229600" cy="640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0" name="Shape 8"/>
          <p:cNvSpPr/>
          <p:nvPr/>
        </p:nvSpPr>
        <p:spPr>
          <a:xfrm>
            <a:off x="457200" y="1920240"/>
            <a:ext cx="54864" cy="640080"/>
          </a:xfrm>
          <a:prstGeom prst="rect">
            <a:avLst/>
          </a:prstGeom>
          <a:solidFill>
            <a:srgbClr val="0D9488"/>
          </a:solidFill>
          <a:ln/>
        </p:spPr>
        <p:txBody>
          <a:bodyPr/>
          <a:lstStyle/>
          <a:p>
            <a:endParaRPr lang="it-IT"/>
          </a:p>
        </p:txBody>
      </p:sp>
      <p:sp>
        <p:nvSpPr>
          <p:cNvPr id="11" name="Text 9"/>
          <p:cNvSpPr/>
          <p:nvPr/>
        </p:nvSpPr>
        <p:spPr>
          <a:xfrm>
            <a:off x="731520" y="1920240"/>
            <a:ext cx="2011680" cy="64008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Numeri tracciabili</a:t>
            </a:r>
            <a:endParaRPr lang="en-US" sz="1300" dirty="0"/>
          </a:p>
        </p:txBody>
      </p:sp>
      <p:sp>
        <p:nvSpPr>
          <p:cNvPr id="12" name="Text 10"/>
          <p:cNvSpPr/>
          <p:nvPr/>
        </p:nvSpPr>
        <p:spPr>
          <a:xfrm>
            <a:off x="2743200" y="1920240"/>
            <a:ext cx="5760720" cy="6400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Ogni numero è tracciabile a un'assunzione dichiarata (Appendice A4).</a:t>
            </a:r>
            <a:endParaRPr lang="en-US" sz="1200" dirty="0"/>
          </a:p>
        </p:txBody>
      </p:sp>
      <p:sp>
        <p:nvSpPr>
          <p:cNvPr id="13" name="Shape 11"/>
          <p:cNvSpPr/>
          <p:nvPr/>
        </p:nvSpPr>
        <p:spPr>
          <a:xfrm>
            <a:off x="457200" y="2651760"/>
            <a:ext cx="8229600" cy="640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4" name="Shape 12"/>
          <p:cNvSpPr/>
          <p:nvPr/>
        </p:nvSpPr>
        <p:spPr>
          <a:xfrm>
            <a:off x="457200" y="2651760"/>
            <a:ext cx="54864" cy="640080"/>
          </a:xfrm>
          <a:prstGeom prst="rect">
            <a:avLst/>
          </a:prstGeom>
          <a:solidFill>
            <a:srgbClr val="0D9488"/>
          </a:solidFill>
          <a:ln/>
        </p:spPr>
        <p:txBody>
          <a:bodyPr/>
          <a:lstStyle/>
          <a:p>
            <a:endParaRPr lang="it-IT"/>
          </a:p>
        </p:txBody>
      </p:sp>
      <p:sp>
        <p:nvSpPr>
          <p:cNvPr id="15" name="Text 13"/>
          <p:cNvSpPr/>
          <p:nvPr/>
        </p:nvSpPr>
        <p:spPr>
          <a:xfrm>
            <a:off x="731520" y="2651760"/>
            <a:ext cx="2011680" cy="64008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Bottom-up</a:t>
            </a:r>
            <a:endParaRPr lang="en-US" sz="1300" dirty="0"/>
          </a:p>
        </p:txBody>
      </p:sp>
      <p:sp>
        <p:nvSpPr>
          <p:cNvPr id="16" name="Text 14"/>
          <p:cNvSpPr/>
          <p:nvPr/>
        </p:nvSpPr>
        <p:spPr>
          <a:xfrm>
            <a:off x="2743200" y="2651760"/>
            <a:ext cx="5760720" cy="6400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Proiezioni costruite dalla capacità reale di generare vendite, non da TAM top-down.</a:t>
            </a:r>
            <a:endParaRPr lang="en-US" sz="1200" dirty="0"/>
          </a:p>
        </p:txBody>
      </p:sp>
      <p:sp>
        <p:nvSpPr>
          <p:cNvPr id="17" name="Shape 15"/>
          <p:cNvSpPr/>
          <p:nvPr/>
        </p:nvSpPr>
        <p:spPr>
          <a:xfrm>
            <a:off x="457200" y="3383280"/>
            <a:ext cx="8229600" cy="640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8" name="Shape 16"/>
          <p:cNvSpPr/>
          <p:nvPr/>
        </p:nvSpPr>
        <p:spPr>
          <a:xfrm>
            <a:off x="457200" y="3383280"/>
            <a:ext cx="54864" cy="640080"/>
          </a:xfrm>
          <a:prstGeom prst="rect">
            <a:avLst/>
          </a:prstGeom>
          <a:solidFill>
            <a:srgbClr val="0D9488"/>
          </a:solidFill>
          <a:ln/>
        </p:spPr>
        <p:txBody>
          <a:bodyPr/>
          <a:lstStyle/>
          <a:p>
            <a:endParaRPr lang="it-IT"/>
          </a:p>
        </p:txBody>
      </p:sp>
      <p:sp>
        <p:nvSpPr>
          <p:cNvPr id="19" name="Text 17"/>
          <p:cNvSpPr/>
          <p:nvPr/>
        </p:nvSpPr>
        <p:spPr>
          <a:xfrm>
            <a:off x="731520" y="3383280"/>
            <a:ext cx="2011680" cy="64008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Tre scenari</a:t>
            </a:r>
            <a:endParaRPr lang="en-US" sz="1300" dirty="0"/>
          </a:p>
        </p:txBody>
      </p:sp>
      <p:sp>
        <p:nvSpPr>
          <p:cNvPr id="20" name="Text 18"/>
          <p:cNvSpPr/>
          <p:nvPr/>
        </p:nvSpPr>
        <p:spPr>
          <a:xfrm>
            <a:off x="2743200" y="3383280"/>
            <a:ext cx="5760720" cy="6400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Conservativo, base, ottimistico — la gamma completa di risultati possibili.</a:t>
            </a:r>
            <a:endParaRPr lang="en-US" sz="1200" dirty="0"/>
          </a:p>
        </p:txBody>
      </p:sp>
      <p:sp>
        <p:nvSpPr>
          <p:cNvPr id="21" name="Shape 19"/>
          <p:cNvSpPr/>
          <p:nvPr/>
        </p:nvSpPr>
        <p:spPr>
          <a:xfrm>
            <a:off x="457200" y="4114800"/>
            <a:ext cx="8229600" cy="640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22" name="Shape 20"/>
          <p:cNvSpPr/>
          <p:nvPr/>
        </p:nvSpPr>
        <p:spPr>
          <a:xfrm>
            <a:off x="457200" y="4114800"/>
            <a:ext cx="54864" cy="640080"/>
          </a:xfrm>
          <a:prstGeom prst="rect">
            <a:avLst/>
          </a:prstGeom>
          <a:solidFill>
            <a:srgbClr val="0D9488"/>
          </a:solidFill>
          <a:ln/>
        </p:spPr>
        <p:txBody>
          <a:bodyPr/>
          <a:lstStyle/>
          <a:p>
            <a:endParaRPr lang="it-IT"/>
          </a:p>
        </p:txBody>
      </p:sp>
      <p:sp>
        <p:nvSpPr>
          <p:cNvPr id="23" name="Text 21"/>
          <p:cNvSpPr/>
          <p:nvPr/>
        </p:nvSpPr>
        <p:spPr>
          <a:xfrm>
            <a:off x="731520" y="4114800"/>
            <a:ext cx="2011680" cy="64008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Due configurazioni</a:t>
            </a:r>
            <a:endParaRPr lang="en-US" sz="1300" dirty="0"/>
          </a:p>
        </p:txBody>
      </p:sp>
      <p:sp>
        <p:nvSpPr>
          <p:cNvPr id="24" name="Text 22"/>
          <p:cNvSpPr/>
          <p:nvPr/>
        </p:nvSpPr>
        <p:spPr>
          <a:xfrm>
            <a:off x="2743200" y="4114800"/>
            <a:ext cx="5760720" cy="6400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Con e senza Industry Partner — il business sta in piedi in entrambi i casi.</a:t>
            </a:r>
            <a:endParaRPr lang="en-US" sz="1200" dirty="0"/>
          </a:p>
        </p:txBody>
      </p:sp>
      <p:sp>
        <p:nvSpPr>
          <p:cNvPr id="25" name="Text 2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 / 56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a:t>
            </a:r>
            <a:endParaRPr lang="en-US" sz="800" dirty="0"/>
          </a:p>
        </p:txBody>
      </p:sp>
      <p:sp>
        <p:nvSpPr>
          <p:cNvPr id="3" name="Text 1"/>
          <p:cNvSpPr/>
          <p:nvPr/>
        </p:nvSpPr>
        <p:spPr>
          <a:xfrm>
            <a:off x="457200" y="424092"/>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Executive Summary</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51560"/>
            <a:ext cx="8229600" cy="731520"/>
          </a:xfrm>
          <a:prstGeom prst="rect">
            <a:avLst/>
          </a:prstGeom>
          <a:noFill/>
          <a:ln/>
        </p:spPr>
        <p:txBody>
          <a:bodyPr wrap="square" rtlCol="0" anchor="ctr"/>
          <a:lstStyle/>
          <a:p>
            <a:pPr marL="0" indent="0">
              <a:buNone/>
            </a:pPr>
            <a:r>
              <a:rPr lang="en-US" sz="1300" i="1" dirty="0">
                <a:solidFill>
                  <a:srgbClr val="1E293B"/>
                </a:solidFill>
                <a:latin typeface="Calibri" pitchFamily="34" charset="0"/>
                <a:ea typeface="Calibri" pitchFamily="34" charset="-122"/>
                <a:cs typeface="Calibri" pitchFamily="34" charset="-120"/>
              </a:rPr>
              <a:t>FitManager Studio+ è un sistema completo — software e dispositivo dedicato — che permette al personal trainer di gestire clienti, schede di allenamento, pagamenti e anamnesi da qualunque dispositivo, con la scienza integrata e i dati che restano nel suo studio.</a:t>
            </a:r>
            <a:endParaRPr lang="en-US" sz="1300" dirty="0"/>
          </a:p>
        </p:txBody>
      </p:sp>
      <p:sp>
        <p:nvSpPr>
          <p:cNvPr id="6" name="Shape 4"/>
          <p:cNvSpPr/>
          <p:nvPr/>
        </p:nvSpPr>
        <p:spPr>
          <a:xfrm>
            <a:off x="457200" y="2011680"/>
            <a:ext cx="1920240" cy="1737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7" name="Image 0" descr="preencoded.png"/>
          <p:cNvPicPr>
            <a:picLocks noChangeAspect="1"/>
          </p:cNvPicPr>
          <p:nvPr/>
        </p:nvPicPr>
        <p:blipFill>
          <a:blip r:embed="rId3"/>
          <a:stretch>
            <a:fillRect/>
          </a:stretch>
        </p:blipFill>
        <p:spPr>
          <a:xfrm>
            <a:off x="1143000" y="2148840"/>
            <a:ext cx="457200" cy="457200"/>
          </a:xfrm>
          <a:prstGeom prst="rect">
            <a:avLst/>
          </a:prstGeom>
        </p:spPr>
      </p:pic>
      <p:sp>
        <p:nvSpPr>
          <p:cNvPr id="8" name="Text 5"/>
          <p:cNvSpPr/>
          <p:nvPr/>
        </p:nvSpPr>
        <p:spPr>
          <a:xfrm>
            <a:off x="457200" y="2697480"/>
            <a:ext cx="1920240" cy="365760"/>
          </a:xfrm>
          <a:prstGeom prst="rect">
            <a:avLst/>
          </a:prstGeom>
          <a:noFill/>
          <a:ln/>
        </p:spPr>
        <p:txBody>
          <a:bodyPr wrap="square" lIns="0" tIns="0" rIns="0" bIns="0" rtlCol="0" anchor="ctr"/>
          <a:lstStyle/>
          <a:p>
            <a:pPr marL="0" indent="0" algn="ctr">
              <a:buNone/>
            </a:pPr>
            <a:r>
              <a:rPr lang="en-US" sz="1200" b="1" dirty="0">
                <a:solidFill>
                  <a:srgbClr val="1E293B"/>
                </a:solidFill>
                <a:latin typeface="Calibri" pitchFamily="34" charset="0"/>
                <a:ea typeface="Calibri" pitchFamily="34" charset="-122"/>
                <a:cs typeface="Calibri" pitchFamily="34" charset="-120"/>
              </a:rPr>
              <a:t>Prodotto completo</a:t>
            </a:r>
            <a:endParaRPr lang="en-US" sz="1200" dirty="0"/>
          </a:p>
        </p:txBody>
      </p:sp>
      <p:sp>
        <p:nvSpPr>
          <p:cNvPr id="9" name="Text 6"/>
          <p:cNvSpPr/>
          <p:nvPr/>
        </p:nvSpPr>
        <p:spPr>
          <a:xfrm>
            <a:off x="457200" y="3063240"/>
            <a:ext cx="1920240" cy="54864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v1.0.4 in uso</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quotidiano</a:t>
            </a:r>
            <a:endParaRPr lang="en-US" sz="1100" dirty="0"/>
          </a:p>
        </p:txBody>
      </p:sp>
      <p:sp>
        <p:nvSpPr>
          <p:cNvPr id="10" name="Shape 7"/>
          <p:cNvSpPr/>
          <p:nvPr/>
        </p:nvSpPr>
        <p:spPr>
          <a:xfrm>
            <a:off x="2606040" y="2011680"/>
            <a:ext cx="1920240" cy="1737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1" name="Image 1" descr="preencoded.png"/>
          <p:cNvPicPr>
            <a:picLocks noChangeAspect="1"/>
          </p:cNvPicPr>
          <p:nvPr/>
        </p:nvPicPr>
        <p:blipFill>
          <a:blip r:embed="rId4"/>
          <a:stretch>
            <a:fillRect/>
          </a:stretch>
        </p:blipFill>
        <p:spPr>
          <a:xfrm>
            <a:off x="3291840" y="2148840"/>
            <a:ext cx="457200" cy="457200"/>
          </a:xfrm>
          <a:prstGeom prst="rect">
            <a:avLst/>
          </a:prstGeom>
        </p:spPr>
      </p:pic>
      <p:sp>
        <p:nvSpPr>
          <p:cNvPr id="12" name="Text 8"/>
          <p:cNvSpPr/>
          <p:nvPr/>
        </p:nvSpPr>
        <p:spPr>
          <a:xfrm>
            <a:off x="2606040" y="2697480"/>
            <a:ext cx="1920240" cy="365760"/>
          </a:xfrm>
          <a:prstGeom prst="rect">
            <a:avLst/>
          </a:prstGeom>
          <a:noFill/>
          <a:ln/>
        </p:spPr>
        <p:txBody>
          <a:bodyPr wrap="square" lIns="0" tIns="0" rIns="0" bIns="0" rtlCol="0" anchor="ctr"/>
          <a:lstStyle/>
          <a:p>
            <a:pPr marL="0" indent="0" algn="ctr">
              <a:buNone/>
            </a:pPr>
            <a:r>
              <a:rPr lang="en-US" sz="1200" b="1" dirty="0">
                <a:solidFill>
                  <a:srgbClr val="1E293B"/>
                </a:solidFill>
                <a:latin typeface="Calibri" pitchFamily="34" charset="0"/>
                <a:ea typeface="Calibri" pitchFamily="34" charset="-122"/>
                <a:cs typeface="Calibri" pitchFamily="34" charset="-120"/>
              </a:rPr>
              <a:t>100K+ professionisti</a:t>
            </a:r>
            <a:endParaRPr lang="en-US" sz="1200" dirty="0"/>
          </a:p>
        </p:txBody>
      </p:sp>
      <p:sp>
        <p:nvSpPr>
          <p:cNvPr id="13" name="Text 9"/>
          <p:cNvSpPr/>
          <p:nvPr/>
        </p:nvSpPr>
        <p:spPr>
          <a:xfrm>
            <a:off x="2606040" y="3063240"/>
            <a:ext cx="1920240" cy="54864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Mercato target</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in Italia</a:t>
            </a:r>
            <a:endParaRPr lang="en-US" sz="1100" dirty="0"/>
          </a:p>
        </p:txBody>
      </p:sp>
      <p:sp>
        <p:nvSpPr>
          <p:cNvPr id="14" name="Shape 10"/>
          <p:cNvSpPr/>
          <p:nvPr/>
        </p:nvSpPr>
        <p:spPr>
          <a:xfrm>
            <a:off x="4754880" y="2011680"/>
            <a:ext cx="1920240" cy="1737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5" name="Image 2" descr="preencoded.png"/>
          <p:cNvPicPr>
            <a:picLocks noChangeAspect="1"/>
          </p:cNvPicPr>
          <p:nvPr/>
        </p:nvPicPr>
        <p:blipFill>
          <a:blip r:embed="rId5"/>
          <a:stretch>
            <a:fillRect/>
          </a:stretch>
        </p:blipFill>
        <p:spPr>
          <a:xfrm>
            <a:off x="5440680" y="2148840"/>
            <a:ext cx="457200" cy="457200"/>
          </a:xfrm>
          <a:prstGeom prst="rect">
            <a:avLst/>
          </a:prstGeom>
        </p:spPr>
      </p:pic>
      <p:sp>
        <p:nvSpPr>
          <p:cNvPr id="16" name="Text 11"/>
          <p:cNvSpPr/>
          <p:nvPr/>
        </p:nvSpPr>
        <p:spPr>
          <a:xfrm>
            <a:off x="4754880" y="2697480"/>
            <a:ext cx="1920240" cy="365760"/>
          </a:xfrm>
          <a:prstGeom prst="rect">
            <a:avLst/>
          </a:prstGeom>
          <a:noFill/>
          <a:ln/>
        </p:spPr>
        <p:txBody>
          <a:bodyPr wrap="square" lIns="0" tIns="0" rIns="0" bIns="0" rtlCol="0" anchor="ctr"/>
          <a:lstStyle/>
          <a:p>
            <a:pPr marL="0" indent="0" algn="ctr">
              <a:buNone/>
            </a:pPr>
            <a:r>
              <a:rPr lang="en-US" sz="1200" b="1" dirty="0">
                <a:solidFill>
                  <a:srgbClr val="1E293B"/>
                </a:solidFill>
                <a:latin typeface="Calibri" pitchFamily="34" charset="0"/>
                <a:ea typeface="Calibri" pitchFamily="34" charset="-122"/>
                <a:cs typeface="Calibri" pitchFamily="34" charset="-120"/>
              </a:rPr>
              <a:t>POC strutturata</a:t>
            </a:r>
            <a:endParaRPr lang="en-US" sz="1200" dirty="0"/>
          </a:p>
        </p:txBody>
      </p:sp>
      <p:sp>
        <p:nvSpPr>
          <p:cNvPr id="17" name="Text 12"/>
          <p:cNvSpPr/>
          <p:nvPr/>
        </p:nvSpPr>
        <p:spPr>
          <a:xfrm>
            <a:off x="4754880" y="3063240"/>
            <a:ext cx="1920240" cy="54864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10 professionisti</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90 giorni</a:t>
            </a:r>
            <a:endParaRPr lang="en-US" sz="1100" dirty="0"/>
          </a:p>
        </p:txBody>
      </p:sp>
      <p:sp>
        <p:nvSpPr>
          <p:cNvPr id="18" name="Shape 13"/>
          <p:cNvSpPr/>
          <p:nvPr/>
        </p:nvSpPr>
        <p:spPr>
          <a:xfrm>
            <a:off x="6903720" y="2011680"/>
            <a:ext cx="1920240" cy="1737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9" name="Image 3" descr="preencoded.png"/>
          <p:cNvPicPr>
            <a:picLocks noChangeAspect="1"/>
          </p:cNvPicPr>
          <p:nvPr/>
        </p:nvPicPr>
        <p:blipFill>
          <a:blip r:embed="rId6"/>
          <a:stretch>
            <a:fillRect/>
          </a:stretch>
        </p:blipFill>
        <p:spPr>
          <a:xfrm>
            <a:off x="7589520" y="2148840"/>
            <a:ext cx="457200" cy="457200"/>
          </a:xfrm>
          <a:prstGeom prst="rect">
            <a:avLst/>
          </a:prstGeom>
        </p:spPr>
      </p:pic>
      <p:sp>
        <p:nvSpPr>
          <p:cNvPr id="20" name="Text 14"/>
          <p:cNvSpPr/>
          <p:nvPr/>
        </p:nvSpPr>
        <p:spPr>
          <a:xfrm>
            <a:off x="6903720" y="2697480"/>
            <a:ext cx="1920240" cy="365760"/>
          </a:xfrm>
          <a:prstGeom prst="rect">
            <a:avLst/>
          </a:prstGeom>
          <a:noFill/>
          <a:ln/>
        </p:spPr>
        <p:txBody>
          <a:bodyPr wrap="square" lIns="0" tIns="0" rIns="0" bIns="0" rtlCol="0" anchor="ctr"/>
          <a:lstStyle/>
          <a:p>
            <a:pPr marL="0" indent="0" algn="ctr">
              <a:buNone/>
            </a:pPr>
            <a:r>
              <a:rPr lang="en-US" sz="1200" b="1" dirty="0">
                <a:solidFill>
                  <a:srgbClr val="1E293B"/>
                </a:solidFill>
                <a:latin typeface="Calibri" pitchFamily="34" charset="0"/>
                <a:ea typeface="Calibri" pitchFamily="34" charset="-122"/>
                <a:cs typeface="Calibri" pitchFamily="34" charset="-120"/>
              </a:rPr>
              <a:t>Zero debito</a:t>
            </a:r>
            <a:endParaRPr lang="en-US" sz="1200" dirty="0"/>
          </a:p>
        </p:txBody>
      </p:sp>
      <p:sp>
        <p:nvSpPr>
          <p:cNvPr id="21" name="Text 15"/>
          <p:cNvSpPr/>
          <p:nvPr/>
        </p:nvSpPr>
        <p:spPr>
          <a:xfrm>
            <a:off x="6903720" y="3063240"/>
            <a:ext cx="1920240" cy="54864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Business sostenibile</a:t>
            </a:r>
            <a:endParaRPr lang="en-US" sz="1100" dirty="0"/>
          </a:p>
          <a:p>
            <a:pPr marL="0" indent="0" algn="ctr">
              <a:buNone/>
            </a:pPr>
            <a:r>
              <a:rPr lang="en-US" sz="1100" dirty="0">
                <a:solidFill>
                  <a:srgbClr val="475569"/>
                </a:solidFill>
                <a:latin typeface="Calibri" pitchFamily="34" charset="0"/>
                <a:ea typeface="Calibri" pitchFamily="34" charset="-122"/>
                <a:cs typeface="Calibri" pitchFamily="34" charset="-120"/>
              </a:rPr>
              <a:t>in ogni scenario</a:t>
            </a:r>
            <a:endParaRPr lang="en-US" sz="1100" dirty="0"/>
          </a:p>
        </p:txBody>
      </p:sp>
      <p:sp>
        <p:nvSpPr>
          <p:cNvPr id="22" name="Text 16"/>
          <p:cNvSpPr/>
          <p:nvPr/>
        </p:nvSpPr>
        <p:spPr>
          <a:xfrm>
            <a:off x="457200" y="4023360"/>
            <a:ext cx="8229600" cy="457200"/>
          </a:xfrm>
          <a:prstGeom prst="rect">
            <a:avLst/>
          </a:prstGeom>
          <a:noFill/>
          <a:ln/>
        </p:spPr>
        <p:txBody>
          <a:bodyPr wrap="square" rtlCol="0" anchor="ctr"/>
          <a:lstStyle/>
          <a:p>
            <a:pPr marL="0" indent="0">
              <a:buNone/>
            </a:pPr>
            <a:r>
              <a:rPr lang="en-US" sz="1200" b="1" dirty="0">
                <a:solidFill>
                  <a:srgbClr val="0A7A70"/>
                </a:solidFill>
                <a:latin typeface="Calibri" pitchFamily="34" charset="0"/>
                <a:ea typeface="Calibri" pitchFamily="34" charset="-122"/>
                <a:cs typeface="Calibri" pitchFamily="34" charset="-120"/>
              </a:rPr>
              <a:t>Si compra una volta, non si paga ogni mese. Cerchiamo un Industry Partner per accelerare la crescita.</a:t>
            </a:r>
            <a:endParaRPr lang="en-US" sz="1200" dirty="0"/>
          </a:p>
        </p:txBody>
      </p:sp>
      <p:sp>
        <p:nvSpPr>
          <p:cNvPr id="23" name="Text 17"/>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 / 56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2</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Il problema</a:t>
            </a:r>
            <a:endParaRPr lang="en-US" sz="4000" dirty="0"/>
          </a:p>
        </p:txBody>
      </p:sp>
      <p:sp>
        <p:nvSpPr>
          <p:cNvPr id="5" name="Text 3"/>
          <p:cNvSpPr/>
          <p:nvPr/>
        </p:nvSpPr>
        <p:spPr>
          <a:xfrm>
            <a:off x="457200" y="256032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Ogni personal trainer in Italia conosce questa storia</a:t>
            </a:r>
            <a:endParaRPr lang="en-US" sz="1600" dirty="0"/>
          </a:p>
        </p:txBody>
      </p:sp>
      <p:pic>
        <p:nvPicPr>
          <p:cNvPr id="6" name="Image 0" descr="preencoded.png"/>
          <p:cNvPicPr>
            <a:picLocks noChangeAspect="1"/>
          </p:cNvPicPr>
          <p:nvPr/>
        </p:nvPicPr>
        <p:blipFill>
          <a:blip r:embed="rId3"/>
          <a:stretch>
            <a:fillRect/>
          </a:stretch>
        </p:blipFill>
        <p:spPr>
          <a:xfrm>
            <a:off x="457200" y="3383280"/>
            <a:ext cx="365760" cy="365760"/>
          </a:xfrm>
          <a:prstGeom prst="rect">
            <a:avLst/>
          </a:prstGeom>
        </p:spPr>
      </p:pic>
      <p:sp>
        <p:nvSpPr>
          <p:cNvPr id="7" name="Text 4"/>
          <p:cNvSpPr/>
          <p:nvPr/>
        </p:nvSpPr>
        <p:spPr>
          <a:xfrm>
            <a:off x="1005840" y="3383280"/>
            <a:ext cx="7315200" cy="1005840"/>
          </a:xfrm>
          <a:prstGeom prst="rect">
            <a:avLst/>
          </a:prstGeom>
          <a:noFill/>
          <a:ln/>
        </p:spPr>
        <p:txBody>
          <a:bodyPr wrap="square" lIns="0" tIns="0" rIns="0" bIns="0" rtlCol="0" anchor="ctr"/>
          <a:lstStyle/>
          <a:p>
            <a:pPr marL="0" indent="0">
              <a:buNone/>
            </a:pPr>
            <a:r>
              <a:rPr lang="en-US" sz="1300" i="1" dirty="0">
                <a:solidFill>
                  <a:srgbClr val="99F6E4"/>
                </a:solidFill>
                <a:latin typeface="Georgia" pitchFamily="34" charset="0"/>
                <a:ea typeface="Georgia" pitchFamily="34" charset="-122"/>
                <a:cs typeface="Georgia" pitchFamily="34" charset="-120"/>
              </a:rPr>
              <a:t>Marco ha 32 clienti. Gestisce le anamnesi su fogli Word, le schede su PDF, i pagamenti su un foglio Excel. Ogni lunedì perde due ore a ricostruire chi ha pagato e chi no. Un mese fa ha dimenticato che un cliente aveva un'ernia lombare e gli ha assegnato stacchi da terra. Il cliente non è tornato.</a:t>
            </a:r>
            <a:endParaRPr lang="en-US" sz="1300" dirty="0"/>
          </a:p>
        </p:txBody>
      </p:sp>
      <p:sp>
        <p:nvSpPr>
          <p:cNvPr id="8" name="Text 5"/>
          <p:cNvSpPr/>
          <p:nvPr/>
        </p:nvSpPr>
        <p:spPr>
          <a:xfrm>
            <a:off x="1005840" y="4434840"/>
            <a:ext cx="7315200" cy="274320"/>
          </a:xfrm>
          <a:prstGeom prst="rect">
            <a:avLst/>
          </a:prstGeom>
          <a:noFill/>
          <a:ln/>
        </p:spPr>
        <p:txBody>
          <a:bodyPr wrap="square" lIns="0" tIns="0" rIns="0" bIns="0" rtlCol="0" anchor="ctr"/>
          <a:lstStyle/>
          <a:p>
            <a:pPr marL="0" indent="0">
              <a:buNone/>
            </a:pPr>
            <a:r>
              <a:rPr lang="en-US" sz="1400" b="1" dirty="0">
                <a:solidFill>
                  <a:srgbClr val="F96167"/>
                </a:solidFill>
                <a:latin typeface="Calibri" pitchFamily="34" charset="0"/>
                <a:ea typeface="Calibri" pitchFamily="34" charset="-122"/>
                <a:cs typeface="Calibri" pitchFamily="34" charset="-120"/>
              </a:rPr>
              <a:t>Marco non è un caso isolato. È la norma.</a:t>
            </a:r>
            <a:endParaRPr lang="en-US" sz="1400" dirty="0"/>
          </a:p>
        </p:txBody>
      </p:sp>
      <p:sp>
        <p:nvSpPr>
          <p:cNvPr id="9" name="Text 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 / 56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2</a:t>
            </a:r>
            <a:endParaRPr lang="en-US" sz="800" dirty="0"/>
          </a:p>
        </p:txBody>
      </p:sp>
      <p:sp>
        <p:nvSpPr>
          <p:cNvPr id="3" name="Text 1"/>
          <p:cNvSpPr/>
          <p:nvPr/>
        </p:nvSpPr>
        <p:spPr>
          <a:xfrm>
            <a:off x="457200" y="40706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 6 problemi che ogni trainer riconosce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6" name="Image 0" descr="preencoded.png"/>
          <p:cNvPicPr>
            <a:picLocks noChangeAspect="1"/>
          </p:cNvPicPr>
          <p:nvPr/>
        </p:nvPicPr>
        <p:blipFill>
          <a:blip r:embed="rId3"/>
          <a:stretch>
            <a:fillRect/>
          </a:stretch>
        </p:blipFill>
        <p:spPr>
          <a:xfrm>
            <a:off x="640080" y="1280160"/>
            <a:ext cx="411480" cy="411480"/>
          </a:xfrm>
          <a:prstGeom prst="rect">
            <a:avLst/>
          </a:prstGeom>
        </p:spPr>
      </p:pic>
      <p:sp>
        <p:nvSpPr>
          <p:cNvPr id="7" name="Text 4"/>
          <p:cNvSpPr/>
          <p:nvPr/>
        </p:nvSpPr>
        <p:spPr>
          <a:xfrm>
            <a:off x="1188720" y="114300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Ore perse in admin</a:t>
            </a:r>
            <a:endParaRPr lang="en-US" sz="1300" dirty="0"/>
          </a:p>
        </p:txBody>
      </p:sp>
      <p:sp>
        <p:nvSpPr>
          <p:cNvPr id="8" name="Text 5"/>
          <p:cNvSpPr/>
          <p:nvPr/>
        </p:nvSpPr>
        <p:spPr>
          <a:xfrm>
            <a:off x="1188720" y="155448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3-5h/settimana in lavoro che non genera valore</a:t>
            </a:r>
            <a:endParaRPr lang="en-US" sz="1100" dirty="0"/>
          </a:p>
        </p:txBody>
      </p:sp>
      <p:sp>
        <p:nvSpPr>
          <p:cNvPr id="9" name="Shape 6"/>
          <p:cNvSpPr/>
          <p:nvPr/>
        </p:nvSpPr>
        <p:spPr>
          <a:xfrm>
            <a:off x="4754880" y="105156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0" name="Image 1" descr="preencoded.png"/>
          <p:cNvPicPr>
            <a:picLocks noChangeAspect="1"/>
          </p:cNvPicPr>
          <p:nvPr/>
        </p:nvPicPr>
        <p:blipFill>
          <a:blip r:embed="rId4"/>
          <a:stretch>
            <a:fillRect/>
          </a:stretch>
        </p:blipFill>
        <p:spPr>
          <a:xfrm>
            <a:off x="4937760" y="1280160"/>
            <a:ext cx="411480" cy="411480"/>
          </a:xfrm>
          <a:prstGeom prst="rect">
            <a:avLst/>
          </a:prstGeom>
        </p:spPr>
      </p:pic>
      <p:sp>
        <p:nvSpPr>
          <p:cNvPr id="11" name="Text 7"/>
          <p:cNvSpPr/>
          <p:nvPr/>
        </p:nvSpPr>
        <p:spPr>
          <a:xfrm>
            <a:off x="5486400" y="114300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Tetto ai clienti</a:t>
            </a:r>
            <a:endParaRPr lang="en-US" sz="1300" dirty="0"/>
          </a:p>
        </p:txBody>
      </p:sp>
      <p:sp>
        <p:nvSpPr>
          <p:cNvPr id="12" name="Text 8"/>
          <p:cNvSpPr/>
          <p:nvPr/>
        </p:nvSpPr>
        <p:spPr>
          <a:xfrm>
            <a:off x="5486400" y="155448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Oltre 25-30 clienti il sistema artigianale crolla</a:t>
            </a:r>
            <a:endParaRPr lang="en-US" sz="1100" dirty="0"/>
          </a:p>
        </p:txBody>
      </p:sp>
      <p:sp>
        <p:nvSpPr>
          <p:cNvPr id="13" name="Shape 9"/>
          <p:cNvSpPr/>
          <p:nvPr/>
        </p:nvSpPr>
        <p:spPr>
          <a:xfrm>
            <a:off x="457200" y="224028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4" name="Image 2" descr="preencoded.png"/>
          <p:cNvPicPr>
            <a:picLocks noChangeAspect="1"/>
          </p:cNvPicPr>
          <p:nvPr/>
        </p:nvPicPr>
        <p:blipFill>
          <a:blip r:embed="rId5"/>
          <a:stretch>
            <a:fillRect/>
          </a:stretch>
        </p:blipFill>
        <p:spPr>
          <a:xfrm>
            <a:off x="640080" y="2468880"/>
            <a:ext cx="411480" cy="411480"/>
          </a:xfrm>
          <a:prstGeom prst="rect">
            <a:avLst/>
          </a:prstGeom>
        </p:spPr>
      </p:pic>
      <p:sp>
        <p:nvSpPr>
          <p:cNvPr id="15" name="Text 10"/>
          <p:cNvSpPr/>
          <p:nvPr/>
        </p:nvSpPr>
        <p:spPr>
          <a:xfrm>
            <a:off x="1188720" y="233172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Nessuna visione unificata</a:t>
            </a:r>
            <a:endParaRPr lang="en-US" sz="1300" dirty="0"/>
          </a:p>
        </p:txBody>
      </p:sp>
      <p:sp>
        <p:nvSpPr>
          <p:cNvPr id="16" name="Text 11"/>
          <p:cNvSpPr/>
          <p:nvPr/>
        </p:nvSpPr>
        <p:spPr>
          <a:xfrm>
            <a:off x="1188720" y="274320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Anamnesi, schede, pagamenti sparsi ovunque</a:t>
            </a:r>
            <a:endParaRPr lang="en-US" sz="1100" dirty="0"/>
          </a:p>
        </p:txBody>
      </p:sp>
      <p:sp>
        <p:nvSpPr>
          <p:cNvPr id="17" name="Shape 12"/>
          <p:cNvSpPr/>
          <p:nvPr/>
        </p:nvSpPr>
        <p:spPr>
          <a:xfrm>
            <a:off x="4754880" y="224028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8" name="Image 3" descr="preencoded.png"/>
          <p:cNvPicPr>
            <a:picLocks noChangeAspect="1"/>
          </p:cNvPicPr>
          <p:nvPr/>
        </p:nvPicPr>
        <p:blipFill>
          <a:blip r:embed="rId6"/>
          <a:stretch>
            <a:fillRect/>
          </a:stretch>
        </p:blipFill>
        <p:spPr>
          <a:xfrm>
            <a:off x="4937760" y="2468880"/>
            <a:ext cx="411480" cy="411480"/>
          </a:xfrm>
          <a:prstGeom prst="rect">
            <a:avLst/>
          </a:prstGeom>
        </p:spPr>
      </p:pic>
      <p:sp>
        <p:nvSpPr>
          <p:cNvPr id="19" name="Text 13"/>
          <p:cNvSpPr/>
          <p:nvPr/>
        </p:nvSpPr>
        <p:spPr>
          <a:xfrm>
            <a:off x="5486400" y="233172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Contabilità dispersa</a:t>
            </a:r>
            <a:endParaRPr lang="en-US" sz="1300" dirty="0"/>
          </a:p>
        </p:txBody>
      </p:sp>
      <p:sp>
        <p:nvSpPr>
          <p:cNvPr id="20" name="Text 14"/>
          <p:cNvSpPr/>
          <p:nvPr/>
        </p:nvSpPr>
        <p:spPr>
          <a:xfrm>
            <a:off x="5486400" y="274320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Rate dimenticate, nessun report finanziario</a:t>
            </a:r>
            <a:endParaRPr lang="en-US" sz="1100" dirty="0"/>
          </a:p>
        </p:txBody>
      </p:sp>
      <p:sp>
        <p:nvSpPr>
          <p:cNvPr id="21" name="Shape 15"/>
          <p:cNvSpPr/>
          <p:nvPr/>
        </p:nvSpPr>
        <p:spPr>
          <a:xfrm>
            <a:off x="457200" y="342900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22" name="Image 4" descr="preencoded.png"/>
          <p:cNvPicPr>
            <a:picLocks noChangeAspect="1"/>
          </p:cNvPicPr>
          <p:nvPr/>
        </p:nvPicPr>
        <p:blipFill>
          <a:blip r:embed="rId7"/>
          <a:stretch>
            <a:fillRect/>
          </a:stretch>
        </p:blipFill>
        <p:spPr>
          <a:xfrm>
            <a:off x="640080" y="3657600"/>
            <a:ext cx="411480" cy="411480"/>
          </a:xfrm>
          <a:prstGeom prst="rect">
            <a:avLst/>
          </a:prstGeom>
        </p:spPr>
      </p:pic>
      <p:sp>
        <p:nvSpPr>
          <p:cNvPr id="23" name="Text 16"/>
          <p:cNvSpPr/>
          <p:nvPr/>
        </p:nvSpPr>
        <p:spPr>
          <a:xfrm>
            <a:off x="1188720" y="352044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Rischio errori clinici</a:t>
            </a:r>
            <a:endParaRPr lang="en-US" sz="1300" dirty="0"/>
          </a:p>
        </p:txBody>
      </p:sp>
      <p:sp>
        <p:nvSpPr>
          <p:cNvPr id="24" name="Text 17"/>
          <p:cNvSpPr/>
          <p:nvPr/>
        </p:nvSpPr>
        <p:spPr>
          <a:xfrm>
            <a:off x="1188720" y="393192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Condizioni patologiche dimenticate o ignorate</a:t>
            </a:r>
            <a:endParaRPr lang="en-US" sz="1100" dirty="0"/>
          </a:p>
        </p:txBody>
      </p:sp>
      <p:sp>
        <p:nvSpPr>
          <p:cNvPr id="25" name="Shape 18"/>
          <p:cNvSpPr/>
          <p:nvPr/>
        </p:nvSpPr>
        <p:spPr>
          <a:xfrm>
            <a:off x="4754880" y="3429000"/>
            <a:ext cx="4023360" cy="1051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26" name="Image 5" descr="preencoded.png"/>
          <p:cNvPicPr>
            <a:picLocks noChangeAspect="1"/>
          </p:cNvPicPr>
          <p:nvPr/>
        </p:nvPicPr>
        <p:blipFill>
          <a:blip r:embed="rId8"/>
          <a:stretch>
            <a:fillRect/>
          </a:stretch>
        </p:blipFill>
        <p:spPr>
          <a:xfrm>
            <a:off x="4937760" y="3657600"/>
            <a:ext cx="411480" cy="411480"/>
          </a:xfrm>
          <a:prstGeom prst="rect">
            <a:avLst/>
          </a:prstGeom>
        </p:spPr>
      </p:pic>
      <p:sp>
        <p:nvSpPr>
          <p:cNvPr id="27" name="Text 19"/>
          <p:cNvSpPr/>
          <p:nvPr/>
        </p:nvSpPr>
        <p:spPr>
          <a:xfrm>
            <a:off x="5486400" y="3520440"/>
            <a:ext cx="3017520" cy="32004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Impossibilità di differenziarsi</a:t>
            </a:r>
            <a:endParaRPr lang="en-US" sz="1300" dirty="0"/>
          </a:p>
        </p:txBody>
      </p:sp>
      <p:sp>
        <p:nvSpPr>
          <p:cNvPr id="28" name="Text 20"/>
          <p:cNvSpPr/>
          <p:nvPr/>
        </p:nvSpPr>
        <p:spPr>
          <a:xfrm>
            <a:off x="5486400" y="3931920"/>
            <a:ext cx="301752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Senza dati, tutti offrono lo stesso servizio</a:t>
            </a:r>
            <a:endParaRPr lang="en-US" sz="1100" dirty="0"/>
          </a:p>
        </p:txBody>
      </p:sp>
      <p:sp>
        <p:nvSpPr>
          <p:cNvPr id="29" name="Text 21"/>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 / 56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96167"/>
          </a:solidFill>
          <a:ln/>
        </p:spPr>
        <p:txBody>
          <a:bodyPr/>
          <a:lstStyle/>
          <a:p>
            <a:endParaRPr lang="it-IT"/>
          </a:p>
        </p:txBody>
      </p:sp>
      <p:sp>
        <p:nvSpPr>
          <p:cNvPr id="3" name="Text 1"/>
          <p:cNvSpPr/>
          <p:nvPr/>
        </p:nvSpPr>
        <p:spPr>
          <a:xfrm>
            <a:off x="457200" y="457200"/>
            <a:ext cx="8229600" cy="365760"/>
          </a:xfrm>
          <a:prstGeom prst="rect">
            <a:avLst/>
          </a:prstGeom>
          <a:noFill/>
          <a:ln/>
        </p:spPr>
        <p:txBody>
          <a:bodyPr wrap="square" rtlCol="0" anchor="ctr"/>
          <a:lstStyle/>
          <a:p>
            <a:pPr marL="0" indent="0">
              <a:buNone/>
            </a:pPr>
            <a:r>
              <a:rPr lang="en-US" sz="1000" b="1" kern="0" spc="400" dirty="0">
                <a:solidFill>
                  <a:srgbClr val="F96167"/>
                </a:solidFill>
                <a:latin typeface="Calibri" pitchFamily="34" charset="0"/>
                <a:ea typeface="Calibri" pitchFamily="34" charset="-122"/>
                <a:cs typeface="Calibri" pitchFamily="34" charset="-120"/>
              </a:rPr>
              <a:t>IL COMPETITOR VERO</a:t>
            </a:r>
            <a:endParaRPr lang="en-US" sz="1000" dirty="0"/>
          </a:p>
        </p:txBody>
      </p:sp>
      <p:sp>
        <p:nvSpPr>
          <p:cNvPr id="4" name="Text 2"/>
          <p:cNvSpPr/>
          <p:nvPr/>
        </p:nvSpPr>
        <p:spPr>
          <a:xfrm>
            <a:off x="457200" y="118872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Non è un altro software.</a:t>
            </a:r>
            <a:endParaRPr lang="en-US" sz="3600" dirty="0"/>
          </a:p>
        </p:txBody>
      </p:sp>
      <p:sp>
        <p:nvSpPr>
          <p:cNvPr id="5" name="Text 3"/>
          <p:cNvSpPr/>
          <p:nvPr/>
        </p:nvSpPr>
        <p:spPr>
          <a:xfrm>
            <a:off x="457200" y="1828800"/>
            <a:ext cx="8229600" cy="640080"/>
          </a:xfrm>
          <a:prstGeom prst="rect">
            <a:avLst/>
          </a:prstGeom>
          <a:noFill/>
          <a:ln/>
        </p:spPr>
        <p:txBody>
          <a:bodyPr wrap="square" lIns="0" tIns="0" rIns="0" bIns="0" rtlCol="0" anchor="ctr"/>
          <a:lstStyle/>
          <a:p>
            <a:pPr marL="0" indent="0">
              <a:buNone/>
            </a:pPr>
            <a:r>
              <a:rPr lang="en-US" sz="3600" b="1" dirty="0">
                <a:solidFill>
                  <a:srgbClr val="F96167"/>
                </a:solidFill>
                <a:latin typeface="Georgia" pitchFamily="34" charset="0"/>
                <a:ea typeface="Georgia" pitchFamily="34" charset="-122"/>
                <a:cs typeface="Georgia" pitchFamily="34" charset="-120"/>
              </a:rPr>
              <a:t>È l'abitudine.</a:t>
            </a:r>
            <a:endParaRPr lang="en-US" sz="3600" dirty="0"/>
          </a:p>
        </p:txBody>
      </p:sp>
      <p:sp>
        <p:nvSpPr>
          <p:cNvPr id="6" name="Text 4"/>
          <p:cNvSpPr/>
          <p:nvPr/>
        </p:nvSpPr>
        <p:spPr>
          <a:xfrm>
            <a:off x="457200" y="2926080"/>
            <a:ext cx="7315200" cy="169728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Il trainer usa WhatsApp ed Excel perché "ha sempre fatto così" — non perché funzioni, ma perché nessuno gli ha offerto qualcosa di meglio che rispetti il suo modo di lavorare.</a:t>
            </a:r>
            <a:endParaRPr lang="en-US" sz="1600" dirty="0"/>
          </a:p>
          <a:p>
            <a:pPr>
              <a:spcBef>
                <a:spcPts val="1200"/>
              </a:spcBef>
            </a:pPr>
            <a:r>
              <a:rPr sz="1400">
                <a:solidFill>
                  <a:srgbClr val="94A3B8"/>
                </a:solidFill>
              </a:rPr>
              <a:t>WhatsApp è il centro del workflow di ogni trainer. È lì che conferma appuntamenti, manda schede, sollecita pagamenti, tiene i rapporti con i clienti. Ma lo fa manualmente — riscrive gli stessi messaggi 20 volte al giorno, dimentica promemoria, perde il filo delle conversazioni. Qualunque soluzione che chieda al trainer di abbandonare WhatsApp parte sconfitta. La soluzione giusta non sostituisce WhatsApp — lo potenzia.</a:t>
            </a:r>
          </a:p>
        </p:txBody>
      </p:sp>
      <p:sp>
        <p:nvSpPr>
          <p:cNvPr id="7" name="Text 5"/>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6 / 56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3</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La soluzione</a:t>
            </a:r>
            <a:endParaRPr lang="en-US" sz="4000" dirty="0"/>
          </a:p>
        </p:txBody>
      </p:sp>
      <p:sp>
        <p:nvSpPr>
          <p:cNvPr id="5" name="Text 3"/>
          <p:cNvSpPr/>
          <p:nvPr/>
        </p:nvSpPr>
        <p:spPr>
          <a:xfrm>
            <a:off x="457200" y="256032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Un sistema completo: software + dispositivo dedicato</a:t>
            </a:r>
            <a:endParaRPr lang="en-US" sz="1600" dirty="0"/>
          </a:p>
        </p:txBody>
      </p:sp>
      <p:sp>
        <p:nvSpPr>
          <p:cNvPr id="6" name="Text 4"/>
          <p:cNvSpPr/>
          <p:nvPr/>
        </p:nvSpPr>
        <p:spPr>
          <a:xfrm>
            <a:off x="457200" y="3383280"/>
            <a:ext cx="7772400" cy="640080"/>
          </a:xfrm>
          <a:prstGeom prst="rect">
            <a:avLst/>
          </a:prstGeom>
          <a:noFill/>
          <a:ln/>
        </p:spPr>
        <p:txBody>
          <a:bodyPr wrap="square" lIns="0" tIns="0" rIns="0" bIns="0" rtlCol="0" anchor="ctr"/>
          <a:lstStyle/>
          <a:p>
            <a:pPr marL="0" indent="0">
              <a:buNone/>
            </a:pPr>
            <a:r>
              <a:rPr lang="en-US" sz="1300" dirty="0">
                <a:solidFill>
                  <a:srgbClr val="99F6E4"/>
                </a:solidFill>
                <a:latin typeface="Calibri" pitchFamily="34" charset="0"/>
                <a:ea typeface="Calibri" pitchFamily="34" charset="-122"/>
                <a:cs typeface="Calibri" pitchFamily="34" charset="-120"/>
              </a:rPr>
              <a:t>Un unico strumento che permette al personal trainer di gestire clienti, schede di allenamento, pagamenti e anamnesi da qualunque dispositivo, con la scienza integrata e i dati che restano nel suo studio.</a:t>
            </a:r>
            <a:endParaRPr lang="en-US" sz="1300" dirty="0"/>
          </a:p>
        </p:txBody>
      </p:sp>
      <p:sp>
        <p:nvSpPr>
          <p:cNvPr id="7" name="Text 5"/>
          <p:cNvSpPr/>
          <p:nvPr/>
        </p:nvSpPr>
        <p:spPr>
          <a:xfrm>
            <a:off x="457200" y="4114800"/>
            <a:ext cx="7315200" cy="45720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Si compra una volta, non si paga ogni mese.</a:t>
            </a:r>
            <a:endParaRPr lang="en-US" sz="1800" dirty="0"/>
          </a:p>
        </p:txBody>
      </p:sp>
      <p:sp>
        <p:nvSpPr>
          <p:cNvPr id="8" name="Text 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7 / 56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3 — IL SOFTWARE</a:t>
            </a:r>
            <a:endParaRPr lang="en-US" sz="800" dirty="0"/>
          </a:p>
        </p:txBody>
      </p:sp>
      <p:sp>
        <p:nvSpPr>
          <p:cNvPr id="3" name="Text 1"/>
          <p:cNvSpPr/>
          <p:nvPr/>
        </p:nvSpPr>
        <p:spPr>
          <a:xfrm>
            <a:off x="457200" y="40233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Il software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pic>
        <p:nvPicPr>
          <p:cNvPr id="5" name="Image 0" descr="preencoded.png"/>
          <p:cNvPicPr>
            <a:picLocks noChangeAspect="1"/>
          </p:cNvPicPr>
          <p:nvPr/>
        </p:nvPicPr>
        <p:blipFill>
          <a:blip r:embed="rId3"/>
          <a:stretch>
            <a:fillRect/>
          </a:stretch>
        </p:blipFill>
        <p:spPr>
          <a:xfrm>
            <a:off x="548640" y="1234440"/>
            <a:ext cx="365760" cy="365760"/>
          </a:xfrm>
          <a:prstGeom prst="rect">
            <a:avLst/>
          </a:prstGeom>
        </p:spPr>
      </p:pic>
      <p:sp>
        <p:nvSpPr>
          <p:cNvPr id="6" name="Text 3"/>
          <p:cNvSpPr/>
          <p:nvPr/>
        </p:nvSpPr>
        <p:spPr>
          <a:xfrm>
            <a:off x="1051560" y="109728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Gestione clienti e contratti</a:t>
            </a:r>
            <a:endParaRPr lang="en-US" sz="1300" dirty="0"/>
          </a:p>
        </p:txBody>
      </p:sp>
      <p:sp>
        <p:nvSpPr>
          <p:cNvPr id="7" name="Text 4"/>
          <p:cNvSpPr/>
          <p:nvPr/>
        </p:nvSpPr>
        <p:spPr>
          <a:xfrm>
            <a:off x="1051560" y="137160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Anagrafica, contratti, scadenze, storico. Ogni lunedì sai chi ha pagato, chi deve rinnovare.</a:t>
            </a:r>
            <a:endParaRPr lang="en-US" sz="1100" dirty="0"/>
          </a:p>
        </p:txBody>
      </p:sp>
      <p:pic>
        <p:nvPicPr>
          <p:cNvPr id="8" name="Image 1" descr="preencoded.png"/>
          <p:cNvPicPr>
            <a:picLocks noChangeAspect="1"/>
          </p:cNvPicPr>
          <p:nvPr/>
        </p:nvPicPr>
        <p:blipFill>
          <a:blip r:embed="rId4"/>
          <a:stretch>
            <a:fillRect/>
          </a:stretch>
        </p:blipFill>
        <p:spPr>
          <a:xfrm>
            <a:off x="4846320" y="1234440"/>
            <a:ext cx="365760" cy="365760"/>
          </a:xfrm>
          <a:prstGeom prst="rect">
            <a:avLst/>
          </a:prstGeom>
        </p:spPr>
      </p:pic>
      <p:sp>
        <p:nvSpPr>
          <p:cNvPr id="9" name="Text 5"/>
          <p:cNvSpPr/>
          <p:nvPr/>
        </p:nvSpPr>
        <p:spPr>
          <a:xfrm>
            <a:off x="5349240" y="109728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Schede di allenamento</a:t>
            </a:r>
            <a:endParaRPr lang="en-US" sz="1300" dirty="0"/>
          </a:p>
        </p:txBody>
      </p:sp>
      <p:sp>
        <p:nvSpPr>
          <p:cNvPr id="10" name="Text 6"/>
          <p:cNvSpPr/>
          <p:nvPr/>
        </p:nvSpPr>
        <p:spPr>
          <a:xfrm>
            <a:off x="5349240" y="137160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500 esercizi con progressioni, regressioni e varianti. Scheda professionale in 5 minuti.</a:t>
            </a:r>
            <a:endParaRPr lang="en-US" sz="1100" dirty="0"/>
          </a:p>
        </p:txBody>
      </p:sp>
      <p:pic>
        <p:nvPicPr>
          <p:cNvPr id="11" name="Image 2" descr="preencoded.png"/>
          <p:cNvPicPr>
            <a:picLocks noChangeAspect="1"/>
          </p:cNvPicPr>
          <p:nvPr/>
        </p:nvPicPr>
        <p:blipFill>
          <a:blip r:embed="rId5"/>
          <a:stretch>
            <a:fillRect/>
          </a:stretch>
        </p:blipFill>
        <p:spPr>
          <a:xfrm>
            <a:off x="548640" y="2423160"/>
            <a:ext cx="365760" cy="365760"/>
          </a:xfrm>
          <a:prstGeom prst="rect">
            <a:avLst/>
          </a:prstGeom>
        </p:spPr>
      </p:pic>
      <p:sp>
        <p:nvSpPr>
          <p:cNvPr id="12" name="Text 7"/>
          <p:cNvSpPr/>
          <p:nvPr/>
        </p:nvSpPr>
        <p:spPr>
          <a:xfrm>
            <a:off x="1051560" y="228600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Protezione errori clinici</a:t>
            </a:r>
            <a:endParaRPr lang="en-US" sz="1300" dirty="0"/>
          </a:p>
        </p:txBody>
      </p:sp>
      <p:sp>
        <p:nvSpPr>
          <p:cNvPr id="13" name="Text 8"/>
          <p:cNvSpPr/>
          <p:nvPr/>
        </p:nvSpPr>
        <p:spPr>
          <a:xfrm>
            <a:off x="1051560" y="256032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Safety Engine: 47 condizioni cliniche, 80 regole automatiche. Avvisa se un esercizio è controindicato.</a:t>
            </a:r>
            <a:endParaRPr lang="en-US" sz="1100" dirty="0"/>
          </a:p>
        </p:txBody>
      </p:sp>
      <p:pic>
        <p:nvPicPr>
          <p:cNvPr id="14" name="Image 3" descr="preencoded.png"/>
          <p:cNvPicPr>
            <a:picLocks noChangeAspect="1"/>
          </p:cNvPicPr>
          <p:nvPr/>
        </p:nvPicPr>
        <p:blipFill>
          <a:blip r:embed="rId6"/>
          <a:stretch>
            <a:fillRect/>
          </a:stretch>
        </p:blipFill>
        <p:spPr>
          <a:xfrm>
            <a:off x="4846320" y="2423160"/>
            <a:ext cx="365760" cy="365760"/>
          </a:xfrm>
          <a:prstGeom prst="rect">
            <a:avLst/>
          </a:prstGeom>
        </p:spPr>
      </p:pic>
      <p:sp>
        <p:nvSpPr>
          <p:cNvPr id="15" name="Text 9"/>
          <p:cNvSpPr/>
          <p:nvPr/>
        </p:nvSpPr>
        <p:spPr>
          <a:xfrm>
            <a:off x="5349240" y="228600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Nutrizione italiana</a:t>
            </a:r>
            <a:endParaRPr lang="en-US" sz="1300" dirty="0"/>
          </a:p>
        </p:txBody>
      </p:sp>
      <p:sp>
        <p:nvSpPr>
          <p:cNvPr id="16" name="Text 10"/>
          <p:cNvSpPr/>
          <p:nvPr/>
        </p:nvSpPr>
        <p:spPr>
          <a:xfrm>
            <a:off x="5349240" y="256032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880 alimenti CREA. Piani alimentari LARN settimanali. Database ufficiale italiano.</a:t>
            </a:r>
            <a:endParaRPr lang="en-US" sz="1100" dirty="0"/>
          </a:p>
        </p:txBody>
      </p:sp>
      <p:pic>
        <p:nvPicPr>
          <p:cNvPr id="17" name="Image 4" descr="preencoded.png"/>
          <p:cNvPicPr>
            <a:picLocks noChangeAspect="1"/>
          </p:cNvPicPr>
          <p:nvPr/>
        </p:nvPicPr>
        <p:blipFill>
          <a:blip r:embed="rId7"/>
          <a:stretch>
            <a:fillRect/>
          </a:stretch>
        </p:blipFill>
        <p:spPr>
          <a:xfrm>
            <a:off x="548640" y="3611880"/>
            <a:ext cx="365760" cy="365760"/>
          </a:xfrm>
          <a:prstGeom prst="rect">
            <a:avLst/>
          </a:prstGeom>
        </p:spPr>
      </p:pic>
      <p:sp>
        <p:nvSpPr>
          <p:cNvPr id="18" name="Text 11"/>
          <p:cNvSpPr/>
          <p:nvPr/>
        </p:nvSpPr>
        <p:spPr>
          <a:xfrm>
            <a:off x="1051560" y="347472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Anamnesi strutturata</a:t>
            </a:r>
            <a:endParaRPr lang="en-US" sz="1300" dirty="0"/>
          </a:p>
        </p:txBody>
      </p:sp>
      <p:sp>
        <p:nvSpPr>
          <p:cNvPr id="19" name="Text 12"/>
          <p:cNvSpPr/>
          <p:nvPr/>
        </p:nvSpPr>
        <p:spPr>
          <a:xfrm>
            <a:off x="1051560" y="374904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6 passaggi guidati. Il cliente compila dal proprio telefono via portale web sicuro.</a:t>
            </a:r>
            <a:endParaRPr lang="en-US" sz="1100" dirty="0"/>
          </a:p>
        </p:txBody>
      </p:sp>
      <p:pic>
        <p:nvPicPr>
          <p:cNvPr id="20" name="Image 5" descr="preencoded.png"/>
          <p:cNvPicPr>
            <a:picLocks noChangeAspect="1"/>
          </p:cNvPicPr>
          <p:nvPr/>
        </p:nvPicPr>
        <p:blipFill>
          <a:blip r:embed="rId8"/>
          <a:stretch>
            <a:fillRect/>
          </a:stretch>
        </p:blipFill>
        <p:spPr>
          <a:xfrm>
            <a:off x="4846320" y="3611880"/>
            <a:ext cx="365760" cy="365760"/>
          </a:xfrm>
          <a:prstGeom prst="rect">
            <a:avLst/>
          </a:prstGeom>
        </p:spPr>
      </p:pic>
      <p:sp>
        <p:nvSpPr>
          <p:cNvPr id="21" name="Text 13"/>
          <p:cNvSpPr/>
          <p:nvPr/>
        </p:nvSpPr>
        <p:spPr>
          <a:xfrm>
            <a:off x="5349240" y="3474720"/>
            <a:ext cx="329184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Pagamenti e cassa</a:t>
            </a:r>
            <a:endParaRPr lang="en-US" sz="1300" dirty="0"/>
          </a:p>
        </p:txBody>
      </p:sp>
      <p:sp>
        <p:nvSpPr>
          <p:cNvPr id="22" name="Text 14"/>
          <p:cNvSpPr/>
          <p:nvPr/>
        </p:nvSpPr>
        <p:spPr>
          <a:xfrm>
            <a:off x="5349240" y="3749040"/>
            <a:ext cx="3291840" cy="6858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Rate, pagamenti, stato finanziario di ogni cliente e del business in tempo reale.</a:t>
            </a:r>
            <a:endParaRPr lang="en-US" sz="1100" dirty="0"/>
          </a:p>
        </p:txBody>
      </p:sp>
      <p:sp>
        <p:nvSpPr>
          <p:cNvPr id="23" name="Text 15"/>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8 / 56</a:t>
            </a:r>
            <a:endParaRPr lang="en-US" sz="900" dirty="0"/>
          </a:p>
        </p:txBody>
      </p:sp>
      <p:sp>
        <p:nvSpPr>
          <p:cNvPr id="24" name="TextBox 23"/>
          <p:cNvSpPr txBox="1"/>
          <p:nvPr/>
        </p:nvSpPr>
        <p:spPr>
          <a:xfrm>
            <a:off x="457200" y="4434840"/>
            <a:ext cx="8229600" cy="457200"/>
          </a:xfrm>
          <a:prstGeom prst="rect">
            <a:avLst/>
          </a:prstGeom>
          <a:noFill/>
        </p:spPr>
        <p:txBody>
          <a:bodyPr wrap="square">
            <a:spAutoFit/>
          </a:bodyPr>
          <a:lstStyle/>
          <a:p>
            <a:pPr algn="l">
              <a:defRPr sz="1000" b="0">
                <a:solidFill>
                  <a:srgbClr val="808080"/>
                </a:solidFill>
              </a:defRPr>
            </a:pPr>
            <a:r>
              <a:t>Il database è progettato per crescere con il contributo di professionisti del settore. Esercizi validati da migliaia di ore di pratica 1:1, varianti testate su clienti reali con patologie specifiche.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923"/>
        </a:solidFill>
        <a:effectLst/>
      </p:bgPr>
    </p:bg>
    <p:spTree>
      <p:nvGrpSpPr>
        <p:cNvPr id="1" name=""/>
        <p:cNvGrpSpPr/>
        <p:nvPr/>
      </p:nvGrpSpPr>
      <p:grpSpPr>
        <a:xfrm>
          <a:off x="0" y="0"/>
          <a:ext cx="0" cy="0"/>
          <a:chOff x="0" y="0"/>
          <a:chExt cx="0" cy="0"/>
        </a:xfrm>
      </p:grpSpPr>
      <p:sp>
        <p:nvSpPr>
          <p:cNvPr id="2" name="TextBox 1"/>
          <p:cNvSpPr txBox="1"/>
          <p:nvPr/>
        </p:nvSpPr>
        <p:spPr>
          <a:xfrm>
            <a:off x="457200" y="228600"/>
            <a:ext cx="3657600" cy="274320"/>
          </a:xfrm>
          <a:prstGeom prst="rect">
            <a:avLst/>
          </a:prstGeom>
          <a:noFill/>
        </p:spPr>
        <p:txBody>
          <a:bodyPr wrap="square">
            <a:spAutoFit/>
          </a:bodyPr>
          <a:lstStyle/>
          <a:p>
            <a:r>
              <a:rPr sz="800" b="1">
                <a:solidFill>
                  <a:srgbClr val="14B8A6"/>
                </a:solidFill>
              </a:rPr>
              <a:t>SEZIONE 3 — IL SOFTWARE</a:t>
            </a:r>
          </a:p>
        </p:txBody>
      </p:sp>
      <p:sp>
        <p:nvSpPr>
          <p:cNvPr id="3" name="TextBox 2"/>
          <p:cNvSpPr txBox="1"/>
          <p:nvPr/>
        </p:nvSpPr>
        <p:spPr>
          <a:xfrm>
            <a:off x="457200" y="502920"/>
            <a:ext cx="8229600" cy="502920"/>
          </a:xfrm>
          <a:prstGeom prst="rect">
            <a:avLst/>
          </a:prstGeom>
          <a:noFill/>
        </p:spPr>
        <p:txBody>
          <a:bodyPr wrap="square">
            <a:spAutoFit/>
          </a:bodyPr>
          <a:lstStyle/>
          <a:p>
            <a:r>
              <a:rPr sz="2800" b="1">
                <a:solidFill>
                  <a:srgbClr val="FFFFFF"/>
                </a:solidFill>
              </a:rPr>
              <a:t>Comunicazione integrata con i clienti</a:t>
            </a:r>
          </a:p>
        </p:txBody>
      </p:sp>
      <p:sp>
        <p:nvSpPr>
          <p:cNvPr id="4" name="Rectangle 3"/>
          <p:cNvSpPr/>
          <p:nvPr/>
        </p:nvSpPr>
        <p:spPr>
          <a:xfrm>
            <a:off x="457200" y="1051560"/>
            <a:ext cx="10972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0"/>
            <a:ext cx="3840480" cy="274320"/>
          </a:xfrm>
          <a:prstGeom prst="rect">
            <a:avLst/>
          </a:prstGeom>
          <a:noFill/>
        </p:spPr>
        <p:txBody>
          <a:bodyPr wrap="square">
            <a:spAutoFit/>
          </a:bodyPr>
          <a:lstStyle/>
          <a:p>
            <a:r>
              <a:rPr sz="1600" b="1">
                <a:solidFill>
                  <a:srgbClr val="14B8A6"/>
                </a:solidFill>
              </a:rPr>
              <a:t>WhatsApp semi-automatico.</a:t>
            </a:r>
          </a:p>
        </p:txBody>
      </p:sp>
      <p:sp>
        <p:nvSpPr>
          <p:cNvPr id="6" name="TextBox 5"/>
          <p:cNvSpPr txBox="1"/>
          <p:nvPr/>
        </p:nvSpPr>
        <p:spPr>
          <a:xfrm>
            <a:off x="457200" y="1554480"/>
            <a:ext cx="3840480" cy="1005840"/>
          </a:xfrm>
          <a:prstGeom prst="rect">
            <a:avLst/>
          </a:prstGeom>
          <a:noFill/>
        </p:spPr>
        <p:txBody>
          <a:bodyPr wrap="square">
            <a:spAutoFit/>
          </a:bodyPr>
          <a:lstStyle/>
          <a:p>
            <a:r>
              <a:rPr sz="1300">
                <a:solidFill>
                  <a:srgbClr val="94A3B8"/>
                </a:solidFill>
              </a:rPr>
              <a:t>15 template pre-compilati per ogni situazione: sollecito rata, conferma appuntamento, scheda pronta, benvenuto, auguri compleanno, rinnovo. Un click apre WhatsApp con il messaggio già pronto — il trainer rivede e invia. Nessun bot, nessun automatismo che il cliente percepisce come impersonale. Fire-and-forget: il click logga la comunicazione nel CRM.</a:t>
            </a:r>
          </a:p>
        </p:txBody>
      </p:sp>
      <p:sp>
        <p:nvSpPr>
          <p:cNvPr id="7" name="TextBox 6"/>
          <p:cNvSpPr txBox="1"/>
          <p:nvPr/>
        </p:nvSpPr>
        <p:spPr>
          <a:xfrm>
            <a:off x="4846320" y="1280160"/>
            <a:ext cx="3840480" cy="274320"/>
          </a:xfrm>
          <a:prstGeom prst="rect">
            <a:avLst/>
          </a:prstGeom>
          <a:noFill/>
        </p:spPr>
        <p:txBody>
          <a:bodyPr wrap="square">
            <a:spAutoFit/>
          </a:bodyPr>
          <a:lstStyle/>
          <a:p>
            <a:r>
              <a:rPr sz="1600" b="1">
                <a:solidFill>
                  <a:srgbClr val="14B8A6"/>
                </a:solidFill>
              </a:rPr>
              <a:t>Email automatiche.</a:t>
            </a:r>
          </a:p>
        </p:txBody>
      </p:sp>
      <p:sp>
        <p:nvSpPr>
          <p:cNvPr id="8" name="TextBox 7"/>
          <p:cNvSpPr txBox="1"/>
          <p:nvPr/>
        </p:nvSpPr>
        <p:spPr>
          <a:xfrm>
            <a:off x="4846320" y="1554480"/>
            <a:ext cx="3840480" cy="1005840"/>
          </a:xfrm>
          <a:prstGeom prst="rect">
            <a:avLst/>
          </a:prstGeom>
          <a:noFill/>
        </p:spPr>
        <p:txBody>
          <a:bodyPr wrap="square">
            <a:spAutoFit/>
          </a:bodyPr>
          <a:lstStyle/>
          <a:p>
            <a:r>
              <a:rPr sz="1300">
                <a:solidFill>
                  <a:srgbClr val="94A3B8"/>
                </a:solidFill>
              </a:rPr>
              <a:t>SMTP integrato per comunicazioni formali: conferma contratto, riepilogo pagamenti, invio scheda PDF. Il trainer configura il proprio indirizzo email una volta. Il sistema genera e invia automaticamente. Ogni email viene loggata nel registro comunicazioni del cliente.</a:t>
            </a:r>
          </a:p>
        </p:txBody>
      </p:sp>
      <p:sp>
        <p:nvSpPr>
          <p:cNvPr id="9" name="TextBox 8"/>
          <p:cNvSpPr txBox="1"/>
          <p:nvPr/>
        </p:nvSpPr>
        <p:spPr>
          <a:xfrm>
            <a:off x="457200" y="3863340"/>
            <a:ext cx="8229600" cy="274320"/>
          </a:xfrm>
          <a:prstGeom prst="rect">
            <a:avLst/>
          </a:prstGeom>
          <a:noFill/>
        </p:spPr>
        <p:txBody>
          <a:bodyPr wrap="square">
            <a:spAutoFit/>
          </a:bodyPr>
          <a:lstStyle/>
          <a:p>
            <a:r>
              <a:rPr sz="1600" b="1" dirty="0">
                <a:solidFill>
                  <a:srgbClr val="FFFFFF"/>
                </a:solidFill>
              </a:rPr>
              <a:t>Centro </a:t>
            </a:r>
            <a:r>
              <a:rPr sz="1600" b="1" dirty="0" err="1">
                <a:solidFill>
                  <a:srgbClr val="FFFFFF"/>
                </a:solidFill>
              </a:rPr>
              <a:t>Comunicazioni</a:t>
            </a:r>
            <a:endParaRPr sz="1600" b="1" dirty="0">
              <a:solidFill>
                <a:srgbClr val="FFFFFF"/>
              </a:solidFill>
            </a:endParaRPr>
          </a:p>
        </p:txBody>
      </p:sp>
      <p:sp>
        <p:nvSpPr>
          <p:cNvPr id="10" name="TextBox 9"/>
          <p:cNvSpPr txBox="1"/>
          <p:nvPr/>
        </p:nvSpPr>
        <p:spPr>
          <a:xfrm>
            <a:off x="457200" y="3177540"/>
            <a:ext cx="8229600" cy="548640"/>
          </a:xfrm>
          <a:prstGeom prst="rect">
            <a:avLst/>
          </a:prstGeom>
          <a:noFill/>
        </p:spPr>
        <p:txBody>
          <a:bodyPr wrap="square">
            <a:spAutoFit/>
          </a:bodyPr>
          <a:lstStyle/>
          <a:p>
            <a:r>
              <a:rPr sz="1300" dirty="0" err="1">
                <a:solidFill>
                  <a:srgbClr val="94A3B8"/>
                </a:solidFill>
              </a:rPr>
              <a:t>Pagina</a:t>
            </a:r>
            <a:r>
              <a:rPr sz="1300" dirty="0">
                <a:solidFill>
                  <a:srgbClr val="94A3B8"/>
                </a:solidFill>
              </a:rPr>
              <a:t> </a:t>
            </a:r>
            <a:r>
              <a:rPr sz="1300" dirty="0" err="1">
                <a:solidFill>
                  <a:srgbClr val="94A3B8"/>
                </a:solidFill>
              </a:rPr>
              <a:t>dedicata</a:t>
            </a:r>
            <a:r>
              <a:rPr sz="1300" dirty="0">
                <a:solidFill>
                  <a:srgbClr val="94A3B8"/>
                </a:solidFill>
              </a:rPr>
              <a:t> con 2 tab: </a:t>
            </a:r>
            <a:r>
              <a:rPr sz="1300" dirty="0" err="1">
                <a:solidFill>
                  <a:srgbClr val="94A3B8"/>
                </a:solidFill>
              </a:rPr>
              <a:t>Invia</a:t>
            </a:r>
            <a:r>
              <a:rPr sz="1300" dirty="0">
                <a:solidFill>
                  <a:srgbClr val="94A3B8"/>
                </a:solidFill>
              </a:rPr>
              <a:t> (</a:t>
            </a:r>
            <a:r>
              <a:rPr sz="1300" dirty="0" err="1">
                <a:solidFill>
                  <a:srgbClr val="94A3B8"/>
                </a:solidFill>
              </a:rPr>
              <a:t>seleziona</a:t>
            </a:r>
            <a:r>
              <a:rPr sz="1300" dirty="0">
                <a:solidFill>
                  <a:srgbClr val="94A3B8"/>
                </a:solidFill>
              </a:rPr>
              <a:t> </a:t>
            </a:r>
            <a:r>
              <a:rPr sz="1300" dirty="0" err="1">
                <a:solidFill>
                  <a:srgbClr val="94A3B8"/>
                </a:solidFill>
              </a:rPr>
              <a:t>clienti</a:t>
            </a:r>
            <a:r>
              <a:rPr sz="1300" dirty="0">
                <a:solidFill>
                  <a:srgbClr val="94A3B8"/>
                </a:solidFill>
              </a:rPr>
              <a:t>, </a:t>
            </a:r>
            <a:r>
              <a:rPr sz="1300" dirty="0" err="1">
                <a:solidFill>
                  <a:srgbClr val="94A3B8"/>
                </a:solidFill>
              </a:rPr>
              <a:t>scegli</a:t>
            </a:r>
            <a:r>
              <a:rPr sz="1300" dirty="0">
                <a:solidFill>
                  <a:srgbClr val="94A3B8"/>
                </a:solidFill>
              </a:rPr>
              <a:t> template, </a:t>
            </a:r>
            <a:r>
              <a:rPr sz="1300" dirty="0" err="1">
                <a:solidFill>
                  <a:srgbClr val="94A3B8"/>
                </a:solidFill>
              </a:rPr>
              <a:t>invio</a:t>
            </a:r>
            <a:r>
              <a:rPr sz="1300" dirty="0">
                <a:solidFill>
                  <a:srgbClr val="94A3B8"/>
                </a:solidFill>
              </a:rPr>
              <a:t> </a:t>
            </a:r>
            <a:r>
              <a:rPr sz="1300" dirty="0" err="1">
                <a:solidFill>
                  <a:srgbClr val="94A3B8"/>
                </a:solidFill>
              </a:rPr>
              <a:t>multiplo</a:t>
            </a:r>
            <a:r>
              <a:rPr sz="1300" dirty="0">
                <a:solidFill>
                  <a:srgbClr val="94A3B8"/>
                </a:solidFill>
              </a:rPr>
              <a:t> </a:t>
            </a:r>
            <a:r>
              <a:rPr sz="1300" dirty="0" err="1">
                <a:solidFill>
                  <a:srgbClr val="94A3B8"/>
                </a:solidFill>
              </a:rPr>
              <a:t>sequenziale</a:t>
            </a:r>
            <a:r>
              <a:rPr sz="1300" dirty="0">
                <a:solidFill>
                  <a:srgbClr val="94A3B8"/>
                </a:solidFill>
              </a:rPr>
              <a:t>) e Registro (timeline di tutte le </a:t>
            </a:r>
            <a:r>
              <a:rPr sz="1300" dirty="0" err="1">
                <a:solidFill>
                  <a:srgbClr val="94A3B8"/>
                </a:solidFill>
              </a:rPr>
              <a:t>comunicazioni</a:t>
            </a:r>
            <a:r>
              <a:rPr sz="1300" dirty="0">
                <a:solidFill>
                  <a:srgbClr val="94A3B8"/>
                </a:solidFill>
              </a:rPr>
              <a:t>, </a:t>
            </a:r>
            <a:r>
              <a:rPr sz="1300" dirty="0" err="1">
                <a:solidFill>
                  <a:srgbClr val="94A3B8"/>
                </a:solidFill>
              </a:rPr>
              <a:t>filtri</a:t>
            </a:r>
            <a:r>
              <a:rPr sz="1300" dirty="0">
                <a:solidFill>
                  <a:srgbClr val="94A3B8"/>
                </a:solidFill>
              </a:rPr>
              <a:t> per </a:t>
            </a:r>
            <a:r>
              <a:rPr sz="1300" dirty="0" err="1">
                <a:solidFill>
                  <a:srgbClr val="94A3B8"/>
                </a:solidFill>
              </a:rPr>
              <a:t>cliente</a:t>
            </a:r>
            <a:r>
              <a:rPr sz="1300" dirty="0">
                <a:solidFill>
                  <a:srgbClr val="94A3B8"/>
                </a:solidFill>
              </a:rPr>
              <a:t> e </a:t>
            </a:r>
            <a:r>
              <a:rPr sz="1300" dirty="0" err="1">
                <a:solidFill>
                  <a:srgbClr val="94A3B8"/>
                </a:solidFill>
              </a:rPr>
              <a:t>periodo</a:t>
            </a:r>
            <a:r>
              <a:rPr sz="1300" dirty="0">
                <a:solidFill>
                  <a:srgbClr val="94A3B8"/>
                </a:solidFill>
              </a:rPr>
              <a:t>). Alert </a:t>
            </a:r>
            <a:r>
              <a:rPr sz="1300" dirty="0" err="1">
                <a:solidFill>
                  <a:srgbClr val="94A3B8"/>
                </a:solidFill>
              </a:rPr>
              <a:t>compleanni</a:t>
            </a:r>
            <a:r>
              <a:rPr sz="1300" dirty="0">
                <a:solidFill>
                  <a:srgbClr val="94A3B8"/>
                </a:solidFill>
              </a:rPr>
              <a:t> </a:t>
            </a:r>
            <a:r>
              <a:rPr sz="1300" dirty="0" err="1">
                <a:solidFill>
                  <a:srgbClr val="94A3B8"/>
                </a:solidFill>
              </a:rPr>
              <a:t>automatici</a:t>
            </a:r>
            <a:r>
              <a:rPr sz="1300" dirty="0">
                <a:solidFill>
                  <a:srgbClr val="94A3B8"/>
                </a:solidFill>
              </a:rPr>
              <a:t> in dashboard. </a:t>
            </a:r>
            <a:r>
              <a:rPr sz="1300" dirty="0" err="1">
                <a:solidFill>
                  <a:srgbClr val="94A3B8"/>
                </a:solidFill>
              </a:rPr>
              <a:t>Invio</a:t>
            </a:r>
            <a:r>
              <a:rPr sz="1300" dirty="0">
                <a:solidFill>
                  <a:srgbClr val="94A3B8"/>
                </a:solidFill>
              </a:rPr>
              <a:t> </a:t>
            </a:r>
            <a:r>
              <a:rPr sz="1300" dirty="0" err="1">
                <a:solidFill>
                  <a:srgbClr val="94A3B8"/>
                </a:solidFill>
              </a:rPr>
              <a:t>multiplo</a:t>
            </a:r>
            <a:r>
              <a:rPr sz="1300" dirty="0">
                <a:solidFill>
                  <a:srgbClr val="94A3B8"/>
                </a:solidFill>
              </a:rPr>
              <a:t> con stepper </a:t>
            </a:r>
            <a:r>
              <a:rPr sz="1300" dirty="0" err="1">
                <a:solidFill>
                  <a:srgbClr val="94A3B8"/>
                </a:solidFill>
              </a:rPr>
              <a:t>visuale</a:t>
            </a:r>
            <a:r>
              <a:rPr sz="1300" dirty="0">
                <a:solidFill>
                  <a:srgbClr val="94A3B8"/>
                </a:solidFill>
              </a:rPr>
              <a:t>.</a:t>
            </a:r>
          </a:p>
        </p:txBody>
      </p:sp>
      <p:sp>
        <p:nvSpPr>
          <p:cNvPr id="11" name="TextBox 10"/>
          <p:cNvSpPr txBox="1"/>
          <p:nvPr/>
        </p:nvSpPr>
        <p:spPr>
          <a:xfrm>
            <a:off x="457200" y="4169044"/>
            <a:ext cx="8229600" cy="548640"/>
          </a:xfrm>
          <a:prstGeom prst="rect">
            <a:avLst/>
          </a:prstGeom>
          <a:noFill/>
        </p:spPr>
        <p:txBody>
          <a:bodyPr wrap="square">
            <a:spAutoFit/>
          </a:bodyPr>
          <a:lstStyle/>
          <a:p>
            <a:r>
              <a:rPr sz="1400" b="1" dirty="0">
                <a:solidFill>
                  <a:srgbClr val="F96167"/>
                </a:solidFill>
              </a:rPr>
              <a:t>Il trainer non </a:t>
            </a:r>
            <a:r>
              <a:rPr sz="1400" b="1" dirty="0" err="1">
                <a:solidFill>
                  <a:srgbClr val="F96167"/>
                </a:solidFill>
              </a:rPr>
              <a:t>deve</a:t>
            </a:r>
            <a:r>
              <a:rPr sz="1400" b="1" dirty="0">
                <a:solidFill>
                  <a:srgbClr val="F96167"/>
                </a:solidFill>
              </a:rPr>
              <a:t> </a:t>
            </a:r>
            <a:r>
              <a:rPr sz="1400" b="1" dirty="0" err="1">
                <a:solidFill>
                  <a:srgbClr val="F96167"/>
                </a:solidFill>
              </a:rPr>
              <a:t>cambiare</a:t>
            </a:r>
            <a:r>
              <a:rPr sz="1400" b="1" dirty="0">
                <a:solidFill>
                  <a:srgbClr val="F96167"/>
                </a:solidFill>
              </a:rPr>
              <a:t> il modo in cui </a:t>
            </a:r>
            <a:r>
              <a:rPr sz="1400" b="1" dirty="0" err="1">
                <a:solidFill>
                  <a:srgbClr val="F96167"/>
                </a:solidFill>
              </a:rPr>
              <a:t>comunica</a:t>
            </a:r>
            <a:r>
              <a:rPr sz="1400" b="1" dirty="0">
                <a:solidFill>
                  <a:srgbClr val="F96167"/>
                </a:solidFill>
              </a:rPr>
              <a:t> con </a:t>
            </a:r>
            <a:r>
              <a:rPr sz="1400" b="1" dirty="0" err="1">
                <a:solidFill>
                  <a:srgbClr val="F96167"/>
                </a:solidFill>
              </a:rPr>
              <a:t>i</a:t>
            </a:r>
            <a:r>
              <a:rPr sz="1400" b="1" dirty="0">
                <a:solidFill>
                  <a:srgbClr val="F96167"/>
                </a:solidFill>
              </a:rPr>
              <a:t> </a:t>
            </a:r>
            <a:r>
              <a:rPr sz="1400" b="1" dirty="0" err="1">
                <a:solidFill>
                  <a:srgbClr val="F96167"/>
                </a:solidFill>
              </a:rPr>
              <a:t>clienti</a:t>
            </a:r>
            <a:r>
              <a:rPr sz="1400" b="1" dirty="0">
                <a:solidFill>
                  <a:srgbClr val="F96167"/>
                </a:solidFill>
              </a:rPr>
              <a:t>. </a:t>
            </a:r>
            <a:r>
              <a:rPr sz="1400" b="1" dirty="0" err="1">
                <a:solidFill>
                  <a:srgbClr val="F96167"/>
                </a:solidFill>
              </a:rPr>
              <a:t>FitManager</a:t>
            </a:r>
            <a:r>
              <a:rPr sz="1400" b="1" dirty="0">
                <a:solidFill>
                  <a:srgbClr val="F96167"/>
                </a:solidFill>
              </a:rPr>
              <a:t> </a:t>
            </a:r>
            <a:r>
              <a:rPr sz="1400" b="1" dirty="0" err="1">
                <a:solidFill>
                  <a:srgbClr val="F96167"/>
                </a:solidFill>
              </a:rPr>
              <a:t>si</a:t>
            </a:r>
            <a:r>
              <a:rPr sz="1400" b="1" dirty="0">
                <a:solidFill>
                  <a:srgbClr val="F96167"/>
                </a:solidFill>
              </a:rPr>
              <a:t> </a:t>
            </a:r>
            <a:r>
              <a:rPr sz="1400" b="1" dirty="0" err="1">
                <a:solidFill>
                  <a:srgbClr val="F96167"/>
                </a:solidFill>
              </a:rPr>
              <a:t>inserisce</a:t>
            </a:r>
            <a:r>
              <a:rPr sz="1400" b="1" dirty="0">
                <a:solidFill>
                  <a:srgbClr val="F96167"/>
                </a:solidFill>
              </a:rPr>
              <a:t> </a:t>
            </a:r>
            <a:r>
              <a:rPr sz="1400" b="1" dirty="0" err="1">
                <a:solidFill>
                  <a:srgbClr val="F96167"/>
                </a:solidFill>
              </a:rPr>
              <a:t>nel</a:t>
            </a:r>
            <a:r>
              <a:rPr sz="1400" b="1" dirty="0">
                <a:solidFill>
                  <a:srgbClr val="F96167"/>
                </a:solidFill>
              </a:rPr>
              <a:t> </a:t>
            </a:r>
            <a:r>
              <a:rPr sz="1400" b="1" dirty="0" err="1">
                <a:solidFill>
                  <a:srgbClr val="F96167"/>
                </a:solidFill>
              </a:rPr>
              <a:t>suo</a:t>
            </a:r>
            <a:r>
              <a:rPr sz="1400" b="1" dirty="0">
                <a:solidFill>
                  <a:srgbClr val="F96167"/>
                </a:solidFill>
              </a:rPr>
              <a:t> workflow </a:t>
            </a:r>
            <a:r>
              <a:rPr sz="1400" b="1" dirty="0" err="1">
                <a:solidFill>
                  <a:srgbClr val="F96167"/>
                </a:solidFill>
              </a:rPr>
              <a:t>esistente</a:t>
            </a:r>
            <a:r>
              <a:rPr sz="1400" b="1" dirty="0">
                <a:solidFill>
                  <a:srgbClr val="F96167"/>
                </a:solidFill>
              </a:rPr>
              <a:t> e lo </a:t>
            </a:r>
            <a:r>
              <a:rPr sz="1400" b="1" dirty="0" err="1">
                <a:solidFill>
                  <a:srgbClr val="F96167"/>
                </a:solidFill>
              </a:rPr>
              <a:t>rende</a:t>
            </a:r>
            <a:r>
              <a:rPr sz="1400" b="1" dirty="0">
                <a:solidFill>
                  <a:srgbClr val="F96167"/>
                </a:solidFill>
              </a:rPr>
              <a:t> </a:t>
            </a:r>
            <a:r>
              <a:rPr sz="1400" b="1" dirty="0" err="1">
                <a:solidFill>
                  <a:srgbClr val="F96167"/>
                </a:solidFill>
              </a:rPr>
              <a:t>professionale</a:t>
            </a:r>
            <a:r>
              <a:rPr sz="1400" b="1" dirty="0">
                <a:solidFill>
                  <a:srgbClr val="F96167"/>
                </a:solidFill>
              </a:rPr>
              <a:t>.</a:t>
            </a:r>
          </a:p>
        </p:txBody>
      </p:sp>
      <p:sp>
        <p:nvSpPr>
          <p:cNvPr id="12" name="TextBox 11"/>
          <p:cNvSpPr txBox="1"/>
          <p:nvPr/>
        </p:nvSpPr>
        <p:spPr>
          <a:xfrm>
            <a:off x="7772400" y="4754880"/>
            <a:ext cx="1097280" cy="274320"/>
          </a:xfrm>
          <a:prstGeom prst="rect">
            <a:avLst/>
          </a:prstGeom>
          <a:noFill/>
        </p:spPr>
        <p:txBody>
          <a:bodyPr wrap="none">
            <a:spAutoFit/>
          </a:bodyPr>
          <a:lstStyle/>
          <a:p>
            <a:pPr algn="r"/>
            <a:r>
              <a:rPr sz="900">
                <a:solidFill>
                  <a:srgbClr val="94A3B8"/>
                </a:solidFill>
              </a:rPr>
              <a:t>9 / 56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1000" b="1" kern="0" spc="300" dirty="0">
                <a:solidFill>
                  <a:srgbClr val="0D9488"/>
                </a:solidFill>
                <a:latin typeface="Calibri" pitchFamily="34" charset="0"/>
                <a:ea typeface="Calibri" pitchFamily="34" charset="-122"/>
                <a:cs typeface="Calibri" pitchFamily="34" charset="-120"/>
              </a:rPr>
              <a:t>SEZIONE 3 — FITMANAGER BOX</a:t>
            </a:r>
            <a:endParaRPr lang="en-US" sz="1000" dirty="0"/>
          </a:p>
        </p:txBody>
      </p:sp>
      <p:sp>
        <p:nvSpPr>
          <p:cNvPr id="3" name="Text 1"/>
          <p:cNvSpPr/>
          <p:nvPr/>
        </p:nvSpPr>
        <p:spPr>
          <a:xfrm>
            <a:off x="457200" y="37544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La FitManager Box</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97280"/>
            <a:ext cx="4572000" cy="54864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Un piccolo dispositivo dedicato che il trainer mette nel suo studio. Lo attacca alla corrente e al WiFi — fine.</a:t>
            </a:r>
            <a:endParaRPr lang="en-US" sz="1300" dirty="0"/>
          </a:p>
        </p:txBody>
      </p:sp>
      <p:sp>
        <p:nvSpPr>
          <p:cNvPr id="6" name="Text 4"/>
          <p:cNvSpPr/>
          <p:nvPr/>
        </p:nvSpPr>
        <p:spPr>
          <a:xfrm>
            <a:off x="457200" y="1691640"/>
            <a:ext cx="4572000" cy="54864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Da quel momento accede a FitManager da qualunque dispositivo: il computer a casa, il telefono in palestra, il tablet durante le sessioni.</a:t>
            </a:r>
            <a:endParaRPr lang="en-US" sz="1300" dirty="0"/>
          </a:p>
        </p:txBody>
      </p:sp>
      <p:pic>
        <p:nvPicPr>
          <p:cNvPr id="7" name="Image 0" descr="preencoded.png"/>
          <p:cNvPicPr>
            <a:picLocks noChangeAspect="1"/>
          </p:cNvPicPr>
          <p:nvPr/>
        </p:nvPicPr>
        <p:blipFill>
          <a:blip r:embed="rId3"/>
          <a:stretch>
            <a:fillRect/>
          </a:stretch>
        </p:blipFill>
        <p:spPr>
          <a:xfrm>
            <a:off x="640080" y="2514600"/>
            <a:ext cx="274320" cy="274320"/>
          </a:xfrm>
          <a:prstGeom prst="rect">
            <a:avLst/>
          </a:prstGeom>
        </p:spPr>
      </p:pic>
      <p:sp>
        <p:nvSpPr>
          <p:cNvPr id="8" name="Text 5"/>
          <p:cNvSpPr/>
          <p:nvPr/>
        </p:nvSpPr>
        <p:spPr>
          <a:xfrm>
            <a:off x="1051560" y="2468880"/>
            <a:ext cx="36576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I dati non vanno mai in cloud</a:t>
            </a:r>
            <a:endParaRPr lang="en-US" sz="1200" dirty="0"/>
          </a:p>
        </p:txBody>
      </p:sp>
      <p:pic>
        <p:nvPicPr>
          <p:cNvPr id="9" name="Image 1" descr="preencoded.png"/>
          <p:cNvPicPr>
            <a:picLocks noChangeAspect="1"/>
          </p:cNvPicPr>
          <p:nvPr/>
        </p:nvPicPr>
        <p:blipFill>
          <a:blip r:embed="rId4"/>
          <a:stretch>
            <a:fillRect/>
          </a:stretch>
        </p:blipFill>
        <p:spPr>
          <a:xfrm>
            <a:off x="640080" y="3017520"/>
            <a:ext cx="274320" cy="274320"/>
          </a:xfrm>
          <a:prstGeom prst="rect">
            <a:avLst/>
          </a:prstGeom>
        </p:spPr>
      </p:pic>
      <p:sp>
        <p:nvSpPr>
          <p:cNvPr id="10" name="Text 6"/>
          <p:cNvSpPr/>
          <p:nvPr/>
        </p:nvSpPr>
        <p:spPr>
          <a:xfrm>
            <a:off x="1051560" y="2971800"/>
            <a:ext cx="36576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Sempre acceso, non dipende dal PC</a:t>
            </a:r>
            <a:endParaRPr lang="en-US" sz="1200" dirty="0"/>
          </a:p>
        </p:txBody>
      </p:sp>
      <p:pic>
        <p:nvPicPr>
          <p:cNvPr id="11" name="Image 2" descr="preencoded.png"/>
          <p:cNvPicPr>
            <a:picLocks noChangeAspect="1"/>
          </p:cNvPicPr>
          <p:nvPr/>
        </p:nvPicPr>
        <p:blipFill>
          <a:blip r:embed="rId5"/>
          <a:stretch>
            <a:fillRect/>
          </a:stretch>
        </p:blipFill>
        <p:spPr>
          <a:xfrm>
            <a:off x="640080" y="3520440"/>
            <a:ext cx="274320" cy="274320"/>
          </a:xfrm>
          <a:prstGeom prst="rect">
            <a:avLst/>
          </a:prstGeom>
        </p:spPr>
      </p:pic>
      <p:sp>
        <p:nvSpPr>
          <p:cNvPr id="12" name="Text 7"/>
          <p:cNvSpPr/>
          <p:nvPr/>
        </p:nvSpPr>
        <p:spPr>
          <a:xfrm>
            <a:off x="1051560" y="3474720"/>
            <a:ext cx="36576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Accesso da qualunque dispositivo</a:t>
            </a:r>
            <a:endParaRPr lang="en-US" sz="1200" dirty="0"/>
          </a:p>
        </p:txBody>
      </p:sp>
      <p:pic>
        <p:nvPicPr>
          <p:cNvPr id="13" name="Image 3" descr="preencoded.png"/>
          <p:cNvPicPr>
            <a:picLocks noChangeAspect="1"/>
          </p:cNvPicPr>
          <p:nvPr/>
        </p:nvPicPr>
        <p:blipFill>
          <a:blip r:embed="rId6"/>
          <a:stretch>
            <a:fillRect/>
          </a:stretch>
        </p:blipFill>
        <p:spPr>
          <a:xfrm>
            <a:off x="640080" y="4023360"/>
            <a:ext cx="274320" cy="274320"/>
          </a:xfrm>
          <a:prstGeom prst="rect">
            <a:avLst/>
          </a:prstGeom>
        </p:spPr>
      </p:pic>
      <p:sp>
        <p:nvSpPr>
          <p:cNvPr id="14" name="Text 8"/>
          <p:cNvSpPr/>
          <p:nvPr/>
        </p:nvSpPr>
        <p:spPr>
          <a:xfrm>
            <a:off x="1051560" y="3977640"/>
            <a:ext cx="36576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WiFi + Ethernet + Tailscale</a:t>
            </a:r>
            <a:endParaRPr lang="en-US" sz="1200" dirty="0"/>
          </a:p>
        </p:txBody>
      </p:sp>
      <p:sp>
        <p:nvSpPr>
          <p:cNvPr id="15" name="Shape 9"/>
          <p:cNvSpPr/>
          <p:nvPr/>
        </p:nvSpPr>
        <p:spPr>
          <a:xfrm>
            <a:off x="5303520" y="1097280"/>
            <a:ext cx="3474720" cy="32004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6" name="Shape 10"/>
          <p:cNvSpPr/>
          <p:nvPr/>
        </p:nvSpPr>
        <p:spPr>
          <a:xfrm>
            <a:off x="5303520" y="1097280"/>
            <a:ext cx="3474720" cy="457200"/>
          </a:xfrm>
          <a:prstGeom prst="rect">
            <a:avLst/>
          </a:prstGeom>
          <a:solidFill>
            <a:srgbClr val="0D9488"/>
          </a:solidFill>
          <a:ln/>
        </p:spPr>
        <p:txBody>
          <a:bodyPr/>
          <a:lstStyle/>
          <a:p>
            <a:endParaRPr lang="it-IT"/>
          </a:p>
        </p:txBody>
      </p:sp>
      <p:sp>
        <p:nvSpPr>
          <p:cNvPr id="17" name="Text 11"/>
          <p:cNvSpPr/>
          <p:nvPr/>
        </p:nvSpPr>
        <p:spPr>
          <a:xfrm>
            <a:off x="5303520" y="1097280"/>
            <a:ext cx="34747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SPECIFICHE</a:t>
            </a:r>
            <a:endParaRPr lang="en-US" sz="1100" dirty="0"/>
          </a:p>
        </p:txBody>
      </p:sp>
      <p:sp>
        <p:nvSpPr>
          <p:cNvPr id="18" name="Text 12"/>
          <p:cNvSpPr/>
          <p:nvPr/>
        </p:nvSpPr>
        <p:spPr>
          <a:xfrm>
            <a:off x="5486400" y="169164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Hardware</a:t>
            </a:r>
            <a:endParaRPr lang="en-US" sz="1000" dirty="0"/>
          </a:p>
        </p:txBody>
      </p:sp>
      <p:sp>
        <p:nvSpPr>
          <p:cNvPr id="19" name="Text 13"/>
          <p:cNvSpPr/>
          <p:nvPr/>
        </p:nvSpPr>
        <p:spPr>
          <a:xfrm>
            <a:off x="6949440" y="169164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Raspberry Pi 5, 4GB RAM</a:t>
            </a:r>
            <a:endParaRPr lang="en-US" sz="1000" dirty="0"/>
          </a:p>
        </p:txBody>
      </p:sp>
      <p:sp>
        <p:nvSpPr>
          <p:cNvPr id="20" name="Text 14"/>
          <p:cNvSpPr/>
          <p:nvPr/>
        </p:nvSpPr>
        <p:spPr>
          <a:xfrm>
            <a:off x="5486400" y="201168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Storage</a:t>
            </a:r>
            <a:endParaRPr lang="en-US" sz="1000" dirty="0"/>
          </a:p>
        </p:txBody>
      </p:sp>
      <p:sp>
        <p:nvSpPr>
          <p:cNvPr id="21" name="Text 15"/>
          <p:cNvSpPr/>
          <p:nvPr/>
        </p:nvSpPr>
        <p:spPr>
          <a:xfrm>
            <a:off x="6949440" y="201168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SD 64GB</a:t>
            </a:r>
            <a:endParaRPr lang="en-US" sz="1000" dirty="0"/>
          </a:p>
        </p:txBody>
      </p:sp>
      <p:sp>
        <p:nvSpPr>
          <p:cNvPr id="22" name="Text 16"/>
          <p:cNvSpPr/>
          <p:nvPr/>
        </p:nvSpPr>
        <p:spPr>
          <a:xfrm>
            <a:off x="5486400" y="233172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Connessione</a:t>
            </a:r>
            <a:endParaRPr lang="en-US" sz="1000" dirty="0"/>
          </a:p>
        </p:txBody>
      </p:sp>
      <p:sp>
        <p:nvSpPr>
          <p:cNvPr id="23" name="Text 17"/>
          <p:cNvSpPr/>
          <p:nvPr/>
        </p:nvSpPr>
        <p:spPr>
          <a:xfrm>
            <a:off x="6949440" y="233172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WiFi + Ethernet + Tailscale</a:t>
            </a:r>
            <a:endParaRPr lang="en-US" sz="1000" dirty="0"/>
          </a:p>
        </p:txBody>
      </p:sp>
      <p:sp>
        <p:nvSpPr>
          <p:cNvPr id="24" name="Text 18"/>
          <p:cNvSpPr/>
          <p:nvPr/>
        </p:nvSpPr>
        <p:spPr>
          <a:xfrm>
            <a:off x="5486400" y="265176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Consumo</a:t>
            </a:r>
            <a:endParaRPr lang="en-US" sz="1000" dirty="0"/>
          </a:p>
        </p:txBody>
      </p:sp>
      <p:sp>
        <p:nvSpPr>
          <p:cNvPr id="25" name="Text 19"/>
          <p:cNvSpPr/>
          <p:nvPr/>
        </p:nvSpPr>
        <p:spPr>
          <a:xfrm>
            <a:off x="6949440" y="265176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~5W (~€10/anno)</a:t>
            </a:r>
            <a:endParaRPr lang="en-US" sz="1000" dirty="0"/>
          </a:p>
        </p:txBody>
      </p:sp>
      <p:sp>
        <p:nvSpPr>
          <p:cNvPr id="26" name="Text 20"/>
          <p:cNvSpPr/>
          <p:nvPr/>
        </p:nvSpPr>
        <p:spPr>
          <a:xfrm>
            <a:off x="5486400" y="297180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Backup</a:t>
            </a:r>
            <a:endParaRPr lang="en-US" sz="1000" dirty="0"/>
          </a:p>
        </p:txBody>
      </p:sp>
      <p:sp>
        <p:nvSpPr>
          <p:cNvPr id="27" name="Text 21"/>
          <p:cNvSpPr/>
          <p:nvPr/>
        </p:nvSpPr>
        <p:spPr>
          <a:xfrm>
            <a:off x="6949440" y="297180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Automatico su USB (notturno)</a:t>
            </a:r>
            <a:endParaRPr lang="en-US" sz="1000" dirty="0"/>
          </a:p>
        </p:txBody>
      </p:sp>
      <p:sp>
        <p:nvSpPr>
          <p:cNvPr id="28" name="Text 22"/>
          <p:cNvSpPr/>
          <p:nvPr/>
        </p:nvSpPr>
        <p:spPr>
          <a:xfrm>
            <a:off x="5486400" y="329184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Costo unitario</a:t>
            </a:r>
            <a:endParaRPr lang="en-US" sz="1000" dirty="0"/>
          </a:p>
        </p:txBody>
      </p:sp>
      <p:sp>
        <p:nvSpPr>
          <p:cNvPr id="29" name="Text 23"/>
          <p:cNvSpPr/>
          <p:nvPr/>
        </p:nvSpPr>
        <p:spPr>
          <a:xfrm>
            <a:off x="6949440" y="329184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~€130-150</a:t>
            </a:r>
            <a:endParaRPr lang="en-US" sz="1000" dirty="0"/>
          </a:p>
        </p:txBody>
      </p:sp>
      <p:sp>
        <p:nvSpPr>
          <p:cNvPr id="30" name="Text 24"/>
          <p:cNvSpPr/>
          <p:nvPr/>
        </p:nvSpPr>
        <p:spPr>
          <a:xfrm>
            <a:off x="5486400" y="361188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Prezzo vendita</a:t>
            </a:r>
            <a:endParaRPr lang="en-US" sz="1000" dirty="0"/>
          </a:p>
        </p:txBody>
      </p:sp>
      <p:sp>
        <p:nvSpPr>
          <p:cNvPr id="31" name="Text 25"/>
          <p:cNvSpPr/>
          <p:nvPr/>
        </p:nvSpPr>
        <p:spPr>
          <a:xfrm>
            <a:off x="6949440" y="361188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€449</a:t>
            </a:r>
            <a:endParaRPr lang="en-US" sz="1000" dirty="0"/>
          </a:p>
        </p:txBody>
      </p:sp>
      <p:sp>
        <p:nvSpPr>
          <p:cNvPr id="32" name="Text 26"/>
          <p:cNvSpPr/>
          <p:nvPr/>
        </p:nvSpPr>
        <p:spPr>
          <a:xfrm>
            <a:off x="5486400" y="3931920"/>
            <a:ext cx="1463040" cy="274320"/>
          </a:xfrm>
          <a:prstGeom prst="rect">
            <a:avLst/>
          </a:prstGeom>
          <a:noFill/>
          <a:ln/>
        </p:spPr>
        <p:txBody>
          <a:bodyPr wrap="square" lIns="0" tIns="0" rIns="0" bIns="0" rtlCol="0" anchor="ctr"/>
          <a:lstStyle/>
          <a:p>
            <a:pPr marL="0" indent="0">
              <a:buNone/>
            </a:pPr>
            <a:r>
              <a:rPr lang="en-US" sz="1000" b="1" dirty="0">
                <a:solidFill>
                  <a:srgbClr val="475569"/>
                </a:solidFill>
                <a:latin typeface="Calibri" pitchFamily="34" charset="0"/>
                <a:ea typeface="Calibri" pitchFamily="34" charset="-122"/>
                <a:cs typeface="Calibri" pitchFamily="34" charset="-120"/>
              </a:rPr>
              <a:t>Margine lordo</a:t>
            </a:r>
            <a:endParaRPr lang="en-US" sz="1000" dirty="0"/>
          </a:p>
        </p:txBody>
      </p:sp>
      <p:sp>
        <p:nvSpPr>
          <p:cNvPr id="33" name="Text 27"/>
          <p:cNvSpPr/>
          <p:nvPr/>
        </p:nvSpPr>
        <p:spPr>
          <a:xfrm>
            <a:off x="6949440" y="3931920"/>
            <a:ext cx="164592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€299-319 (67-71%)</a:t>
            </a:r>
            <a:endParaRPr lang="en-US" sz="1000" dirty="0"/>
          </a:p>
        </p:txBody>
      </p:sp>
      <p:sp>
        <p:nvSpPr>
          <p:cNvPr id="34" name="Text 28"/>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10 / 56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3</a:t>
            </a:r>
            <a:endParaRPr lang="en-US" sz="800" dirty="0"/>
          </a:p>
        </p:txBody>
      </p:sp>
      <p:sp>
        <p:nvSpPr>
          <p:cNvPr id="3" name="Text 1"/>
          <p:cNvSpPr/>
          <p:nvPr/>
        </p:nvSpPr>
        <p:spPr>
          <a:xfrm>
            <a:off x="457200" y="39130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Stato del prodotto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51560"/>
            <a:ext cx="8229600" cy="365760"/>
          </a:xfrm>
          <a:prstGeom prst="rect">
            <a:avLst/>
          </a:prstGeom>
          <a:noFill/>
          <a:ln/>
        </p:spPr>
        <p:txBody>
          <a:bodyPr wrap="square"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Il prodotto è completo e funzionante (versione 1.0.4).</a:t>
            </a:r>
            <a:endParaRPr lang="en-US" sz="1600" dirty="0"/>
          </a:p>
        </p:txBody>
      </p:sp>
      <p:sp>
        <p:nvSpPr>
          <p:cNvPr id="6" name="Text 4"/>
          <p:cNvSpPr/>
          <p:nvPr/>
        </p:nvSpPr>
        <p:spPr>
          <a:xfrm>
            <a:off x="457200" y="1508760"/>
            <a:ext cx="8229600" cy="64008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La prima utilizzatrice reale — una chinesiologia di Genova — lo usa quotidianamente per gestire i propri clienti. Le sue clienti ricevono schede professionali e compilano le anamnesi dal proprio telefono.</a:t>
            </a:r>
            <a:endParaRPr lang="en-US" sz="1300" dirty="0"/>
          </a:p>
        </p:txBody>
      </p:sp>
      <p:sp>
        <p:nvSpPr>
          <p:cNvPr id="7" name="Shape 5"/>
          <p:cNvSpPr/>
          <p:nvPr/>
        </p:nvSpPr>
        <p:spPr>
          <a:xfrm>
            <a:off x="457200" y="2468880"/>
            <a:ext cx="1508760" cy="12801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8" name="Text 6"/>
          <p:cNvSpPr/>
          <p:nvPr/>
        </p:nvSpPr>
        <p:spPr>
          <a:xfrm>
            <a:off x="457200" y="2606040"/>
            <a:ext cx="1508760" cy="548640"/>
          </a:xfrm>
          <a:prstGeom prst="rect">
            <a:avLst/>
          </a:prstGeom>
          <a:noFill/>
          <a:ln/>
        </p:spPr>
        <p:txBody>
          <a:bodyPr wrap="square" lIns="0" tIns="0" rIns="0" bIns="0"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45.000</a:t>
            </a:r>
            <a:endParaRPr lang="en-US" sz="2800" dirty="0"/>
          </a:p>
        </p:txBody>
      </p:sp>
      <p:sp>
        <p:nvSpPr>
          <p:cNvPr id="9" name="Text 7"/>
          <p:cNvSpPr/>
          <p:nvPr/>
        </p:nvSpPr>
        <p:spPr>
          <a:xfrm>
            <a:off x="457200" y="3200400"/>
            <a:ext cx="1508760" cy="36576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righe di codice</a:t>
            </a:r>
            <a:endParaRPr lang="en-US" sz="1100" dirty="0"/>
          </a:p>
        </p:txBody>
      </p:sp>
      <p:sp>
        <p:nvSpPr>
          <p:cNvPr id="10" name="Shape 8"/>
          <p:cNvSpPr/>
          <p:nvPr/>
        </p:nvSpPr>
        <p:spPr>
          <a:xfrm>
            <a:off x="2148840" y="2468880"/>
            <a:ext cx="1508760" cy="12801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1" name="Text 9"/>
          <p:cNvSpPr/>
          <p:nvPr/>
        </p:nvSpPr>
        <p:spPr>
          <a:xfrm>
            <a:off x="2148840" y="2606040"/>
            <a:ext cx="1508760" cy="548640"/>
          </a:xfrm>
          <a:prstGeom prst="rect">
            <a:avLst/>
          </a:prstGeom>
          <a:noFill/>
          <a:ln/>
        </p:spPr>
        <p:txBody>
          <a:bodyPr wrap="square" lIns="0" tIns="0" rIns="0" bIns="0"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395</a:t>
            </a:r>
            <a:endParaRPr lang="en-US" sz="2800" dirty="0"/>
          </a:p>
        </p:txBody>
      </p:sp>
      <p:sp>
        <p:nvSpPr>
          <p:cNvPr id="12" name="Text 10"/>
          <p:cNvSpPr/>
          <p:nvPr/>
        </p:nvSpPr>
        <p:spPr>
          <a:xfrm>
            <a:off x="2148840" y="3200400"/>
            <a:ext cx="1508760" cy="36576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test automatici</a:t>
            </a:r>
            <a:endParaRPr lang="en-US" sz="1100" dirty="0"/>
          </a:p>
        </p:txBody>
      </p:sp>
      <p:sp>
        <p:nvSpPr>
          <p:cNvPr id="13" name="Shape 11"/>
          <p:cNvSpPr/>
          <p:nvPr/>
        </p:nvSpPr>
        <p:spPr>
          <a:xfrm>
            <a:off x="3840480" y="2468880"/>
            <a:ext cx="1508760" cy="12801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4" name="Text 12"/>
          <p:cNvSpPr/>
          <p:nvPr/>
        </p:nvSpPr>
        <p:spPr>
          <a:xfrm>
            <a:off x="3840480" y="2606040"/>
            <a:ext cx="1508760" cy="548640"/>
          </a:xfrm>
          <a:prstGeom prst="rect">
            <a:avLst/>
          </a:prstGeom>
          <a:noFill/>
          <a:ln/>
        </p:spPr>
        <p:txBody>
          <a:bodyPr wrap="square" lIns="0" tIns="0" rIns="0" bIns="0"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500</a:t>
            </a:r>
            <a:endParaRPr lang="en-US" sz="2800" dirty="0"/>
          </a:p>
        </p:txBody>
      </p:sp>
      <p:sp>
        <p:nvSpPr>
          <p:cNvPr id="15" name="Text 13"/>
          <p:cNvSpPr/>
          <p:nvPr/>
        </p:nvSpPr>
        <p:spPr>
          <a:xfrm>
            <a:off x="3840480" y="3200400"/>
            <a:ext cx="1508760" cy="36576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esercizi</a:t>
            </a:r>
            <a:endParaRPr lang="en-US" sz="1100" dirty="0"/>
          </a:p>
        </p:txBody>
      </p:sp>
      <p:sp>
        <p:nvSpPr>
          <p:cNvPr id="16" name="Shape 14"/>
          <p:cNvSpPr/>
          <p:nvPr/>
        </p:nvSpPr>
        <p:spPr>
          <a:xfrm>
            <a:off x="5532120" y="2468880"/>
            <a:ext cx="1508760" cy="12801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7" name="Text 15"/>
          <p:cNvSpPr/>
          <p:nvPr/>
        </p:nvSpPr>
        <p:spPr>
          <a:xfrm>
            <a:off x="5532120" y="2606040"/>
            <a:ext cx="1508760" cy="548640"/>
          </a:xfrm>
          <a:prstGeom prst="rect">
            <a:avLst/>
          </a:prstGeom>
          <a:noFill/>
          <a:ln/>
        </p:spPr>
        <p:txBody>
          <a:bodyPr wrap="square" lIns="0" tIns="0" rIns="0" bIns="0"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880</a:t>
            </a:r>
            <a:endParaRPr lang="en-US" sz="2800" dirty="0"/>
          </a:p>
        </p:txBody>
      </p:sp>
      <p:sp>
        <p:nvSpPr>
          <p:cNvPr id="18" name="Text 16"/>
          <p:cNvSpPr/>
          <p:nvPr/>
        </p:nvSpPr>
        <p:spPr>
          <a:xfrm>
            <a:off x="5532120" y="3200400"/>
            <a:ext cx="1508760" cy="36576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alimenti CREA</a:t>
            </a:r>
            <a:endParaRPr lang="en-US" sz="1100" dirty="0"/>
          </a:p>
        </p:txBody>
      </p:sp>
      <p:sp>
        <p:nvSpPr>
          <p:cNvPr id="19" name="Shape 17"/>
          <p:cNvSpPr/>
          <p:nvPr/>
        </p:nvSpPr>
        <p:spPr>
          <a:xfrm>
            <a:off x="7223760" y="2468880"/>
            <a:ext cx="1508760" cy="12801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20" name="Text 18"/>
          <p:cNvSpPr/>
          <p:nvPr/>
        </p:nvSpPr>
        <p:spPr>
          <a:xfrm>
            <a:off x="7223760" y="2606040"/>
            <a:ext cx="1508760" cy="548640"/>
          </a:xfrm>
          <a:prstGeom prst="rect">
            <a:avLst/>
          </a:prstGeom>
          <a:noFill/>
          <a:ln/>
        </p:spPr>
        <p:txBody>
          <a:bodyPr wrap="square" lIns="0" tIns="0" rIns="0" bIns="0"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5</a:t>
            </a:r>
            <a:endParaRPr lang="en-US" sz="2800" dirty="0"/>
          </a:p>
        </p:txBody>
      </p:sp>
      <p:sp>
        <p:nvSpPr>
          <p:cNvPr id="21" name="Text 19"/>
          <p:cNvSpPr/>
          <p:nvPr/>
        </p:nvSpPr>
        <p:spPr>
          <a:xfrm>
            <a:off x="7223760" y="3200400"/>
            <a:ext cx="1508760" cy="365760"/>
          </a:xfrm>
          <a:prstGeom prst="rect">
            <a:avLst/>
          </a:prstGeom>
          <a:noFill/>
          <a:ln/>
        </p:spPr>
        <p:txBody>
          <a:bodyPr wrap="square" lIns="0" tIns="0" rIns="0" bIns="0"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motori scientifici</a:t>
            </a:r>
            <a:endParaRPr lang="en-US" sz="1100" dirty="0"/>
          </a:p>
        </p:txBody>
      </p:sp>
      <p:sp>
        <p:nvSpPr>
          <p:cNvPr id="22" name="Text 20"/>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11 / 56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4</a:t>
            </a:r>
            <a:endParaRPr lang="en-US" sz="800" dirty="0"/>
          </a:p>
        </p:txBody>
      </p:sp>
      <p:sp>
        <p:nvSpPr>
          <p:cNvPr id="3" name="Text 1"/>
          <p:cNvSpPr/>
          <p:nvPr/>
        </p:nvSpPr>
        <p:spPr>
          <a:xfrm>
            <a:off x="457200" y="397764"/>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Confronto con le alternative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2606040"/>
        </p:xfrm>
        <a:graphic>
          <a:graphicData uri="http://schemas.openxmlformats.org/drawingml/2006/table">
            <a:tbl>
              <a:tblPr/>
              <a:tblGrid>
                <a:gridCol w="2011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65760">
                <a:tc>
                  <a:txBody>
                    <a:bodyPr/>
                    <a:lstStyle/>
                    <a:p>
                      <a:pPr marL="0" indent="0">
                        <a:buNone/>
                      </a:pP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FitManager</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Mangofit</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EvolutionFit</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Excel+WhatsApp</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Dati nel tuo studio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 (cloud)</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 (cloud)</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1"/>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Accesso mobile/tablet</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475569"/>
                          </a:solidFill>
                          <a:latin typeface="Calibri" pitchFamily="34" charset="0"/>
                          <a:ea typeface="Calibri" pitchFamily="34" charset="-122"/>
                          <a:cs typeface="Calibri" pitchFamily="34" charset="-120"/>
                        </a:rPr>
                        <a:t>Parziale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Segnala errori patologie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 (47 cond.)</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3"/>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Nutrizione italiana</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 (880 alim.)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Scienza allenamento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475569"/>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5"/>
                  </a:ext>
                </a:extLst>
              </a:tr>
              <a:tr h="320040">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Pagamento una tantum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 (abb.)</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F96167"/>
                          </a:solidFill>
                          <a:latin typeface="Calibri" pitchFamily="34" charset="0"/>
                          <a:ea typeface="Calibri" pitchFamily="34" charset="-122"/>
                          <a:cs typeface="Calibri" pitchFamily="34" charset="-120"/>
                        </a:rPr>
                        <a:t>No (abb.)</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0D9488"/>
                          </a:solidFill>
                          <a:latin typeface="Calibri" pitchFamily="34" charset="0"/>
                          <a:ea typeface="Calibri" pitchFamily="34" charset="-122"/>
                          <a:cs typeface="Calibri" pitchFamily="34" charset="-120"/>
                        </a:rPr>
                        <a:t>Sì (€0)</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0040">
                <a:tc>
                  <a:txBody>
                    <a:bodyPr/>
                    <a:lstStyle/>
                    <a:p>
                      <a:r>
                        <a:rPr sz="1000" b="1">
                          <a:solidFill>
                            <a:srgbClr val="1E293B"/>
                          </a:solidFill>
                        </a:rPr>
                        <a:t>Comunicazione cliente integrata</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b="1">
                          <a:solidFill>
                            <a:srgbClr val="0D9488"/>
                          </a:solidFill>
                        </a:rPr>
                        <a:t>Sì (WhatsApp + email)</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a:solidFill>
                            <a:srgbClr val="1E293B"/>
                          </a:solidFill>
                        </a:rPr>
                        <a:t>Parziale (notifiche in-app)</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a:solidFill>
                            <a:srgbClr val="1E293B"/>
                          </a:solidFill>
                        </a:rPr>
                        <a:t>Parziale (notifiche in-app)</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a:solidFill>
                            <a:srgbClr val="1E293B"/>
                          </a:solidFill>
                        </a:rPr>
                        <a:t>Manuale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492098709"/>
                  </a:ext>
                </a:extLst>
              </a:tr>
            </a:tbl>
          </a:graphicData>
        </a:graphic>
      </p:graphicFrame>
      <p:sp>
        <p:nvSpPr>
          <p:cNvPr id="6" name="Text 3"/>
          <p:cNvSpPr/>
          <p:nvPr/>
        </p:nvSpPr>
        <p:spPr>
          <a:xfrm>
            <a:off x="457200" y="3657600"/>
            <a:ext cx="8229600" cy="365760"/>
          </a:xfrm>
          <a:prstGeom prst="rect">
            <a:avLst/>
          </a:prstGeom>
          <a:noFill/>
          <a:ln/>
        </p:spPr>
        <p:txBody>
          <a:bodyPr wrap="square" rtlCol="0" anchor="ctr"/>
          <a:lstStyle/>
          <a:p>
            <a:pPr marL="0" indent="0">
              <a:buNone/>
            </a:pPr>
            <a:r>
              <a:rPr lang="en-US" sz="1200" b="1" i="1" dirty="0">
                <a:solidFill>
                  <a:srgbClr val="0A7A70"/>
                </a:solidFill>
                <a:latin typeface="Calibri" pitchFamily="34" charset="0"/>
                <a:ea typeface="Calibri" pitchFamily="34" charset="-122"/>
                <a:cs typeface="Calibri" pitchFamily="34" charset="-120"/>
              </a:rPr>
              <a:t>Nessun prodotto sul mercato combina accesso locale, scienza integrata e assenza di abbonamento.</a:t>
            </a:r>
            <a:endParaRPr lang="en-US" sz="1200" dirty="0"/>
          </a:p>
        </p:txBody>
      </p:sp>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12 / 56</a:t>
            </a:r>
            <a:endParaRPr lang="en-US" sz="900" dirty="0"/>
          </a:p>
        </p:txBody>
      </p:sp>
      <p:sp>
        <p:nvSpPr>
          <p:cNvPr id="13" name="TextBox 12"/>
          <p:cNvSpPr txBox="1"/>
          <p:nvPr/>
        </p:nvSpPr>
        <p:spPr>
          <a:xfrm>
            <a:off x="457200" y="4160520"/>
            <a:ext cx="8229600" cy="502920"/>
          </a:xfrm>
          <a:prstGeom prst="rect">
            <a:avLst/>
          </a:prstGeom>
          <a:noFill/>
        </p:spPr>
        <p:txBody>
          <a:bodyPr wrap="square">
            <a:spAutoFit/>
          </a:bodyPr>
          <a:lstStyle/>
          <a:p>
            <a:pPr algn="l">
              <a:defRPr sz="1000" b="0">
                <a:solidFill>
                  <a:srgbClr val="808080"/>
                </a:solidFill>
              </a:defRPr>
            </a:pPr>
            <a:r>
              <a:t>Il database esercizi non è statico — arricchito da professionisti certificati con varianti e progressioni validate sul campo. Un asset che cresce in valore nel tempo.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4</a:t>
            </a:r>
            <a:endParaRPr lang="en-US" sz="800" dirty="0"/>
          </a:p>
        </p:txBody>
      </p:sp>
      <p:sp>
        <p:nvSpPr>
          <p:cNvPr id="3" name="Text 1"/>
          <p:cNvSpPr/>
          <p:nvPr/>
        </p:nvSpPr>
        <p:spPr>
          <a:xfrm>
            <a:off x="457200" y="36576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Quanto costa in 3 anni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1920240"/>
        </p:xfrm>
        <a:graphic>
          <a:graphicData uri="http://schemas.openxmlformats.org/drawingml/2006/table">
            <a:tbl>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Software</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Anno 1</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Anno 2</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Anno 3</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100" b="1" dirty="0">
                          <a:solidFill>
                            <a:srgbClr val="FFFFFF"/>
                          </a:solidFill>
                        </a:rPr>
                        <a:t>Totale 3 anni</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0A7A70"/>
                          </a:solidFill>
                          <a:latin typeface="Calibri" pitchFamily="34" charset="0"/>
                          <a:ea typeface="Calibri" pitchFamily="34" charset="-122"/>
                          <a:cs typeface="Calibri" pitchFamily="34" charset="-120"/>
                        </a:rPr>
                        <a:t>FitManager (licenza)</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€249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b="1" dirty="0">
                          <a:solidFill>
                            <a:srgbClr val="0A7A70"/>
                          </a:solidFill>
                          <a:latin typeface="Calibri" pitchFamily="34" charset="0"/>
                          <a:ea typeface="Calibri" pitchFamily="34" charset="-122"/>
                          <a:cs typeface="Calibri" pitchFamily="34" charset="-120"/>
                        </a:rPr>
                        <a:t>€407</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0A7A70"/>
                          </a:solidFill>
                          <a:latin typeface="Calibri" pitchFamily="34" charset="0"/>
                          <a:ea typeface="Calibri" pitchFamily="34" charset="-122"/>
                          <a:cs typeface="Calibri" pitchFamily="34" charset="-120"/>
                        </a:rPr>
                        <a:t>FitManager Box</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€449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dirty="0">
                          <a:solidFill>
                            <a:srgbClr val="0A7A70"/>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b="1" dirty="0">
                          <a:solidFill>
                            <a:srgbClr val="0A7A70"/>
                          </a:solidFill>
                          <a:latin typeface="Calibri" pitchFamily="34" charset="0"/>
                          <a:ea typeface="Calibri" pitchFamily="34" charset="-122"/>
                          <a:cs typeface="Calibri" pitchFamily="34" charset="-120"/>
                        </a:rPr>
                        <a:t>€607</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475569"/>
                          </a:solidFill>
                          <a:latin typeface="Calibri" pitchFamily="34" charset="0"/>
                          <a:ea typeface="Calibri" pitchFamily="34" charset="-122"/>
                          <a:cs typeface="Calibri" pitchFamily="34" charset="-120"/>
                        </a:rPr>
                        <a:t>Mangofit Pro</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b="1" dirty="0">
                          <a:solidFill>
                            <a:srgbClr val="475569"/>
                          </a:solidFill>
                          <a:latin typeface="Calibri" pitchFamily="34" charset="0"/>
                          <a:ea typeface="Calibri" pitchFamily="34" charset="-122"/>
                          <a:cs typeface="Calibri" pitchFamily="34" charset="-120"/>
                        </a:rPr>
                        <a:t>€1.440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475569"/>
                          </a:solidFill>
                          <a:latin typeface="Calibri" pitchFamily="34" charset="0"/>
                          <a:ea typeface="Calibri" pitchFamily="34" charset="-122"/>
                          <a:cs typeface="Calibri" pitchFamily="34" charset="-120"/>
                        </a:rPr>
                        <a:t>EvolutionFit</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dirty="0">
                          <a:solidFill>
                            <a:srgbClr val="475569"/>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100" b="1" dirty="0">
                          <a:solidFill>
                            <a:srgbClr val="475569"/>
                          </a:solidFill>
                          <a:latin typeface="Calibri" pitchFamily="34" charset="0"/>
                          <a:ea typeface="Calibri" pitchFamily="34" charset="-122"/>
                          <a:cs typeface="Calibri" pitchFamily="34" charset="-120"/>
                        </a:rPr>
                        <a:t>€2.160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bl>
          </a:graphicData>
        </a:graphic>
      </p:graphicFrame>
      <p:graphicFrame>
        <p:nvGraphicFramePr>
          <p:cNvPr id="6" name="Chart 0"/>
          <p:cNvGraphicFramePr/>
          <p:nvPr/>
        </p:nvGraphicFramePr>
        <p:xfrm>
          <a:off x="914400" y="3108960"/>
          <a:ext cx="7315200" cy="146304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13 / 56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5</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Il mercato</a:t>
            </a:r>
            <a:endParaRPr lang="en-US" sz="4000" dirty="0"/>
          </a:p>
        </p:txBody>
      </p:sp>
      <p:sp>
        <p:nvSpPr>
          <p:cNvPr id="5" name="Text 3"/>
          <p:cNvSpPr/>
          <p:nvPr/>
        </p:nvSpPr>
        <p:spPr>
          <a:xfrm>
            <a:off x="457200" y="2560320"/>
            <a:ext cx="4572000" cy="914400"/>
          </a:xfrm>
          <a:prstGeom prst="rect">
            <a:avLst/>
          </a:prstGeom>
          <a:noFill/>
          <a:ln/>
        </p:spPr>
        <p:txBody>
          <a:bodyPr wrap="square" lIns="0" tIns="0" rIns="0" bIns="0" rtlCol="0" anchor="ctr"/>
          <a:lstStyle/>
          <a:p>
            <a:pPr marL="0" indent="0">
              <a:buNone/>
            </a:pPr>
            <a:r>
              <a:rPr lang="en-US" sz="6000" b="1" dirty="0">
                <a:solidFill>
                  <a:srgbClr val="14B8A6"/>
                </a:solidFill>
                <a:latin typeface="Georgia" pitchFamily="34" charset="0"/>
                <a:ea typeface="Georgia" pitchFamily="34" charset="-122"/>
                <a:cs typeface="Georgia" pitchFamily="34" charset="-120"/>
              </a:rPr>
              <a:t>100.000+</a:t>
            </a:r>
            <a:endParaRPr lang="en-US" sz="6000" dirty="0"/>
          </a:p>
        </p:txBody>
      </p:sp>
      <p:sp>
        <p:nvSpPr>
          <p:cNvPr id="6" name="Text 4"/>
          <p:cNvSpPr/>
          <p:nvPr/>
        </p:nvSpPr>
        <p:spPr>
          <a:xfrm>
            <a:off x="457200" y="3474720"/>
            <a:ext cx="4572000" cy="45720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professionisti fitness P.IVA in Italia</a:t>
            </a:r>
            <a:endParaRPr lang="en-US" sz="1800" dirty="0"/>
          </a:p>
        </p:txBody>
      </p:sp>
      <p:sp>
        <p:nvSpPr>
          <p:cNvPr id="7" name="Text 5"/>
          <p:cNvSpPr/>
          <p:nvPr/>
        </p:nvSpPr>
        <p:spPr>
          <a:xfrm>
            <a:off x="5486400" y="2651760"/>
            <a:ext cx="3200400" cy="457200"/>
          </a:xfrm>
          <a:prstGeom prst="rect">
            <a:avLst/>
          </a:prstGeom>
          <a:noFill/>
          <a:ln/>
        </p:spPr>
        <p:txBody>
          <a:bodyPr wrap="square" lIns="0" tIns="0" rIns="0" bIns="0" rtlCol="0" anchor="ctr"/>
          <a:lstStyle/>
          <a:p>
            <a:pPr marL="0" indent="0">
              <a:buNone/>
            </a:pPr>
            <a:r>
              <a:rPr lang="en-US" sz="2800" b="1" dirty="0">
                <a:solidFill>
                  <a:srgbClr val="F59E0B"/>
                </a:solidFill>
                <a:latin typeface="Georgia" pitchFamily="34" charset="0"/>
                <a:ea typeface="Georgia" pitchFamily="34" charset="-122"/>
                <a:cs typeface="Georgia" pitchFamily="34" charset="-120"/>
              </a:rPr>
              <a:t>€3 miliardi</a:t>
            </a:r>
            <a:endParaRPr lang="en-US" sz="2800" dirty="0"/>
          </a:p>
        </p:txBody>
      </p:sp>
      <p:sp>
        <p:nvSpPr>
          <p:cNvPr id="8" name="Text 6"/>
          <p:cNvSpPr/>
          <p:nvPr/>
        </p:nvSpPr>
        <p:spPr>
          <a:xfrm>
            <a:off x="5486400" y="3108960"/>
            <a:ext cx="3200400" cy="27432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mercato fitness Italia</a:t>
            </a:r>
            <a:endParaRPr lang="en-US" sz="1300" dirty="0"/>
          </a:p>
        </p:txBody>
      </p:sp>
      <p:sp>
        <p:nvSpPr>
          <p:cNvPr id="9" name="Text 7"/>
          <p:cNvSpPr/>
          <p:nvPr/>
        </p:nvSpPr>
        <p:spPr>
          <a:xfrm>
            <a:off x="5486400" y="3657600"/>
            <a:ext cx="1371600" cy="457200"/>
          </a:xfrm>
          <a:prstGeom prst="rect">
            <a:avLst/>
          </a:prstGeom>
          <a:noFill/>
          <a:ln/>
        </p:spPr>
        <p:txBody>
          <a:bodyPr wrap="square" lIns="0" tIns="0" rIns="0" bIns="0" rtlCol="0" anchor="ctr"/>
          <a:lstStyle/>
          <a:p>
            <a:pPr marL="0" indent="0">
              <a:buNone/>
            </a:pPr>
            <a:r>
              <a:rPr lang="en-US" sz="2800" b="1" dirty="0">
                <a:solidFill>
                  <a:srgbClr val="22C55E"/>
                </a:solidFill>
                <a:latin typeface="Georgia" pitchFamily="34" charset="0"/>
                <a:ea typeface="Georgia" pitchFamily="34" charset="-122"/>
                <a:cs typeface="Georgia" pitchFamily="34" charset="-120"/>
              </a:rPr>
              <a:t>+10%</a:t>
            </a:r>
            <a:endParaRPr lang="en-US" sz="2800" dirty="0"/>
          </a:p>
        </p:txBody>
      </p:sp>
      <p:sp>
        <p:nvSpPr>
          <p:cNvPr id="10" name="Text 8"/>
          <p:cNvSpPr/>
          <p:nvPr/>
        </p:nvSpPr>
        <p:spPr>
          <a:xfrm>
            <a:off x="6675120" y="3703320"/>
            <a:ext cx="22860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crescita anno su anno</a:t>
            </a:r>
            <a:endParaRPr lang="en-US" sz="1300" dirty="0"/>
          </a:p>
        </p:txBody>
      </p:sp>
      <p:sp>
        <p:nvSpPr>
          <p:cNvPr id="11" name="Text 9"/>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14 / 56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5</a:t>
            </a:r>
            <a:endParaRPr lang="en-US" sz="800" dirty="0"/>
          </a:p>
        </p:txBody>
      </p:sp>
      <p:sp>
        <p:nvSpPr>
          <p:cNvPr id="3" name="Text 1"/>
          <p:cNvSpPr/>
          <p:nvPr/>
        </p:nvSpPr>
        <p:spPr>
          <a:xfrm>
            <a:off x="457200" y="373012"/>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Segmento target e trend</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3931920" cy="23774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Text 4"/>
          <p:cNvSpPr/>
          <p:nvPr/>
        </p:nvSpPr>
        <p:spPr>
          <a:xfrm>
            <a:off x="640080" y="1188720"/>
            <a:ext cx="347472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SEGMENTO TARGET</a:t>
            </a:r>
            <a:endParaRPr lang="en-US" sz="1000" dirty="0"/>
          </a:p>
        </p:txBody>
      </p:sp>
      <p:sp>
        <p:nvSpPr>
          <p:cNvPr id="7" name="Text 5"/>
          <p:cNvSpPr/>
          <p:nvPr/>
        </p:nvSpPr>
        <p:spPr>
          <a:xfrm>
            <a:off x="640080" y="1554480"/>
            <a:ext cx="3474720" cy="457200"/>
          </a:xfrm>
          <a:prstGeom prst="rect">
            <a:avLst/>
          </a:prstGeom>
          <a:noFill/>
          <a:ln/>
        </p:spPr>
        <p:txBody>
          <a:bodyPr wrap="square" lIns="0" tIns="0" rIns="0" bIns="0" rtlCol="0" anchor="ctr"/>
          <a:lstStyle/>
          <a:p>
            <a:pPr marL="0" indent="0">
              <a:buNone/>
            </a:pPr>
            <a:r>
              <a:rPr lang="en-US" sz="2800" b="1" dirty="0">
                <a:solidFill>
                  <a:srgbClr val="0D9488"/>
                </a:solidFill>
                <a:latin typeface="Georgia" pitchFamily="34" charset="0"/>
                <a:ea typeface="Georgia" pitchFamily="34" charset="-122"/>
                <a:cs typeface="Georgia" pitchFamily="34" charset="-120"/>
              </a:rPr>
              <a:t>10.000 – 15.000</a:t>
            </a:r>
            <a:endParaRPr lang="en-US" sz="2800" dirty="0"/>
          </a:p>
        </p:txBody>
      </p:sp>
      <p:sp>
        <p:nvSpPr>
          <p:cNvPr id="8" name="Text 6"/>
          <p:cNvSpPr/>
          <p:nvPr/>
        </p:nvSpPr>
        <p:spPr>
          <a:xfrm>
            <a:off x="640080" y="2011680"/>
            <a:ext cx="347472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professionisti</a:t>
            </a:r>
            <a:endParaRPr lang="en-US" sz="1400" dirty="0"/>
          </a:p>
        </p:txBody>
      </p:sp>
      <p:sp>
        <p:nvSpPr>
          <p:cNvPr id="9" name="Text 7"/>
          <p:cNvSpPr/>
          <p:nvPr/>
        </p:nvSpPr>
        <p:spPr>
          <a:xfrm>
            <a:off x="640080" y="2468880"/>
            <a:ext cx="3474720" cy="822960"/>
          </a:xfrm>
          <a:prstGeom prst="rect">
            <a:avLst/>
          </a:prstGeom>
          <a:noFill/>
          <a:ln/>
        </p:spPr>
        <p:txBody>
          <a:bodyPr wrap="square" rtlCol="0" anchor="ctr"/>
          <a:lstStyle/>
          <a:p>
            <a:pPr marL="342900" indent="-342900">
              <a:buSzPct val="100000"/>
              <a:buChar char="•"/>
            </a:pPr>
            <a:r>
              <a:rPr lang="en-US" sz="1100" dirty="0">
                <a:solidFill>
                  <a:srgbClr val="475569"/>
                </a:solidFill>
                <a:latin typeface="Calibri" pitchFamily="34" charset="0"/>
                <a:ea typeface="Calibri" pitchFamily="34" charset="-122"/>
                <a:cs typeface="Calibri" pitchFamily="34" charset="-120"/>
              </a:rPr>
              <a:t>15-20 clienti attivi (soglia problema)</a:t>
            </a:r>
            <a:endParaRPr lang="en-US" sz="1100" dirty="0"/>
          </a:p>
          <a:p>
            <a:pPr marL="342900" indent="-342900">
              <a:buSzPct val="100000"/>
              <a:buChar char="•"/>
            </a:pPr>
            <a:r>
              <a:rPr lang="en-US" sz="1100" dirty="0">
                <a:solidFill>
                  <a:srgbClr val="475569"/>
                </a:solidFill>
                <a:latin typeface="Calibri" pitchFamily="34" charset="0"/>
                <a:ea typeface="Calibri" pitchFamily="34" charset="-122"/>
                <a:cs typeface="Calibri" pitchFamily="34" charset="-120"/>
              </a:rPr>
              <a:t>Aree urbane/peri-urbane</a:t>
            </a:r>
            <a:endParaRPr lang="en-US" sz="1100" dirty="0"/>
          </a:p>
          <a:p>
            <a:pPr marL="342900" indent="-342900">
              <a:buSzPct val="100000"/>
              <a:buChar char="•"/>
            </a:pPr>
            <a:r>
              <a:rPr lang="en-US" sz="1100" dirty="0">
                <a:solidFill>
                  <a:srgbClr val="475569"/>
                </a:solidFill>
                <a:latin typeface="Calibri" pitchFamily="34" charset="0"/>
                <a:ea typeface="Calibri" pitchFamily="34" charset="-122"/>
                <a:cs typeface="Calibri" pitchFamily="34" charset="-120"/>
              </a:rPr>
              <a:t>Aperti a strumenti professionali</a:t>
            </a:r>
            <a:endParaRPr lang="en-US" sz="1100" dirty="0"/>
          </a:p>
        </p:txBody>
      </p:sp>
      <p:sp>
        <p:nvSpPr>
          <p:cNvPr id="10" name="Shape 8"/>
          <p:cNvSpPr/>
          <p:nvPr/>
        </p:nvSpPr>
        <p:spPr>
          <a:xfrm>
            <a:off x="4754880" y="1051560"/>
            <a:ext cx="3931920" cy="23774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1" name="Text 9"/>
          <p:cNvSpPr/>
          <p:nvPr/>
        </p:nvSpPr>
        <p:spPr>
          <a:xfrm>
            <a:off x="4937760" y="1188720"/>
            <a:ext cx="347472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TREND CHE FAVORISCONO L'ADOZIONE</a:t>
            </a:r>
            <a:endParaRPr lang="en-US" sz="1000" dirty="0"/>
          </a:p>
        </p:txBody>
      </p:sp>
      <p:sp>
        <p:nvSpPr>
          <p:cNvPr id="12" name="Text 10"/>
          <p:cNvSpPr/>
          <p:nvPr/>
        </p:nvSpPr>
        <p:spPr>
          <a:xfrm>
            <a:off x="4937760" y="1554480"/>
            <a:ext cx="3474720"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Professionalizzazione</a:t>
            </a:r>
            <a:endParaRPr lang="en-US" sz="1200" dirty="0"/>
          </a:p>
        </p:txBody>
      </p:sp>
      <p:sp>
        <p:nvSpPr>
          <p:cNvPr id="13" name="Text 11"/>
          <p:cNvSpPr/>
          <p:nvPr/>
        </p:nvSpPr>
        <p:spPr>
          <a:xfrm>
            <a:off x="4937760" y="1783080"/>
            <a:ext cx="34747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Registro CONI attivo dal 1 luglio 2023, ATECO 85.51.09</a:t>
            </a:r>
            <a:endParaRPr lang="en-US" sz="1000" dirty="0"/>
          </a:p>
        </p:txBody>
      </p:sp>
      <p:sp>
        <p:nvSpPr>
          <p:cNvPr id="14" name="Text 12"/>
          <p:cNvSpPr/>
          <p:nvPr/>
        </p:nvSpPr>
        <p:spPr>
          <a:xfrm>
            <a:off x="4937760" y="2148840"/>
            <a:ext cx="3474720"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Privacy</a:t>
            </a:r>
            <a:endParaRPr lang="en-US" sz="1200" dirty="0"/>
          </a:p>
        </p:txBody>
      </p:sp>
      <p:sp>
        <p:nvSpPr>
          <p:cNvPr id="15" name="Text 13"/>
          <p:cNvSpPr/>
          <p:nvPr/>
        </p:nvSpPr>
        <p:spPr>
          <a:xfrm>
            <a:off x="4937760" y="2377440"/>
            <a:ext cx="34747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GDPR rende il cloud problematico per dati sensibili</a:t>
            </a:r>
            <a:endParaRPr lang="en-US" sz="1000" dirty="0"/>
          </a:p>
        </p:txBody>
      </p:sp>
      <p:sp>
        <p:nvSpPr>
          <p:cNvPr id="16" name="Text 14"/>
          <p:cNvSpPr/>
          <p:nvPr/>
        </p:nvSpPr>
        <p:spPr>
          <a:xfrm>
            <a:off x="4937760" y="2743200"/>
            <a:ext cx="3474720"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Personalizzazione</a:t>
            </a:r>
            <a:endParaRPr lang="en-US" sz="1200" dirty="0"/>
          </a:p>
        </p:txBody>
      </p:sp>
      <p:sp>
        <p:nvSpPr>
          <p:cNvPr id="17" name="Text 15"/>
          <p:cNvSpPr/>
          <p:nvPr/>
        </p:nvSpPr>
        <p:spPr>
          <a:xfrm>
            <a:off x="4937760" y="2971800"/>
            <a:ext cx="34747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Clienti più esigenti, vogliono progressioni misurabili</a:t>
            </a:r>
            <a:endParaRPr lang="en-US" sz="1000" dirty="0"/>
          </a:p>
        </p:txBody>
      </p:sp>
      <p:sp>
        <p:nvSpPr>
          <p:cNvPr id="18" name="Shape 16"/>
          <p:cNvSpPr/>
          <p:nvPr/>
        </p:nvSpPr>
        <p:spPr>
          <a:xfrm>
            <a:off x="457200" y="3611880"/>
            <a:ext cx="8229600" cy="1005840"/>
          </a:xfrm>
          <a:prstGeom prst="rect">
            <a:avLst/>
          </a:prstGeom>
          <a:solidFill>
            <a:srgbClr val="0A7A70"/>
          </a:solidFill>
          <a:ln/>
        </p:spPr>
        <p:txBody>
          <a:bodyPr/>
          <a:lstStyle/>
          <a:p>
            <a:endParaRPr lang="it-IT"/>
          </a:p>
        </p:txBody>
      </p:sp>
      <p:sp>
        <p:nvSpPr>
          <p:cNvPr id="19" name="Text 17"/>
          <p:cNvSpPr/>
          <p:nvPr/>
        </p:nvSpPr>
        <p:spPr>
          <a:xfrm>
            <a:off x="640080" y="3657600"/>
            <a:ext cx="7772400" cy="274320"/>
          </a:xfrm>
          <a:prstGeom prst="rect">
            <a:avLst/>
          </a:prstGeom>
          <a:noFill/>
          <a:ln/>
        </p:spPr>
        <p:txBody>
          <a:bodyPr wrap="square" rtlCol="0" anchor="ctr"/>
          <a:lstStyle/>
          <a:p>
            <a:pPr marL="0" indent="0">
              <a:buNone/>
            </a:pPr>
            <a:r>
              <a:rPr lang="en-US" sz="1000" b="1" kern="0" spc="200" dirty="0">
                <a:solidFill>
                  <a:srgbClr val="99F6E4"/>
                </a:solidFill>
                <a:latin typeface="Calibri" pitchFamily="34" charset="0"/>
                <a:ea typeface="Calibri" pitchFamily="34" charset="-122"/>
                <a:cs typeface="Calibri" pitchFamily="34" charset="-120"/>
              </a:rPr>
              <a:t>PERCHÉ IL MERCATO È VUOTO</a:t>
            </a:r>
            <a:endParaRPr lang="en-US" sz="1000" dirty="0"/>
          </a:p>
        </p:txBody>
      </p:sp>
      <p:sp>
        <p:nvSpPr>
          <p:cNvPr id="20" name="Text 18"/>
          <p:cNvSpPr/>
          <p:nvPr/>
        </p:nvSpPr>
        <p:spPr>
          <a:xfrm>
            <a:off x="640080" y="3931920"/>
            <a:ext cx="7772400" cy="594360"/>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Nessun prodotto combina architettura locale, scienza dell'allenamento integrata, nutrizione italiana e modello perpetuo. Questo posizionamento richiede competenze di dominio profonde combinate con competenze tecniche specifiche. FitManager è l'unico prodotto costruito all'intersezione.</a:t>
            </a:r>
            <a:endParaRPr lang="en-US" sz="1100" dirty="0"/>
          </a:p>
        </p:txBody>
      </p:sp>
      <p:sp>
        <p:nvSpPr>
          <p:cNvPr id="21" name="Text 19"/>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15 / 56</a:t>
            </a:r>
            <a:endParaRPr lang="en-US" sz="9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6FA"/>
        </a:solidFill>
        <a:effectLst/>
      </p:bgPr>
    </p:bg>
    <p:spTree>
      <p:nvGrpSpPr>
        <p:cNvPr id="1" name=""/>
        <p:cNvGrpSpPr/>
        <p:nvPr/>
      </p:nvGrpSpPr>
      <p:grpSpPr/>
      <p:sp>
        <p:nvSpPr>
          <p:cNvPr id="2" name="TextBox 1"/>
          <p:cNvSpPr txBox="1"/>
          <p:nvPr/>
        </p:nvSpPr>
        <p:spPr>
          <a:xfrm>
            <a:off x="457200" y="274320"/>
            <a:ext cx="3657600" cy="274320"/>
          </a:xfrm>
          <a:prstGeom prst="rect">
            <a:avLst/>
          </a:prstGeom>
          <a:noFill/>
        </p:spPr>
        <p:txBody>
          <a:bodyPr wrap="square">
            <a:spAutoFit/>
          </a:bodyPr>
          <a:lstStyle/>
          <a:p>
            <a:pPr algn="l">
              <a:defRPr sz="1000" b="1">
                <a:solidFill>
                  <a:srgbClr val="3B82F6"/>
                </a:solidFill>
              </a:defRPr>
            </a:pPr>
            <a:r>
              <a:t>SEZIONE 5 — IL MERCATO</a:t>
            </a:r>
          </a:p>
        </p:txBody>
      </p:sp>
      <p:sp>
        <p:nvSpPr>
          <p:cNvPr id="3" name="TextBox 2"/>
          <p:cNvSpPr txBox="1"/>
          <p:nvPr/>
        </p:nvSpPr>
        <p:spPr>
          <a:xfrm>
            <a:off x="457200" y="548640"/>
            <a:ext cx="8229600" cy="457200"/>
          </a:xfrm>
          <a:prstGeom prst="rect">
            <a:avLst/>
          </a:prstGeom>
          <a:noFill/>
        </p:spPr>
        <p:txBody>
          <a:bodyPr wrap="square">
            <a:spAutoFit/>
          </a:bodyPr>
          <a:lstStyle/>
          <a:p>
            <a:pPr algn="l">
              <a:defRPr sz="2800" b="1">
                <a:solidFill>
                  <a:srgbClr val="1A1F36"/>
                </a:solidFill>
              </a:defRPr>
            </a:pPr>
            <a:r>
              <a:t>Oltre l'Italia: il mercato internazionale</a:t>
            </a:r>
          </a:p>
        </p:txBody>
      </p:sp>
      <p:sp>
        <p:nvSpPr>
          <p:cNvPr id="4" name="TextBox 3"/>
          <p:cNvSpPr txBox="1"/>
          <p:nvPr/>
        </p:nvSpPr>
        <p:spPr>
          <a:xfrm>
            <a:off x="457200" y="1051560"/>
            <a:ext cx="8229600" cy="365760"/>
          </a:xfrm>
          <a:prstGeom prst="rect">
            <a:avLst/>
          </a:prstGeom>
          <a:noFill/>
        </p:spPr>
        <p:txBody>
          <a:bodyPr wrap="square">
            <a:spAutoFit/>
          </a:bodyPr>
          <a:lstStyle/>
          <a:p>
            <a:pPr algn="l">
              <a:defRPr sz="1200" b="0">
                <a:solidFill>
                  <a:srgbClr val="4B5563"/>
                </a:solidFill>
              </a:defRPr>
            </a:pPr>
            <a:r>
              <a:t>L'architettura è progettata per l'internazionalizzazione. L'approccio è incrementale, per blocchi di complessità crescente.</a:t>
            </a:r>
          </a:p>
        </p:txBody>
      </p:sp>
      <p:sp>
        <p:nvSpPr>
          <p:cNvPr id="5" name="Rectangle 4"/>
          <p:cNvSpPr/>
          <p:nvPr/>
        </p:nvSpPr>
        <p:spPr>
          <a:xfrm>
            <a:off x="457200" y="1508760"/>
            <a:ext cx="54864"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4572000" cy="228600"/>
          </a:xfrm>
          <a:prstGeom prst="rect">
            <a:avLst/>
          </a:prstGeom>
          <a:noFill/>
        </p:spPr>
        <p:txBody>
          <a:bodyPr wrap="square">
            <a:spAutoFit/>
          </a:bodyPr>
          <a:lstStyle/>
          <a:p>
            <a:pPr algn="l">
              <a:defRPr sz="1300" b="1">
                <a:solidFill>
                  <a:srgbClr val="1E293B"/>
                </a:solidFill>
              </a:defRPr>
            </a:pPr>
            <a:r>
              <a:t>Blocco 1 — Interfaccia e core</a:t>
            </a:r>
          </a:p>
        </p:txBody>
      </p:sp>
      <p:sp>
        <p:nvSpPr>
          <p:cNvPr id="7" name="TextBox 6"/>
          <p:cNvSpPr txBox="1"/>
          <p:nvPr/>
        </p:nvSpPr>
        <p:spPr>
          <a:xfrm>
            <a:off x="5303520" y="1508760"/>
            <a:ext cx="1097280" cy="228600"/>
          </a:xfrm>
          <a:prstGeom prst="rect">
            <a:avLst/>
          </a:prstGeom>
          <a:noFill/>
        </p:spPr>
        <p:txBody>
          <a:bodyPr wrap="square">
            <a:spAutoFit/>
          </a:bodyPr>
          <a:lstStyle/>
          <a:p>
            <a:pPr algn="r">
              <a:defRPr sz="1000" b="1">
                <a:solidFill>
                  <a:srgbClr val="10B981"/>
                </a:solidFill>
              </a:defRPr>
            </a:pPr>
            <a:r>
              <a:t>BASSA</a:t>
            </a:r>
          </a:p>
        </p:txBody>
      </p:sp>
      <p:sp>
        <p:nvSpPr>
          <p:cNvPr id="8" name="TextBox 7"/>
          <p:cNvSpPr txBox="1"/>
          <p:nvPr/>
        </p:nvSpPr>
        <p:spPr>
          <a:xfrm>
            <a:off x="640080" y="1737360"/>
            <a:ext cx="7589520" cy="256032"/>
          </a:xfrm>
          <a:prstGeom prst="rect">
            <a:avLst/>
          </a:prstGeom>
          <a:noFill/>
        </p:spPr>
        <p:txBody>
          <a:bodyPr wrap="square">
            <a:spAutoFit/>
          </a:bodyPr>
          <a:lstStyle/>
          <a:p>
            <a:pPr algn="l">
              <a:defRPr sz="1100" b="0">
                <a:solidFill>
                  <a:srgbClr val="64748B"/>
                </a:solidFill>
              </a:defRPr>
            </a:pPr>
            <a:r>
              <a:t>Traduzione UI, template, formati data/valuta. Poche settimane.</a:t>
            </a:r>
          </a:p>
        </p:txBody>
      </p:sp>
      <p:sp>
        <p:nvSpPr>
          <p:cNvPr id="9" name="Rectangle 8"/>
          <p:cNvSpPr/>
          <p:nvPr/>
        </p:nvSpPr>
        <p:spPr>
          <a:xfrm>
            <a:off x="457200" y="2148840"/>
            <a:ext cx="54864"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148840"/>
            <a:ext cx="4572000" cy="228600"/>
          </a:xfrm>
          <a:prstGeom prst="rect">
            <a:avLst/>
          </a:prstGeom>
          <a:noFill/>
        </p:spPr>
        <p:txBody>
          <a:bodyPr wrap="square">
            <a:spAutoFit/>
          </a:bodyPr>
          <a:lstStyle/>
          <a:p>
            <a:pPr algn="l">
              <a:defRPr sz="1300" b="1">
                <a:solidFill>
                  <a:srgbClr val="1E293B"/>
                </a:solidFill>
              </a:defRPr>
            </a:pPr>
            <a:r>
              <a:t>Blocco 2 — Esercizi e Safety Engine</a:t>
            </a:r>
          </a:p>
        </p:txBody>
      </p:sp>
      <p:sp>
        <p:nvSpPr>
          <p:cNvPr id="11" name="TextBox 10"/>
          <p:cNvSpPr txBox="1"/>
          <p:nvPr/>
        </p:nvSpPr>
        <p:spPr>
          <a:xfrm>
            <a:off x="5303520" y="2148840"/>
            <a:ext cx="1097280" cy="228600"/>
          </a:xfrm>
          <a:prstGeom prst="rect">
            <a:avLst/>
          </a:prstGeom>
          <a:noFill/>
        </p:spPr>
        <p:txBody>
          <a:bodyPr wrap="square">
            <a:spAutoFit/>
          </a:bodyPr>
          <a:lstStyle/>
          <a:p>
            <a:pPr algn="r">
              <a:defRPr sz="1000" b="1">
                <a:solidFill>
                  <a:srgbClr val="F59E0B"/>
                </a:solidFill>
              </a:defRPr>
            </a:pPr>
            <a:r>
              <a:t>MEDIA</a:t>
            </a:r>
          </a:p>
        </p:txBody>
      </p:sp>
      <p:sp>
        <p:nvSpPr>
          <p:cNvPr id="12" name="TextBox 11"/>
          <p:cNvSpPr txBox="1"/>
          <p:nvPr/>
        </p:nvSpPr>
        <p:spPr>
          <a:xfrm>
            <a:off x="640080" y="2377440"/>
            <a:ext cx="7589520" cy="256032"/>
          </a:xfrm>
          <a:prstGeom prst="rect">
            <a:avLst/>
          </a:prstGeom>
          <a:noFill/>
        </p:spPr>
        <p:txBody>
          <a:bodyPr wrap="square">
            <a:spAutoFit/>
          </a:bodyPr>
          <a:lstStyle/>
          <a:p>
            <a:pPr algn="l">
              <a:defRPr sz="1100" b="0">
                <a:solidFill>
                  <a:srgbClr val="64748B"/>
                </a:solidFill>
              </a:defRPr>
            </a:pPr>
            <a:r>
              <a:t>Scienza universale (biomeccanica, fisiologia). Adattamento terminologico professionale.</a:t>
            </a:r>
          </a:p>
        </p:txBody>
      </p:sp>
      <p:sp>
        <p:nvSpPr>
          <p:cNvPr id="13" name="Rectangle 12"/>
          <p:cNvSpPr/>
          <p:nvPr/>
        </p:nvSpPr>
        <p:spPr>
          <a:xfrm>
            <a:off x="457200" y="2788920"/>
            <a:ext cx="54864"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788920"/>
            <a:ext cx="4572000" cy="228600"/>
          </a:xfrm>
          <a:prstGeom prst="rect">
            <a:avLst/>
          </a:prstGeom>
          <a:noFill/>
        </p:spPr>
        <p:txBody>
          <a:bodyPr wrap="square">
            <a:spAutoFit/>
          </a:bodyPr>
          <a:lstStyle/>
          <a:p>
            <a:pPr algn="l">
              <a:defRPr sz="1300" b="1">
                <a:solidFill>
                  <a:srgbClr val="1E293B"/>
                </a:solidFill>
              </a:defRPr>
            </a:pPr>
            <a:r>
              <a:t>Blocco 3 — Nutrizione e compliance</a:t>
            </a:r>
          </a:p>
        </p:txBody>
      </p:sp>
      <p:sp>
        <p:nvSpPr>
          <p:cNvPr id="15" name="TextBox 14"/>
          <p:cNvSpPr txBox="1"/>
          <p:nvPr/>
        </p:nvSpPr>
        <p:spPr>
          <a:xfrm>
            <a:off x="5303520" y="2788920"/>
            <a:ext cx="1097280" cy="228600"/>
          </a:xfrm>
          <a:prstGeom prst="rect">
            <a:avLst/>
          </a:prstGeom>
          <a:noFill/>
        </p:spPr>
        <p:txBody>
          <a:bodyPr wrap="square">
            <a:spAutoFit/>
          </a:bodyPr>
          <a:lstStyle/>
          <a:p>
            <a:pPr algn="r">
              <a:defRPr sz="1000" b="1">
                <a:solidFill>
                  <a:srgbClr val="F59E0B"/>
                </a:solidFill>
              </a:defRPr>
            </a:pPr>
            <a:r>
              <a:t>ALTA</a:t>
            </a:r>
          </a:p>
        </p:txBody>
      </p:sp>
      <p:sp>
        <p:nvSpPr>
          <p:cNvPr id="16" name="TextBox 15"/>
          <p:cNvSpPr txBox="1"/>
          <p:nvPr/>
        </p:nvSpPr>
        <p:spPr>
          <a:xfrm>
            <a:off x="640080" y="3017520"/>
            <a:ext cx="7589520" cy="256032"/>
          </a:xfrm>
          <a:prstGeom prst="rect">
            <a:avLst/>
          </a:prstGeom>
          <a:noFill/>
        </p:spPr>
        <p:txBody>
          <a:bodyPr wrap="square">
            <a:spAutoFit/>
          </a:bodyPr>
          <a:lstStyle/>
          <a:p>
            <a:pPr algn="l">
              <a:defRPr sz="1100" b="0">
                <a:solidFill>
                  <a:srgbClr val="64748B"/>
                </a:solidFill>
              </a:defRPr>
            </a:pPr>
            <a:r>
              <a:t>Database locali (USDA, McCance &amp; Widdowson, EuroFIR). Anno 2+.</a:t>
            </a:r>
          </a:p>
        </p:txBody>
      </p:sp>
      <p:sp>
        <p:nvSpPr>
          <p:cNvPr id="17" name="Rectangle 16"/>
          <p:cNvSpPr/>
          <p:nvPr/>
        </p:nvSpPr>
        <p:spPr>
          <a:xfrm>
            <a:off x="457200" y="3429000"/>
            <a:ext cx="54864"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429000"/>
            <a:ext cx="4572000" cy="228600"/>
          </a:xfrm>
          <a:prstGeom prst="rect">
            <a:avLst/>
          </a:prstGeom>
          <a:noFill/>
        </p:spPr>
        <p:txBody>
          <a:bodyPr wrap="square">
            <a:spAutoFit/>
          </a:bodyPr>
          <a:lstStyle/>
          <a:p>
            <a:pPr algn="l">
              <a:defRPr sz="1300" b="1">
                <a:solidFill>
                  <a:srgbClr val="1E293B"/>
                </a:solidFill>
              </a:defRPr>
            </a:pPr>
            <a:r>
              <a:t>Blocco 4 — Moduli fiscali</a:t>
            </a:r>
          </a:p>
        </p:txBody>
      </p:sp>
      <p:sp>
        <p:nvSpPr>
          <p:cNvPr id="19" name="TextBox 18"/>
          <p:cNvSpPr txBox="1"/>
          <p:nvPr/>
        </p:nvSpPr>
        <p:spPr>
          <a:xfrm>
            <a:off x="5303520" y="3429000"/>
            <a:ext cx="1097280" cy="228600"/>
          </a:xfrm>
          <a:prstGeom prst="rect">
            <a:avLst/>
          </a:prstGeom>
          <a:noFill/>
        </p:spPr>
        <p:txBody>
          <a:bodyPr wrap="square">
            <a:spAutoFit/>
          </a:bodyPr>
          <a:lstStyle/>
          <a:p>
            <a:pPr algn="r">
              <a:defRPr sz="1000" b="1">
                <a:solidFill>
                  <a:srgbClr val="10B981"/>
                </a:solidFill>
              </a:defRPr>
            </a:pPr>
            <a:r>
              <a:t>VARIABILE</a:t>
            </a:r>
          </a:p>
        </p:txBody>
      </p:sp>
      <p:sp>
        <p:nvSpPr>
          <p:cNvPr id="20" name="TextBox 19"/>
          <p:cNvSpPr txBox="1"/>
          <p:nvPr/>
        </p:nvSpPr>
        <p:spPr>
          <a:xfrm>
            <a:off x="640080" y="3657600"/>
            <a:ext cx="7589520" cy="256032"/>
          </a:xfrm>
          <a:prstGeom prst="rect">
            <a:avLst/>
          </a:prstGeom>
          <a:noFill/>
        </p:spPr>
        <p:txBody>
          <a:bodyPr wrap="square">
            <a:spAutoFit/>
          </a:bodyPr>
          <a:lstStyle/>
          <a:p>
            <a:pPr algn="l">
              <a:defRPr sz="1100" b="0">
                <a:solidFill>
                  <a:srgbClr val="64748B"/>
                </a:solidFill>
              </a:defRPr>
            </a:pPr>
            <a:r>
              <a:t>Pagamenti, fatturazione per giurisdizione. Configurazione modulare.</a:t>
            </a:r>
          </a:p>
        </p:txBody>
      </p:sp>
      <p:sp>
        <p:nvSpPr>
          <p:cNvPr id="21" name="TextBox 20"/>
          <p:cNvSpPr txBox="1"/>
          <p:nvPr/>
        </p:nvSpPr>
        <p:spPr>
          <a:xfrm>
            <a:off x="457200" y="4160520"/>
            <a:ext cx="8229600" cy="457200"/>
          </a:xfrm>
          <a:prstGeom prst="rect">
            <a:avLst/>
          </a:prstGeom>
          <a:noFill/>
        </p:spPr>
        <p:txBody>
          <a:bodyPr wrap="square">
            <a:spAutoFit/>
          </a:bodyPr>
          <a:lstStyle/>
          <a:p>
            <a:pPr algn="l">
              <a:defRPr sz="1100" b="0">
                <a:solidFill>
                  <a:srgbClr val="64748B"/>
                </a:solidFill>
              </a:defRPr>
            </a:pPr>
            <a:r>
              <a:t>L'italiano resta la priorità Anno 1. L'inglese è la leva di crescita che trasforma un prodotto verticale italiano in un prodotto scalabile.</a:t>
            </a:r>
          </a:p>
        </p:txBody>
      </p:sp>
      <p:sp>
        <p:nvSpPr>
          <p:cNvPr id="22" name="TextBox 21"/>
          <p:cNvSpPr txBox="1"/>
          <p:nvPr/>
        </p:nvSpPr>
        <p:spPr>
          <a:xfrm>
            <a:off x="7772400" y="4709160"/>
            <a:ext cx="914400" cy="274320"/>
          </a:xfrm>
          <a:prstGeom prst="rect">
            <a:avLst/>
          </a:prstGeom>
          <a:noFill/>
        </p:spPr>
        <p:txBody>
          <a:bodyPr wrap="square">
            <a:spAutoFit/>
          </a:bodyPr>
          <a:lstStyle/>
          <a:p>
            <a:pPr algn="r">
              <a:defRPr sz="900" b="0">
                <a:solidFill>
                  <a:srgbClr val="9CA3AF"/>
                </a:solidFill>
              </a:defRPr>
            </a:pPr>
            <a:r>
              <a:t>16 / 56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6 — IL MODELLO ECONOMICO</a:t>
            </a:r>
            <a:endParaRPr lang="en-US" sz="800" dirty="0"/>
          </a:p>
        </p:txBody>
      </p:sp>
      <p:sp>
        <p:nvSpPr>
          <p:cNvPr id="3" name="Text 1"/>
          <p:cNvSpPr/>
          <p:nvPr/>
        </p:nvSpPr>
        <p:spPr>
          <a:xfrm>
            <a:off x="457200" y="392561"/>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Pricing</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2651760" cy="32004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051560"/>
            <a:ext cx="2651760" cy="640080"/>
          </a:xfrm>
          <a:prstGeom prst="rect">
            <a:avLst/>
          </a:prstGeom>
          <a:solidFill>
            <a:srgbClr val="0D9488"/>
          </a:solidFill>
          <a:ln/>
        </p:spPr>
        <p:txBody>
          <a:bodyPr/>
          <a:lstStyle/>
          <a:p>
            <a:endParaRPr lang="it-IT"/>
          </a:p>
        </p:txBody>
      </p:sp>
      <p:sp>
        <p:nvSpPr>
          <p:cNvPr id="7" name="Text 5"/>
          <p:cNvSpPr/>
          <p:nvPr/>
        </p:nvSpPr>
        <p:spPr>
          <a:xfrm>
            <a:off x="457200" y="1097280"/>
            <a:ext cx="265176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Licenza Software</a:t>
            </a:r>
            <a:endParaRPr lang="en-US" sz="1300" dirty="0"/>
          </a:p>
        </p:txBody>
      </p:sp>
      <p:sp>
        <p:nvSpPr>
          <p:cNvPr id="8" name="Text 6"/>
          <p:cNvSpPr/>
          <p:nvPr/>
        </p:nvSpPr>
        <p:spPr>
          <a:xfrm>
            <a:off x="457200" y="1828800"/>
            <a:ext cx="2651760" cy="640080"/>
          </a:xfrm>
          <a:prstGeom prst="rect">
            <a:avLst/>
          </a:prstGeom>
          <a:noFill/>
          <a:ln/>
        </p:spPr>
        <p:txBody>
          <a:bodyPr wrap="square" lIns="0" tIns="0" rIns="0" bIns="0" rtlCol="0" anchor="ctr"/>
          <a:lstStyle/>
          <a:p>
            <a:pPr marL="0" indent="0" algn="ctr">
              <a:buNone/>
            </a:pPr>
            <a:r>
              <a:rPr lang="en-US" sz="3000" b="1" dirty="0">
                <a:solidFill>
                  <a:srgbClr val="0D9488"/>
                </a:solidFill>
                <a:latin typeface="Georgia" pitchFamily="34" charset="0"/>
                <a:ea typeface="Georgia" pitchFamily="34" charset="-122"/>
                <a:cs typeface="Georgia" pitchFamily="34" charset="-120"/>
              </a:rPr>
              <a:t>€249</a:t>
            </a:r>
            <a:endParaRPr lang="en-US" sz="3000" dirty="0"/>
          </a:p>
        </p:txBody>
      </p:sp>
      <p:sp>
        <p:nvSpPr>
          <p:cNvPr id="9" name="Text 7"/>
          <p:cNvSpPr/>
          <p:nvPr/>
        </p:nvSpPr>
        <p:spPr>
          <a:xfrm>
            <a:off x="640080" y="2560320"/>
            <a:ext cx="2286000" cy="1371600"/>
          </a:xfrm>
          <a:prstGeom prst="rect">
            <a:avLst/>
          </a:prstGeom>
          <a:noFill/>
          <a:ln/>
        </p:spPr>
        <p:txBody>
          <a:bodyPr wrap="square" rtlCol="0" anchor="ctr"/>
          <a:lstStyle/>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Software completo sul PC</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Accesso da telefono/tablet (Tailscale)</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Installazione assistita</a:t>
            </a:r>
            <a:endParaRPr lang="en-US" sz="1000" dirty="0"/>
          </a:p>
        </p:txBody>
      </p:sp>
      <p:sp>
        <p:nvSpPr>
          <p:cNvPr id="10" name="Shape 8"/>
          <p:cNvSpPr/>
          <p:nvPr/>
        </p:nvSpPr>
        <p:spPr>
          <a:xfrm>
            <a:off x="3337560" y="1051560"/>
            <a:ext cx="2651760" cy="32004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1" name="Shape 9"/>
          <p:cNvSpPr/>
          <p:nvPr/>
        </p:nvSpPr>
        <p:spPr>
          <a:xfrm>
            <a:off x="3337560" y="1051560"/>
            <a:ext cx="2651760" cy="640080"/>
          </a:xfrm>
          <a:prstGeom prst="rect">
            <a:avLst/>
          </a:prstGeom>
          <a:solidFill>
            <a:srgbClr val="1E3A5F"/>
          </a:solidFill>
          <a:ln/>
        </p:spPr>
        <p:txBody>
          <a:bodyPr/>
          <a:lstStyle/>
          <a:p>
            <a:endParaRPr lang="it-IT"/>
          </a:p>
        </p:txBody>
      </p:sp>
      <p:sp>
        <p:nvSpPr>
          <p:cNvPr id="12" name="Text 10"/>
          <p:cNvSpPr/>
          <p:nvPr/>
        </p:nvSpPr>
        <p:spPr>
          <a:xfrm>
            <a:off x="3337560" y="1097280"/>
            <a:ext cx="265176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FitManager Box</a:t>
            </a:r>
            <a:endParaRPr lang="en-US" sz="1300" dirty="0"/>
          </a:p>
        </p:txBody>
      </p:sp>
      <p:sp>
        <p:nvSpPr>
          <p:cNvPr id="13" name="Text 11"/>
          <p:cNvSpPr/>
          <p:nvPr/>
        </p:nvSpPr>
        <p:spPr>
          <a:xfrm>
            <a:off x="3337560" y="1828800"/>
            <a:ext cx="2651760" cy="640080"/>
          </a:xfrm>
          <a:prstGeom prst="rect">
            <a:avLst/>
          </a:prstGeom>
          <a:noFill/>
          <a:ln/>
        </p:spPr>
        <p:txBody>
          <a:bodyPr wrap="square" lIns="0" tIns="0" rIns="0" bIns="0" rtlCol="0" anchor="ctr"/>
          <a:lstStyle/>
          <a:p>
            <a:pPr marL="0" indent="0" algn="ctr">
              <a:buNone/>
            </a:pPr>
            <a:r>
              <a:rPr lang="en-US" sz="3000" b="1" dirty="0">
                <a:solidFill>
                  <a:srgbClr val="1E3A5F"/>
                </a:solidFill>
                <a:latin typeface="Georgia" pitchFamily="34" charset="0"/>
                <a:ea typeface="Georgia" pitchFamily="34" charset="-122"/>
                <a:cs typeface="Georgia" pitchFamily="34" charset="-120"/>
              </a:rPr>
              <a:t>€449</a:t>
            </a:r>
            <a:endParaRPr lang="en-US" sz="3000" dirty="0"/>
          </a:p>
        </p:txBody>
      </p:sp>
      <p:sp>
        <p:nvSpPr>
          <p:cNvPr id="14" name="Text 12"/>
          <p:cNvSpPr/>
          <p:nvPr/>
        </p:nvSpPr>
        <p:spPr>
          <a:xfrm>
            <a:off x="3520440" y="2560320"/>
            <a:ext cx="2286000" cy="1371600"/>
          </a:xfrm>
          <a:prstGeom prst="rect">
            <a:avLst/>
          </a:prstGeom>
          <a:noFill/>
          <a:ln/>
        </p:spPr>
        <p:txBody>
          <a:bodyPr wrap="square" rtlCol="0" anchor="ctr"/>
          <a:lstStyle/>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Dispositivo dedicato + software</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Accesso ovunque, dati locali</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Plug &amp; play</a:t>
            </a:r>
            <a:endParaRPr lang="en-US" sz="1000" dirty="0"/>
          </a:p>
        </p:txBody>
      </p:sp>
      <p:sp>
        <p:nvSpPr>
          <p:cNvPr id="15" name="Shape 13"/>
          <p:cNvSpPr/>
          <p:nvPr/>
        </p:nvSpPr>
        <p:spPr>
          <a:xfrm>
            <a:off x="6217920" y="1051560"/>
            <a:ext cx="2651760" cy="32004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6" name="Shape 14"/>
          <p:cNvSpPr/>
          <p:nvPr/>
        </p:nvSpPr>
        <p:spPr>
          <a:xfrm>
            <a:off x="6217920" y="1051560"/>
            <a:ext cx="2651760" cy="640080"/>
          </a:xfrm>
          <a:prstGeom prst="rect">
            <a:avLst/>
          </a:prstGeom>
          <a:solidFill>
            <a:srgbClr val="0A7A70"/>
          </a:solidFill>
          <a:ln/>
        </p:spPr>
        <p:txBody>
          <a:bodyPr/>
          <a:lstStyle/>
          <a:p>
            <a:endParaRPr lang="it-IT"/>
          </a:p>
        </p:txBody>
      </p:sp>
      <p:sp>
        <p:nvSpPr>
          <p:cNvPr id="17" name="Text 15"/>
          <p:cNvSpPr/>
          <p:nvPr/>
        </p:nvSpPr>
        <p:spPr>
          <a:xfrm>
            <a:off x="6217920" y="1097280"/>
            <a:ext cx="265176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Assistenza Annuale</a:t>
            </a:r>
            <a:endParaRPr lang="en-US" sz="1300" dirty="0"/>
          </a:p>
        </p:txBody>
      </p:sp>
      <p:sp>
        <p:nvSpPr>
          <p:cNvPr id="18" name="Text 16"/>
          <p:cNvSpPr/>
          <p:nvPr/>
        </p:nvSpPr>
        <p:spPr>
          <a:xfrm>
            <a:off x="6217920" y="1828800"/>
            <a:ext cx="2651760" cy="640080"/>
          </a:xfrm>
          <a:prstGeom prst="rect">
            <a:avLst/>
          </a:prstGeom>
          <a:noFill/>
          <a:ln/>
        </p:spPr>
        <p:txBody>
          <a:bodyPr wrap="square" lIns="0" tIns="0" rIns="0" bIns="0" rtlCol="0" anchor="ctr"/>
          <a:lstStyle/>
          <a:p>
            <a:pPr marL="0" indent="0" algn="ctr">
              <a:buNone/>
            </a:pPr>
            <a:r>
              <a:rPr lang="en-US" sz="3000" b="1" dirty="0">
                <a:solidFill>
                  <a:srgbClr val="0A7A70"/>
                </a:solidFill>
                <a:latin typeface="Georgia" pitchFamily="34" charset="0"/>
                <a:ea typeface="Georgia" pitchFamily="34" charset="-122"/>
                <a:cs typeface="Georgia" pitchFamily="34" charset="-120"/>
              </a:rPr>
              <a:t>€79/anno</a:t>
            </a:r>
            <a:endParaRPr lang="en-US" sz="3000" dirty="0"/>
          </a:p>
        </p:txBody>
      </p:sp>
      <p:sp>
        <p:nvSpPr>
          <p:cNvPr id="19" name="Text 17"/>
          <p:cNvSpPr/>
          <p:nvPr/>
        </p:nvSpPr>
        <p:spPr>
          <a:xfrm>
            <a:off x="6400800" y="2560320"/>
            <a:ext cx="2286000" cy="1371600"/>
          </a:xfrm>
          <a:prstGeom prst="rect">
            <a:avLst/>
          </a:prstGeom>
          <a:noFill/>
          <a:ln/>
        </p:spPr>
        <p:txBody>
          <a:bodyPr wrap="square" rtlCol="0" anchor="ctr"/>
          <a:lstStyle/>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Aggiornamenti software</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Nuovi esercizi e alimenti</a:t>
            </a:r>
            <a:endParaRPr lang="en-US" sz="1000" dirty="0"/>
          </a:p>
          <a:p>
            <a:pPr marL="342900" indent="-342900">
              <a:buSzPct val="100000"/>
              <a:buChar char="•"/>
            </a:pPr>
            <a:r>
              <a:rPr lang="en-US" sz="1000" dirty="0">
                <a:solidFill>
                  <a:srgbClr val="475569"/>
                </a:solidFill>
                <a:latin typeface="Calibri" pitchFamily="34" charset="0"/>
                <a:ea typeface="Calibri" pitchFamily="34" charset="-122"/>
                <a:cs typeface="Calibri" pitchFamily="34" charset="-120"/>
              </a:rPr>
              <a:t>Supporto — inclusa 12 mesi per i primi 30</a:t>
            </a:r>
            <a:endParaRPr lang="en-US" sz="1000" dirty="0"/>
          </a:p>
        </p:txBody>
      </p:sp>
      <p:sp>
        <p:nvSpPr>
          <p:cNvPr id="20" name="Text 18"/>
          <p:cNvSpPr/>
          <p:nvPr/>
        </p:nvSpPr>
        <p:spPr>
          <a:xfrm>
            <a:off x="457200" y="4434840"/>
            <a:ext cx="8229600" cy="365760"/>
          </a:xfrm>
          <a:prstGeom prst="rect">
            <a:avLst/>
          </a:prstGeom>
          <a:noFill/>
          <a:ln/>
        </p:spPr>
        <p:txBody>
          <a:bodyPr wrap="square" rtlCol="0" anchor="ctr"/>
          <a:lstStyle/>
          <a:p>
            <a:pPr marL="0" indent="0">
              <a:buNone/>
            </a:pPr>
            <a:r>
              <a:rPr lang="en-US" sz="1200" b="1" dirty="0">
                <a:solidFill>
                  <a:srgbClr val="0A7A70"/>
                </a:solidFill>
                <a:latin typeface="Calibri" pitchFamily="34" charset="0"/>
                <a:ea typeface="Calibri" pitchFamily="34" charset="-122"/>
                <a:cs typeface="Calibri" pitchFamily="34" charset="-120"/>
              </a:rPr>
              <a:t>Licenza perpetua: il trainer compra una volta e il software è suo per sempre. Nessun abbonamento obbligatorio.</a:t>
            </a:r>
            <a:endParaRPr lang="en-US" sz="1200" dirty="0"/>
          </a:p>
        </p:txBody>
      </p:sp>
      <p:sp>
        <p:nvSpPr>
          <p:cNvPr id="21" name="Text 19"/>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17 / 56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6</a:t>
            </a:r>
            <a:endParaRPr lang="en-US" sz="800" dirty="0"/>
          </a:p>
        </p:txBody>
      </p:sp>
      <p:sp>
        <p:nvSpPr>
          <p:cNvPr id="3" name="Text 1"/>
          <p:cNvSpPr/>
          <p:nvPr/>
        </p:nvSpPr>
        <p:spPr>
          <a:xfrm>
            <a:off x="457200" y="36576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Margini unitari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164592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11480">
                <a:tc>
                  <a:txBody>
                    <a:bodyPr/>
                    <a:lstStyle/>
                    <a:p>
                      <a:pPr marL="0" indent="0">
                        <a:buNone/>
                      </a:pPr>
                      <a:r>
                        <a:rPr lang="en-US" sz="1100" b="1" dirty="0">
                          <a:solidFill>
                            <a:srgbClr val="FFFFFF"/>
                          </a:solidFill>
                        </a:rPr>
                        <a:t>Prodotto</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Prezzo</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Costo vivo</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Margine lordo</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411480">
                <a:tc>
                  <a:txBody>
                    <a:bodyPr/>
                    <a:lstStyle/>
                    <a:p>
                      <a:pPr marL="0" indent="0" algn="l">
                        <a:buNone/>
                      </a:pPr>
                      <a:r>
                        <a:rPr lang="en-US" sz="1200" b="1" dirty="0">
                          <a:solidFill>
                            <a:srgbClr val="1E293B"/>
                          </a:solidFill>
                          <a:latin typeface="Calibri" pitchFamily="34" charset="0"/>
                          <a:ea typeface="Calibri" pitchFamily="34" charset="-122"/>
                          <a:cs typeface="Calibri" pitchFamily="34" charset="-120"/>
                        </a:rPr>
                        <a:t>Licenza software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€249</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A7A70"/>
                          </a:solidFill>
                          <a:latin typeface="Calibri" pitchFamily="34" charset="0"/>
                          <a:ea typeface="Calibri" pitchFamily="34" charset="-122"/>
                          <a:cs typeface="Calibri" pitchFamily="34" charset="-120"/>
                        </a:rPr>
                        <a:t>€219 (88%)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200" b="1" dirty="0">
                          <a:solidFill>
                            <a:srgbClr val="1E293B"/>
                          </a:solidFill>
                          <a:latin typeface="Calibri" pitchFamily="34" charset="0"/>
                          <a:ea typeface="Calibri" pitchFamily="34" charset="-122"/>
                          <a:cs typeface="Calibri" pitchFamily="34" charset="-120"/>
                        </a:rPr>
                        <a:t>FitManager Box</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€449</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A7A70"/>
                          </a:solidFill>
                          <a:latin typeface="Calibri" pitchFamily="34" charset="0"/>
                          <a:ea typeface="Calibri" pitchFamily="34" charset="-122"/>
                          <a:cs typeface="Calibri" pitchFamily="34" charset="-120"/>
                        </a:rPr>
                        <a:t>€299 (67%)</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200" b="1" dirty="0">
                          <a:solidFill>
                            <a:srgbClr val="1E293B"/>
                          </a:solidFill>
                          <a:latin typeface="Calibri" pitchFamily="34" charset="0"/>
                          <a:ea typeface="Calibri" pitchFamily="34" charset="-122"/>
                          <a:cs typeface="Calibri" pitchFamily="34" charset="-120"/>
                        </a:rPr>
                        <a:t>Assistenza annuale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0A7A70"/>
                          </a:solidFill>
                          <a:latin typeface="Calibri" pitchFamily="34" charset="0"/>
                          <a:ea typeface="Calibri" pitchFamily="34" charset="-122"/>
                          <a:cs typeface="Calibri" pitchFamily="34" charset="-120"/>
                        </a:rPr>
                        <a:t>€79 (100%)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3"/>
          <p:cNvSpPr/>
          <p:nvPr/>
        </p:nvSpPr>
        <p:spPr>
          <a:xfrm>
            <a:off x="457200" y="3017520"/>
            <a:ext cx="8229600" cy="365760"/>
          </a:xfrm>
          <a:prstGeom prst="rect">
            <a:avLst/>
          </a:prstGeom>
          <a:noFill/>
          <a:ln/>
        </p:spPr>
        <p:txBody>
          <a:bodyPr wrap="square" rtlCol="0" anchor="ctr"/>
          <a:lstStyle/>
          <a:p>
            <a:pPr marL="0" indent="0">
              <a:buNone/>
            </a:pPr>
            <a:r>
              <a:rPr lang="en-US" sz="1300" b="1" dirty="0">
                <a:solidFill>
                  <a:srgbClr val="0A7A70"/>
                </a:solidFill>
                <a:latin typeface="Calibri" pitchFamily="34" charset="0"/>
                <a:ea typeface="Calibri" pitchFamily="34" charset="-122"/>
                <a:cs typeface="Calibri" pitchFamily="34" charset="-120"/>
              </a:rPr>
              <a:t>Nessun costo server. I dati sono locali. Ogni vendita aggiuntiva è quasi interamente margine.</a:t>
            </a:r>
            <a:endParaRPr lang="en-US" sz="1300" dirty="0"/>
          </a:p>
        </p:txBody>
      </p:sp>
      <p:graphicFrame>
        <p:nvGraphicFramePr>
          <p:cNvPr id="7" name="Chart 0"/>
          <p:cNvGraphicFramePr/>
          <p:nvPr>
            <p:extLst>
              <p:ext uri="{D42A27DB-BD31-4B8C-83A1-F6EECF244321}">
                <p14:modId xmlns:p14="http://schemas.microsoft.com/office/powerpoint/2010/main" val="4210597575"/>
              </p:ext>
            </p:extLst>
          </p:nvPr>
        </p:nvGraphicFramePr>
        <p:xfrm>
          <a:off x="1554481" y="3118104"/>
          <a:ext cx="5683562" cy="195681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18 / 56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59E0B"/>
          </a:solidFill>
          <a:ln/>
        </p:spPr>
        <p:txBody>
          <a:bodyPr/>
          <a:lstStyle/>
          <a:p>
            <a:endParaRPr lang="it-IT"/>
          </a:p>
        </p:txBody>
      </p:sp>
      <p:sp>
        <p:nvSpPr>
          <p:cNvPr id="3" name="Text 1"/>
          <p:cNvSpPr/>
          <p:nvPr/>
        </p:nvSpPr>
        <p:spPr>
          <a:xfrm>
            <a:off x="457200" y="457200"/>
            <a:ext cx="8229600" cy="274320"/>
          </a:xfrm>
          <a:prstGeom prst="rect">
            <a:avLst/>
          </a:prstGeom>
          <a:noFill/>
          <a:ln/>
        </p:spPr>
        <p:txBody>
          <a:bodyPr wrap="square" rtlCol="0" anchor="ctr"/>
          <a:lstStyle/>
          <a:p>
            <a:pPr marL="0" indent="0">
              <a:buNone/>
            </a:pPr>
            <a:r>
              <a:rPr lang="en-US" sz="1000" b="1" kern="0" spc="400" dirty="0">
                <a:solidFill>
                  <a:srgbClr val="F59E0B"/>
                </a:solidFill>
                <a:latin typeface="Calibri" pitchFamily="34" charset="0"/>
                <a:ea typeface="Calibri" pitchFamily="34" charset="-122"/>
                <a:cs typeface="Calibri" pitchFamily="34" charset="-120"/>
              </a:rPr>
              <a:t>BREAK-EVEN</a:t>
            </a:r>
            <a:endParaRPr lang="en-US" sz="1000" dirty="0"/>
          </a:p>
        </p:txBody>
      </p:sp>
      <p:sp>
        <p:nvSpPr>
          <p:cNvPr id="4" name="Text 2"/>
          <p:cNvSpPr/>
          <p:nvPr/>
        </p:nvSpPr>
        <p:spPr>
          <a:xfrm>
            <a:off x="914400" y="1097280"/>
            <a:ext cx="2743200" cy="1828800"/>
          </a:xfrm>
          <a:prstGeom prst="rect">
            <a:avLst/>
          </a:prstGeom>
          <a:noFill/>
          <a:ln/>
        </p:spPr>
        <p:txBody>
          <a:bodyPr wrap="square" lIns="0" tIns="0" rIns="0" bIns="0" rtlCol="0" anchor="ctr"/>
          <a:lstStyle/>
          <a:p>
            <a:pPr marL="0" indent="0" algn="ctr">
              <a:buNone/>
            </a:pPr>
            <a:r>
              <a:rPr lang="en-US" sz="12000" b="1" dirty="0">
                <a:solidFill>
                  <a:srgbClr val="14B8A6"/>
                </a:solidFill>
                <a:latin typeface="Georgia" pitchFamily="34" charset="0"/>
                <a:ea typeface="Georgia" pitchFamily="34" charset="-122"/>
                <a:cs typeface="Georgia" pitchFamily="34" charset="-120"/>
              </a:rPr>
              <a:t>3</a:t>
            </a:r>
            <a:endParaRPr lang="en-US" sz="12000" dirty="0"/>
          </a:p>
        </p:txBody>
      </p:sp>
      <p:sp>
        <p:nvSpPr>
          <p:cNvPr id="5" name="Text 3"/>
          <p:cNvSpPr/>
          <p:nvPr/>
        </p:nvSpPr>
        <p:spPr>
          <a:xfrm>
            <a:off x="914400" y="2743200"/>
            <a:ext cx="2743200" cy="457200"/>
          </a:xfrm>
          <a:prstGeom prst="rect">
            <a:avLst/>
          </a:prstGeom>
          <a:noFill/>
          <a:ln/>
        </p:spPr>
        <p:txBody>
          <a:bodyPr wrap="square" rtlCol="0" anchor="ctr"/>
          <a:lstStyle/>
          <a:p>
            <a:pPr marL="0" indent="0" algn="ctr">
              <a:buNone/>
            </a:pPr>
            <a:r>
              <a:rPr lang="en-US" sz="2000" dirty="0">
                <a:solidFill>
                  <a:srgbClr val="FFFFFF"/>
                </a:solidFill>
                <a:latin typeface="Calibri" pitchFamily="34" charset="0"/>
                <a:ea typeface="Calibri" pitchFamily="34" charset="-122"/>
                <a:cs typeface="Calibri" pitchFamily="34" charset="-120"/>
              </a:rPr>
              <a:t>vendite al mese</a:t>
            </a:r>
            <a:endParaRPr lang="en-US" sz="2000" dirty="0"/>
          </a:p>
        </p:txBody>
      </p:sp>
      <p:sp>
        <p:nvSpPr>
          <p:cNvPr id="6" name="Text 4"/>
          <p:cNvSpPr/>
          <p:nvPr/>
        </p:nvSpPr>
        <p:spPr>
          <a:xfrm>
            <a:off x="4572000" y="1280160"/>
            <a:ext cx="32004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Costi fissi mensili</a:t>
            </a:r>
            <a:endParaRPr lang="en-US" sz="1200" dirty="0"/>
          </a:p>
        </p:txBody>
      </p:sp>
      <p:sp>
        <p:nvSpPr>
          <p:cNvPr id="7" name="Text 5"/>
          <p:cNvSpPr/>
          <p:nvPr/>
        </p:nvSpPr>
        <p:spPr>
          <a:xfrm>
            <a:off x="4572000" y="1554480"/>
            <a:ext cx="3200400" cy="27432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~€360</a:t>
            </a:r>
            <a:endParaRPr lang="en-US" sz="1800" dirty="0"/>
          </a:p>
        </p:txBody>
      </p:sp>
      <p:sp>
        <p:nvSpPr>
          <p:cNvPr id="8" name="Text 6"/>
          <p:cNvSpPr/>
          <p:nvPr/>
        </p:nvSpPr>
        <p:spPr>
          <a:xfrm>
            <a:off x="4572000" y="1920240"/>
            <a:ext cx="32004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Margine medio per vendita</a:t>
            </a:r>
            <a:endParaRPr lang="en-US" sz="1200" dirty="0"/>
          </a:p>
        </p:txBody>
      </p:sp>
      <p:sp>
        <p:nvSpPr>
          <p:cNvPr id="9" name="Text 7"/>
          <p:cNvSpPr/>
          <p:nvPr/>
        </p:nvSpPr>
        <p:spPr>
          <a:xfrm>
            <a:off x="4572000" y="2194560"/>
            <a:ext cx="3200400" cy="27432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~€220</a:t>
            </a:r>
            <a:endParaRPr lang="en-US" sz="1800" dirty="0"/>
          </a:p>
        </p:txBody>
      </p:sp>
      <p:sp>
        <p:nvSpPr>
          <p:cNvPr id="10" name="Text 8"/>
          <p:cNvSpPr/>
          <p:nvPr/>
        </p:nvSpPr>
        <p:spPr>
          <a:xfrm>
            <a:off x="4572000" y="2560320"/>
            <a:ext cx="32004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Vendite break-even operativo</a:t>
            </a:r>
            <a:endParaRPr lang="en-US" sz="1200" dirty="0"/>
          </a:p>
        </p:txBody>
      </p:sp>
      <p:sp>
        <p:nvSpPr>
          <p:cNvPr id="11" name="Text 9"/>
          <p:cNvSpPr/>
          <p:nvPr/>
        </p:nvSpPr>
        <p:spPr>
          <a:xfrm>
            <a:off x="4572000" y="2834640"/>
            <a:ext cx="3200400" cy="27432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1,7/mese</a:t>
            </a:r>
            <a:endParaRPr lang="en-US" sz="1800" dirty="0"/>
          </a:p>
        </p:txBody>
      </p:sp>
      <p:sp>
        <p:nvSpPr>
          <p:cNvPr id="12" name="Text 10"/>
          <p:cNvSpPr/>
          <p:nvPr/>
        </p:nvSpPr>
        <p:spPr>
          <a:xfrm>
            <a:off x="4572000" y="3200400"/>
            <a:ext cx="32004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Vendite break-even reale</a:t>
            </a:r>
            <a:endParaRPr lang="en-US" sz="1200" dirty="0"/>
          </a:p>
        </p:txBody>
      </p:sp>
      <p:sp>
        <p:nvSpPr>
          <p:cNvPr id="13" name="Text 11"/>
          <p:cNvSpPr/>
          <p:nvPr/>
        </p:nvSpPr>
        <p:spPr>
          <a:xfrm>
            <a:off x="4572000" y="3474720"/>
            <a:ext cx="3200400" cy="27432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3/mese</a:t>
            </a:r>
            <a:endParaRPr lang="en-US" sz="1800" dirty="0"/>
          </a:p>
        </p:txBody>
      </p:sp>
      <p:sp>
        <p:nvSpPr>
          <p:cNvPr id="14" name="Text 12"/>
          <p:cNvSpPr/>
          <p:nvPr/>
        </p:nvSpPr>
        <p:spPr>
          <a:xfrm>
            <a:off x="457200" y="4206240"/>
            <a:ext cx="8229600" cy="365760"/>
          </a:xfrm>
          <a:prstGeom prst="rect">
            <a:avLst/>
          </a:prstGeom>
          <a:noFill/>
          <a:ln/>
        </p:spPr>
        <p:txBody>
          <a:bodyPr wrap="square" rtlCol="0" anchor="ctr"/>
          <a:lstStyle/>
          <a:p>
            <a:pPr marL="0" indent="0">
              <a:buNone/>
            </a:pPr>
            <a:r>
              <a:rPr lang="en-US" sz="1300" i="1" dirty="0">
                <a:solidFill>
                  <a:srgbClr val="99F6E4"/>
                </a:solidFill>
                <a:latin typeface="Calibri" pitchFamily="34" charset="0"/>
                <a:ea typeface="Calibri" pitchFamily="34" charset="-122"/>
                <a:cs typeface="Calibri" pitchFamily="34" charset="-120"/>
              </a:rPr>
              <a:t>Se lo raggiungiamo stabilmente dal mese 5-6, il business è sostenibile.</a:t>
            </a:r>
            <a:endParaRPr lang="en-US" sz="1300" dirty="0"/>
          </a:p>
        </p:txBody>
      </p:sp>
      <p:sp>
        <p:nvSpPr>
          <p:cNvPr id="15" name="Text 1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19 / 56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7 — COME ARRIVIAMO AI CLIENTI</a:t>
            </a:r>
            <a:endParaRPr lang="en-US" sz="800" dirty="0"/>
          </a:p>
        </p:txBody>
      </p:sp>
      <p:sp>
        <p:nvSpPr>
          <p:cNvPr id="3" name="Text 1"/>
          <p:cNvSpPr/>
          <p:nvPr/>
        </p:nvSpPr>
        <p:spPr>
          <a:xfrm>
            <a:off x="457200" y="431187"/>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Le fonti di lead</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8229600" cy="56692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6" name="Image 0" descr="preencoded.png"/>
          <p:cNvPicPr>
            <a:picLocks noChangeAspect="1"/>
          </p:cNvPicPr>
          <p:nvPr/>
        </p:nvPicPr>
        <p:blipFill>
          <a:blip r:embed="rId3"/>
          <a:stretch>
            <a:fillRect/>
          </a:stretch>
        </p:blipFill>
        <p:spPr>
          <a:xfrm>
            <a:off x="594360" y="1143000"/>
            <a:ext cx="320040" cy="320040"/>
          </a:xfrm>
          <a:prstGeom prst="rect">
            <a:avLst/>
          </a:prstGeom>
        </p:spPr>
      </p:pic>
      <p:sp>
        <p:nvSpPr>
          <p:cNvPr id="7" name="Text 4"/>
          <p:cNvSpPr/>
          <p:nvPr/>
        </p:nvSpPr>
        <p:spPr>
          <a:xfrm>
            <a:off x="1097280" y="1051560"/>
            <a:ext cx="2286000" cy="566928"/>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Network del partner</a:t>
            </a:r>
            <a:endParaRPr lang="en-US" sz="1200" dirty="0"/>
          </a:p>
        </p:txBody>
      </p:sp>
      <p:sp>
        <p:nvSpPr>
          <p:cNvPr id="8" name="Text 5"/>
          <p:cNvSpPr/>
          <p:nvPr/>
        </p:nvSpPr>
        <p:spPr>
          <a:xfrm>
            <a:off x="3383280" y="1051560"/>
            <a:ext cx="3200400" cy="566928"/>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Contatti diretti, presentazioni, eventi</a:t>
            </a:r>
            <a:endParaRPr lang="en-US" sz="1100" dirty="0"/>
          </a:p>
        </p:txBody>
      </p:sp>
      <p:sp>
        <p:nvSpPr>
          <p:cNvPr id="9" name="Text 6"/>
          <p:cNvSpPr/>
          <p:nvPr/>
        </p:nvSpPr>
        <p:spPr>
          <a:xfrm>
            <a:off x="6858000" y="1051560"/>
            <a:ext cx="1645920" cy="566928"/>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8-12</a:t>
            </a:r>
            <a:endParaRPr lang="en-US" sz="1400" dirty="0"/>
          </a:p>
        </p:txBody>
      </p:sp>
      <p:sp>
        <p:nvSpPr>
          <p:cNvPr id="10" name="Shape 7"/>
          <p:cNvSpPr/>
          <p:nvPr/>
        </p:nvSpPr>
        <p:spPr>
          <a:xfrm>
            <a:off x="457200" y="1709928"/>
            <a:ext cx="8229600" cy="566928"/>
          </a:xfrm>
          <a:prstGeom prst="rect">
            <a:avLst/>
          </a:prstGeom>
          <a:solidFill>
            <a:srgbClr val="F1F5F9"/>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594360" y="1801368"/>
            <a:ext cx="320040" cy="320040"/>
          </a:xfrm>
          <a:prstGeom prst="rect">
            <a:avLst/>
          </a:prstGeom>
        </p:spPr>
      </p:pic>
      <p:sp>
        <p:nvSpPr>
          <p:cNvPr id="12" name="Text 8"/>
          <p:cNvSpPr/>
          <p:nvPr/>
        </p:nvSpPr>
        <p:spPr>
          <a:xfrm>
            <a:off x="1097280" y="1709928"/>
            <a:ext cx="2286000" cy="566928"/>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LinkedIn del founder</a:t>
            </a:r>
            <a:endParaRPr lang="en-US" sz="1200" dirty="0"/>
          </a:p>
        </p:txBody>
      </p:sp>
      <p:sp>
        <p:nvSpPr>
          <p:cNvPr id="13" name="Text 9"/>
          <p:cNvSpPr/>
          <p:nvPr/>
        </p:nvSpPr>
        <p:spPr>
          <a:xfrm>
            <a:off x="3383280" y="1709928"/>
            <a:ext cx="3200400" cy="566928"/>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Contenuti settimanali, post educativi</a:t>
            </a:r>
            <a:endParaRPr lang="en-US" sz="1100" dirty="0"/>
          </a:p>
        </p:txBody>
      </p:sp>
      <p:sp>
        <p:nvSpPr>
          <p:cNvPr id="14" name="Text 10"/>
          <p:cNvSpPr/>
          <p:nvPr/>
        </p:nvSpPr>
        <p:spPr>
          <a:xfrm>
            <a:off x="6858000" y="1709928"/>
            <a:ext cx="1645920" cy="566928"/>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5-8</a:t>
            </a:r>
            <a:endParaRPr lang="en-US" sz="1400" dirty="0"/>
          </a:p>
        </p:txBody>
      </p:sp>
      <p:sp>
        <p:nvSpPr>
          <p:cNvPr id="15" name="Shape 11"/>
          <p:cNvSpPr/>
          <p:nvPr/>
        </p:nvSpPr>
        <p:spPr>
          <a:xfrm>
            <a:off x="457200" y="2368296"/>
            <a:ext cx="8229600" cy="56692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6" name="Image 2" descr="preencoded.png"/>
          <p:cNvPicPr>
            <a:picLocks noChangeAspect="1"/>
          </p:cNvPicPr>
          <p:nvPr/>
        </p:nvPicPr>
        <p:blipFill>
          <a:blip r:embed="rId5"/>
          <a:stretch>
            <a:fillRect/>
          </a:stretch>
        </p:blipFill>
        <p:spPr>
          <a:xfrm>
            <a:off x="594360" y="2459736"/>
            <a:ext cx="320040" cy="320040"/>
          </a:xfrm>
          <a:prstGeom prst="rect">
            <a:avLst/>
          </a:prstGeom>
        </p:spPr>
      </p:pic>
      <p:sp>
        <p:nvSpPr>
          <p:cNvPr id="17" name="Text 12"/>
          <p:cNvSpPr/>
          <p:nvPr/>
        </p:nvSpPr>
        <p:spPr>
          <a:xfrm>
            <a:off x="1097280" y="2368296"/>
            <a:ext cx="2286000" cy="566928"/>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Referral dai clienti</a:t>
            </a:r>
            <a:endParaRPr lang="en-US" sz="1200" dirty="0"/>
          </a:p>
        </p:txBody>
      </p:sp>
      <p:sp>
        <p:nvSpPr>
          <p:cNvPr id="18" name="Text 13"/>
          <p:cNvSpPr/>
          <p:nvPr/>
        </p:nvSpPr>
        <p:spPr>
          <a:xfrm>
            <a:off x="3383280" y="2368296"/>
            <a:ext cx="3200400" cy="566928"/>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Passaparola + programma referral</a:t>
            </a:r>
            <a:endParaRPr lang="en-US" sz="1100" dirty="0"/>
          </a:p>
        </p:txBody>
      </p:sp>
      <p:sp>
        <p:nvSpPr>
          <p:cNvPr id="19" name="Text 14"/>
          <p:cNvSpPr/>
          <p:nvPr/>
        </p:nvSpPr>
        <p:spPr>
          <a:xfrm>
            <a:off x="6858000" y="2368296"/>
            <a:ext cx="1645920" cy="566928"/>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2-4</a:t>
            </a:r>
            <a:endParaRPr lang="en-US" sz="1400" dirty="0"/>
          </a:p>
        </p:txBody>
      </p:sp>
      <p:sp>
        <p:nvSpPr>
          <p:cNvPr id="20" name="Shape 15"/>
          <p:cNvSpPr/>
          <p:nvPr/>
        </p:nvSpPr>
        <p:spPr>
          <a:xfrm>
            <a:off x="457200" y="3026664"/>
            <a:ext cx="8229600" cy="566928"/>
          </a:xfrm>
          <a:prstGeom prst="rect">
            <a:avLst/>
          </a:prstGeom>
          <a:solidFill>
            <a:srgbClr val="F1F5F9"/>
          </a:solidFill>
          <a:ln/>
        </p:spPr>
        <p:txBody>
          <a:bodyPr/>
          <a:lstStyle/>
          <a:p>
            <a:endParaRPr lang="it-IT"/>
          </a:p>
        </p:txBody>
      </p:sp>
      <p:pic>
        <p:nvPicPr>
          <p:cNvPr id="21" name="Image 3" descr="preencoded.png"/>
          <p:cNvPicPr>
            <a:picLocks noChangeAspect="1"/>
          </p:cNvPicPr>
          <p:nvPr/>
        </p:nvPicPr>
        <p:blipFill>
          <a:blip r:embed="rId6"/>
          <a:stretch>
            <a:fillRect/>
          </a:stretch>
        </p:blipFill>
        <p:spPr>
          <a:xfrm>
            <a:off x="594360" y="3118104"/>
            <a:ext cx="320040" cy="320040"/>
          </a:xfrm>
          <a:prstGeom prst="rect">
            <a:avLst/>
          </a:prstGeom>
        </p:spPr>
      </p:pic>
      <p:sp>
        <p:nvSpPr>
          <p:cNvPr id="22" name="Text 16"/>
          <p:cNvSpPr/>
          <p:nvPr/>
        </p:nvSpPr>
        <p:spPr>
          <a:xfrm>
            <a:off x="1097280" y="3026664"/>
            <a:ext cx="2286000" cy="566928"/>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Webinar mensile</a:t>
            </a:r>
            <a:endParaRPr lang="en-US" sz="1200" dirty="0"/>
          </a:p>
        </p:txBody>
      </p:sp>
      <p:sp>
        <p:nvSpPr>
          <p:cNvPr id="23" name="Text 17"/>
          <p:cNvSpPr/>
          <p:nvPr/>
        </p:nvSpPr>
        <p:spPr>
          <a:xfrm>
            <a:off x="3383280" y="3026664"/>
            <a:ext cx="3200400" cy="566928"/>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Formazione gratuita + demo integrata</a:t>
            </a:r>
            <a:endParaRPr lang="en-US" sz="1100" dirty="0"/>
          </a:p>
        </p:txBody>
      </p:sp>
      <p:sp>
        <p:nvSpPr>
          <p:cNvPr id="24" name="Text 18"/>
          <p:cNvSpPr/>
          <p:nvPr/>
        </p:nvSpPr>
        <p:spPr>
          <a:xfrm>
            <a:off x="6858000" y="3026664"/>
            <a:ext cx="1645920" cy="566928"/>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3-5</a:t>
            </a:r>
            <a:endParaRPr lang="en-US" sz="1400" dirty="0"/>
          </a:p>
        </p:txBody>
      </p:sp>
      <p:sp>
        <p:nvSpPr>
          <p:cNvPr id="25" name="Shape 19"/>
          <p:cNvSpPr/>
          <p:nvPr/>
        </p:nvSpPr>
        <p:spPr>
          <a:xfrm>
            <a:off x="457200" y="3685032"/>
            <a:ext cx="8229600" cy="56692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26" name="Image 4" descr="preencoded.png"/>
          <p:cNvPicPr>
            <a:picLocks noChangeAspect="1"/>
          </p:cNvPicPr>
          <p:nvPr/>
        </p:nvPicPr>
        <p:blipFill>
          <a:blip r:embed="rId7"/>
          <a:stretch>
            <a:fillRect/>
          </a:stretch>
        </p:blipFill>
        <p:spPr>
          <a:xfrm>
            <a:off x="594360" y="3776472"/>
            <a:ext cx="320040" cy="320040"/>
          </a:xfrm>
          <a:prstGeom prst="rect">
            <a:avLst/>
          </a:prstGeom>
        </p:spPr>
      </p:pic>
      <p:sp>
        <p:nvSpPr>
          <p:cNvPr id="27" name="Text 20"/>
          <p:cNvSpPr/>
          <p:nvPr/>
        </p:nvSpPr>
        <p:spPr>
          <a:xfrm>
            <a:off x="1097280" y="3685032"/>
            <a:ext cx="2286000" cy="566928"/>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Passaparola e community</a:t>
            </a:r>
            <a:endParaRPr lang="en-US" sz="1200" dirty="0"/>
          </a:p>
        </p:txBody>
      </p:sp>
      <p:sp>
        <p:nvSpPr>
          <p:cNvPr id="28" name="Text 21"/>
          <p:cNvSpPr/>
          <p:nvPr/>
        </p:nvSpPr>
        <p:spPr>
          <a:xfrm>
            <a:off x="3383280" y="3685032"/>
            <a:ext cx="3200400" cy="566928"/>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Crescita organica</a:t>
            </a:r>
            <a:endParaRPr lang="en-US" sz="1100" dirty="0"/>
          </a:p>
        </p:txBody>
      </p:sp>
      <p:sp>
        <p:nvSpPr>
          <p:cNvPr id="29" name="Text 22"/>
          <p:cNvSpPr/>
          <p:nvPr/>
        </p:nvSpPr>
        <p:spPr>
          <a:xfrm>
            <a:off x="6858000" y="3685032"/>
            <a:ext cx="1645920" cy="566928"/>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2-4</a:t>
            </a:r>
            <a:endParaRPr lang="en-US" sz="1400" dirty="0"/>
          </a:p>
        </p:txBody>
      </p:sp>
      <p:sp>
        <p:nvSpPr>
          <p:cNvPr id="30" name="Text 23"/>
          <p:cNvSpPr/>
          <p:nvPr/>
        </p:nvSpPr>
        <p:spPr>
          <a:xfrm>
            <a:off x="6858000" y="777240"/>
            <a:ext cx="1645920" cy="274320"/>
          </a:xfrm>
          <a:prstGeom prst="rect">
            <a:avLst/>
          </a:prstGeom>
          <a:noFill/>
          <a:ln/>
        </p:spPr>
        <p:txBody>
          <a:bodyPr wrap="square"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Lead/mese</a:t>
            </a:r>
            <a:endParaRPr lang="en-US" sz="900" dirty="0"/>
          </a:p>
        </p:txBody>
      </p:sp>
      <p:sp>
        <p:nvSpPr>
          <p:cNvPr id="31" name="Shape 24"/>
          <p:cNvSpPr/>
          <p:nvPr/>
        </p:nvSpPr>
        <p:spPr>
          <a:xfrm>
            <a:off x="5029200" y="4446665"/>
            <a:ext cx="3657600" cy="457200"/>
          </a:xfrm>
          <a:prstGeom prst="rect">
            <a:avLst/>
          </a:prstGeom>
          <a:solidFill>
            <a:srgbClr val="0D9488"/>
          </a:solidFill>
          <a:ln/>
        </p:spPr>
        <p:txBody>
          <a:bodyPr/>
          <a:lstStyle/>
          <a:p>
            <a:endParaRPr lang="it-IT"/>
          </a:p>
        </p:txBody>
      </p:sp>
      <p:sp>
        <p:nvSpPr>
          <p:cNvPr id="32" name="Text 25"/>
          <p:cNvSpPr/>
          <p:nvPr/>
        </p:nvSpPr>
        <p:spPr>
          <a:xfrm>
            <a:off x="5029200" y="4434840"/>
            <a:ext cx="365760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Totale a regime (mesi 7-12): 20-33 lead/mese</a:t>
            </a:r>
            <a:endParaRPr lang="en-US" sz="1200" dirty="0"/>
          </a:p>
        </p:txBody>
      </p:sp>
      <p:sp>
        <p:nvSpPr>
          <p:cNvPr id="33" name="Text 26"/>
          <p:cNvSpPr/>
          <p:nvPr/>
        </p:nvSpPr>
        <p:spPr>
          <a:xfrm>
            <a:off x="7898524" y="4854991"/>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20 / 56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7</a:t>
            </a:r>
            <a:endParaRPr lang="en-US" sz="800" dirty="0"/>
          </a:p>
        </p:txBody>
      </p:sp>
      <p:sp>
        <p:nvSpPr>
          <p:cNvPr id="3" name="Text 1"/>
          <p:cNvSpPr/>
          <p:nvPr/>
        </p:nvSpPr>
        <p:spPr>
          <a:xfrm>
            <a:off x="457200" y="404543"/>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Il funnel</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1371600" y="1188720"/>
            <a:ext cx="6400800" cy="731520"/>
          </a:xfrm>
          <a:prstGeom prst="rect">
            <a:avLst/>
          </a:prstGeom>
          <a:solidFill>
            <a:srgbClr val="14B8A6"/>
          </a:solidFill>
          <a:ln/>
          <a:effectLst>
            <a:outerShdw blurRad="101600" dist="38100" dir="8100000" algn="bl" rotWithShape="0">
              <a:srgbClr val="000000">
                <a:alpha val="10000"/>
              </a:srgbClr>
            </a:outerShdw>
          </a:effectLst>
        </p:spPr>
        <p:txBody>
          <a:bodyPr/>
          <a:lstStyle/>
          <a:p>
            <a:endParaRPr lang="it-IT"/>
          </a:p>
        </p:txBody>
      </p:sp>
      <p:sp>
        <p:nvSpPr>
          <p:cNvPr id="6" name="Text 4"/>
          <p:cNvSpPr/>
          <p:nvPr/>
        </p:nvSpPr>
        <p:spPr>
          <a:xfrm>
            <a:off x="1371600" y="1188720"/>
            <a:ext cx="6400800"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Potenziale</a:t>
            </a:r>
            <a:endParaRPr lang="en-US" sz="1600" dirty="0"/>
          </a:p>
        </p:txBody>
      </p:sp>
      <p:sp>
        <p:nvSpPr>
          <p:cNvPr id="7" name="Text 5"/>
          <p:cNvSpPr/>
          <p:nvPr/>
        </p:nvSpPr>
        <p:spPr>
          <a:xfrm>
            <a:off x="1371600" y="1508760"/>
            <a:ext cx="6400800" cy="365760"/>
          </a:xfrm>
          <a:prstGeom prst="rect">
            <a:avLst/>
          </a:prstGeom>
          <a:noFill/>
          <a:ln/>
        </p:spPr>
        <p:txBody>
          <a:bodyPr wrap="square" rtlCol="0" anchor="ctr"/>
          <a:lstStyle/>
          <a:p>
            <a:pPr marL="0" indent="0" algn="ctr">
              <a:buNone/>
            </a:pPr>
            <a:r>
              <a:rPr lang="en-US" sz="1400" dirty="0">
                <a:solidFill>
                  <a:srgbClr val="FFFFFF"/>
                </a:solidFill>
                <a:latin typeface="Georgia" pitchFamily="34" charset="0"/>
                <a:ea typeface="Georgia" pitchFamily="34" charset="-122"/>
                <a:cs typeface="Georgia" pitchFamily="34" charset="-120"/>
              </a:rPr>
              <a:t>100%</a:t>
            </a:r>
            <a:endParaRPr lang="en-US" sz="1400" dirty="0"/>
          </a:p>
        </p:txBody>
      </p:sp>
      <p:sp>
        <p:nvSpPr>
          <p:cNvPr id="8" name="Shape 6"/>
          <p:cNvSpPr/>
          <p:nvPr/>
        </p:nvSpPr>
        <p:spPr>
          <a:xfrm>
            <a:off x="2286000" y="2088929"/>
            <a:ext cx="4572000" cy="731520"/>
          </a:xfrm>
          <a:prstGeom prst="rect">
            <a:avLst/>
          </a:prstGeom>
          <a:solidFill>
            <a:srgbClr val="0D9488"/>
          </a:solidFill>
          <a:ln/>
          <a:effectLst>
            <a:outerShdw blurRad="101600" dist="38100" dir="8100000" algn="bl" rotWithShape="0">
              <a:srgbClr val="000000">
                <a:alpha val="10000"/>
              </a:srgbClr>
            </a:outerShdw>
          </a:effectLst>
        </p:spPr>
        <p:txBody>
          <a:bodyPr/>
          <a:lstStyle/>
          <a:p>
            <a:endParaRPr lang="it-IT"/>
          </a:p>
        </p:txBody>
      </p:sp>
      <p:sp>
        <p:nvSpPr>
          <p:cNvPr id="9" name="Text 7"/>
          <p:cNvSpPr/>
          <p:nvPr/>
        </p:nvSpPr>
        <p:spPr>
          <a:xfrm>
            <a:off x="2286000" y="2120777"/>
            <a:ext cx="4572000"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Demo</a:t>
            </a:r>
            <a:endParaRPr lang="en-US" sz="1600" dirty="0"/>
          </a:p>
        </p:txBody>
      </p:sp>
      <p:sp>
        <p:nvSpPr>
          <p:cNvPr id="10" name="Text 8"/>
          <p:cNvSpPr/>
          <p:nvPr/>
        </p:nvSpPr>
        <p:spPr>
          <a:xfrm>
            <a:off x="2286000" y="2379332"/>
            <a:ext cx="4572000" cy="365760"/>
          </a:xfrm>
          <a:prstGeom prst="rect">
            <a:avLst/>
          </a:prstGeom>
          <a:noFill/>
          <a:ln/>
        </p:spPr>
        <p:txBody>
          <a:bodyPr wrap="square" rtlCol="0" anchor="ctr"/>
          <a:lstStyle/>
          <a:p>
            <a:pPr marL="0" indent="0" algn="ctr">
              <a:buNone/>
            </a:pPr>
            <a:r>
              <a:rPr lang="en-US" sz="1400" dirty="0">
                <a:solidFill>
                  <a:srgbClr val="FFFFFF"/>
                </a:solidFill>
                <a:latin typeface="Georgia" pitchFamily="34" charset="0"/>
                <a:ea typeface="Georgia" pitchFamily="34" charset="-122"/>
                <a:cs typeface="Georgia" pitchFamily="34" charset="-120"/>
              </a:rPr>
              <a:t>50-60%</a:t>
            </a:r>
            <a:endParaRPr lang="en-US" sz="1400" dirty="0"/>
          </a:p>
        </p:txBody>
      </p:sp>
      <p:sp>
        <p:nvSpPr>
          <p:cNvPr id="11" name="Shape 9"/>
          <p:cNvSpPr/>
          <p:nvPr/>
        </p:nvSpPr>
        <p:spPr>
          <a:xfrm>
            <a:off x="3429000" y="2920089"/>
            <a:ext cx="2286000" cy="731520"/>
          </a:xfrm>
          <a:prstGeom prst="rect">
            <a:avLst/>
          </a:prstGeom>
          <a:solidFill>
            <a:srgbClr val="0A7A70"/>
          </a:solidFill>
          <a:ln/>
          <a:effectLst>
            <a:outerShdw blurRad="101600" dist="38100" dir="8100000" algn="bl" rotWithShape="0">
              <a:srgbClr val="000000">
                <a:alpha val="10000"/>
              </a:srgbClr>
            </a:outerShdw>
          </a:effectLst>
        </p:spPr>
        <p:txBody>
          <a:bodyPr/>
          <a:lstStyle/>
          <a:p>
            <a:endParaRPr lang="it-IT"/>
          </a:p>
        </p:txBody>
      </p:sp>
      <p:sp>
        <p:nvSpPr>
          <p:cNvPr id="12" name="Text 10"/>
          <p:cNvSpPr/>
          <p:nvPr/>
        </p:nvSpPr>
        <p:spPr>
          <a:xfrm>
            <a:off x="3429000" y="2920089"/>
            <a:ext cx="2286000"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Cliente</a:t>
            </a:r>
            <a:endParaRPr lang="en-US" sz="1600" dirty="0"/>
          </a:p>
        </p:txBody>
      </p:sp>
      <p:sp>
        <p:nvSpPr>
          <p:cNvPr id="13" name="Text 11"/>
          <p:cNvSpPr/>
          <p:nvPr/>
        </p:nvSpPr>
        <p:spPr>
          <a:xfrm>
            <a:off x="3429000" y="3181166"/>
            <a:ext cx="2286000" cy="365760"/>
          </a:xfrm>
          <a:prstGeom prst="rect">
            <a:avLst/>
          </a:prstGeom>
          <a:noFill/>
          <a:ln/>
        </p:spPr>
        <p:txBody>
          <a:bodyPr wrap="square" rtlCol="0" anchor="ctr"/>
          <a:lstStyle/>
          <a:p>
            <a:pPr marL="0" indent="0" algn="ctr">
              <a:buNone/>
            </a:pPr>
            <a:r>
              <a:rPr lang="en-US" sz="1400" dirty="0">
                <a:solidFill>
                  <a:srgbClr val="FFFFFF"/>
                </a:solidFill>
                <a:latin typeface="Georgia" pitchFamily="34" charset="0"/>
                <a:ea typeface="Georgia" pitchFamily="34" charset="-122"/>
                <a:cs typeface="Georgia" pitchFamily="34" charset="-120"/>
              </a:rPr>
              <a:t>10-15%</a:t>
            </a:r>
            <a:endParaRPr lang="en-US" sz="1400" dirty="0"/>
          </a:p>
        </p:txBody>
      </p:sp>
      <p:sp>
        <p:nvSpPr>
          <p:cNvPr id="14" name="Shape 12"/>
          <p:cNvSpPr/>
          <p:nvPr/>
        </p:nvSpPr>
        <p:spPr>
          <a:xfrm>
            <a:off x="411480" y="3748909"/>
            <a:ext cx="8229600" cy="9144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5" name="Text 13"/>
          <p:cNvSpPr/>
          <p:nvPr/>
        </p:nvSpPr>
        <p:spPr>
          <a:xfrm>
            <a:off x="640080" y="3826420"/>
            <a:ext cx="7772400" cy="1222960"/>
          </a:xfrm>
          <a:prstGeom prst="rect">
            <a:avLst/>
          </a:prstGeom>
          <a:noFill/>
          <a:ln/>
        </p:spPr>
        <p:txBody>
          <a:bodyPr wrap="square"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Da potenziale a demo: 50-60%</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 — Lead già qualificati (network, referral)</a:t>
            </a:r>
            <a:endParaRPr lang="en-US" sz="1100" dirty="0"/>
          </a:p>
          <a:p>
            <a:pPr marL="0" indent="0">
              <a:buNone/>
            </a:pPr>
            <a:r>
              <a:rPr lang="en-US" sz="1100" b="1" dirty="0">
                <a:solidFill>
                  <a:srgbClr val="1E293B"/>
                </a:solidFill>
                <a:latin typeface="Calibri" pitchFamily="34" charset="0"/>
                <a:ea typeface="Calibri" pitchFamily="34" charset="-122"/>
                <a:cs typeface="Calibri" pitchFamily="34" charset="-120"/>
              </a:rPr>
              <a:t>Da demo ad acquisto: 20-25%</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 — Benchmark B2B early stage con prodotto funzionante</a:t>
            </a:r>
            <a:endParaRPr lang="en-US" sz="1100" dirty="0"/>
          </a:p>
          <a:p>
            <a:pPr>
              <a:spcBef>
                <a:spcPts val="1000"/>
              </a:spcBef>
            </a:pPr>
            <a:r>
              <a:rPr sz="1100" b="1" dirty="0">
                <a:solidFill>
                  <a:srgbClr val="F96167"/>
                </a:solidFill>
              </a:rPr>
              <a:t>La demo include un </a:t>
            </a:r>
            <a:r>
              <a:rPr sz="1100" b="1" dirty="0" err="1">
                <a:solidFill>
                  <a:srgbClr val="F96167"/>
                </a:solidFill>
              </a:rPr>
              <a:t>momento</a:t>
            </a:r>
            <a:r>
              <a:rPr sz="1100" b="1" dirty="0">
                <a:solidFill>
                  <a:srgbClr val="F96167"/>
                </a:solidFill>
              </a:rPr>
              <a:t> di </a:t>
            </a:r>
            <a:r>
              <a:rPr sz="1100" b="1" dirty="0" err="1">
                <a:solidFill>
                  <a:srgbClr val="F96167"/>
                </a:solidFill>
              </a:rPr>
              <a:t>dimostrazione</a:t>
            </a:r>
            <a:r>
              <a:rPr sz="1100" b="1" dirty="0">
                <a:solidFill>
                  <a:srgbClr val="F96167"/>
                </a:solidFill>
              </a:rPr>
              <a:t> live: il trainer </a:t>
            </a:r>
            <a:r>
              <a:rPr sz="1100" b="1" dirty="0" err="1">
                <a:solidFill>
                  <a:srgbClr val="F96167"/>
                </a:solidFill>
              </a:rPr>
              <a:t>vede</a:t>
            </a:r>
            <a:r>
              <a:rPr sz="1100" b="1" dirty="0">
                <a:solidFill>
                  <a:srgbClr val="F96167"/>
                </a:solidFill>
              </a:rPr>
              <a:t> il proprio </a:t>
            </a:r>
            <a:r>
              <a:rPr sz="1100" b="1" dirty="0" err="1">
                <a:solidFill>
                  <a:srgbClr val="F96167"/>
                </a:solidFill>
              </a:rPr>
              <a:t>nome</a:t>
            </a:r>
            <a:r>
              <a:rPr sz="1100" b="1" dirty="0">
                <a:solidFill>
                  <a:srgbClr val="F96167"/>
                </a:solidFill>
              </a:rPr>
              <a:t>, il proprio </a:t>
            </a:r>
            <a:r>
              <a:rPr sz="1100" b="1" dirty="0" err="1">
                <a:solidFill>
                  <a:srgbClr val="F96167"/>
                </a:solidFill>
              </a:rPr>
              <a:t>cliente</a:t>
            </a:r>
            <a:r>
              <a:rPr sz="1100" b="1" dirty="0">
                <a:solidFill>
                  <a:srgbClr val="F96167"/>
                </a:solidFill>
              </a:rPr>
              <a:t> e un </a:t>
            </a:r>
            <a:r>
              <a:rPr sz="1100" b="1" dirty="0" err="1">
                <a:solidFill>
                  <a:srgbClr val="F96167"/>
                </a:solidFill>
              </a:rPr>
              <a:t>messaggio</a:t>
            </a:r>
            <a:r>
              <a:rPr sz="1100" b="1" dirty="0">
                <a:solidFill>
                  <a:srgbClr val="F96167"/>
                </a:solidFill>
              </a:rPr>
              <a:t> WhatsApp pronto da </a:t>
            </a:r>
            <a:r>
              <a:rPr sz="1100" b="1" dirty="0" err="1">
                <a:solidFill>
                  <a:srgbClr val="F96167"/>
                </a:solidFill>
              </a:rPr>
              <a:t>inviare</a:t>
            </a:r>
            <a:r>
              <a:rPr sz="1100" b="1" dirty="0">
                <a:solidFill>
                  <a:srgbClr val="F96167"/>
                </a:solidFill>
              </a:rPr>
              <a:t> con un click. </a:t>
            </a:r>
            <a:r>
              <a:rPr sz="1100" b="1" dirty="0" err="1">
                <a:solidFill>
                  <a:srgbClr val="F96167"/>
                </a:solidFill>
              </a:rPr>
              <a:t>Questo</a:t>
            </a:r>
            <a:r>
              <a:rPr sz="1100" b="1" dirty="0">
                <a:solidFill>
                  <a:srgbClr val="F96167"/>
                </a:solidFill>
              </a:rPr>
              <a:t> è il punto di </a:t>
            </a:r>
            <a:r>
              <a:rPr sz="1100" b="1" dirty="0" err="1">
                <a:solidFill>
                  <a:srgbClr val="F96167"/>
                </a:solidFill>
              </a:rPr>
              <a:t>conversione</a:t>
            </a:r>
            <a:r>
              <a:rPr sz="1100" b="1" dirty="0">
                <a:solidFill>
                  <a:srgbClr val="F96167"/>
                </a:solidFill>
              </a:rPr>
              <a:t> </a:t>
            </a:r>
            <a:r>
              <a:rPr sz="1100" b="1" dirty="0" err="1">
                <a:solidFill>
                  <a:srgbClr val="F96167"/>
                </a:solidFill>
              </a:rPr>
              <a:t>emotiva</a:t>
            </a:r>
            <a:r>
              <a:rPr sz="1100" b="1" dirty="0">
                <a:solidFill>
                  <a:srgbClr val="F96167"/>
                </a:solidFill>
              </a:rPr>
              <a:t>.</a:t>
            </a:r>
          </a:p>
        </p:txBody>
      </p:sp>
      <p:sp>
        <p:nvSpPr>
          <p:cNvPr id="16" name="Text 1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21 / 56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8 — STRATEGIA MARKETING</a:t>
            </a:r>
            <a:endParaRPr lang="en-US" sz="800" dirty="0"/>
          </a:p>
        </p:txBody>
      </p:sp>
      <p:sp>
        <p:nvSpPr>
          <p:cNvPr id="3" name="Text 1"/>
          <p:cNvSpPr/>
          <p:nvPr/>
        </p:nvSpPr>
        <p:spPr>
          <a:xfrm>
            <a:off x="457200" y="384048"/>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 tre canali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365760"/>
          </a:xfrm>
          <a:prstGeom prst="rect">
            <a:avLst/>
          </a:prstGeom>
          <a:noFill/>
          <a:ln/>
        </p:spPr>
        <p:txBody>
          <a:bodyPr wrap="square"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FitManager opera in un mercato da educare. I trainer non cercano un gestionale — non sanno di averne bisogno.</a:t>
            </a:r>
            <a:endParaRPr lang="en-US" sz="1200" dirty="0"/>
          </a:p>
        </p:txBody>
      </p:sp>
      <p:sp>
        <p:nvSpPr>
          <p:cNvPr id="6" name="Shape 4"/>
          <p:cNvSpPr/>
          <p:nvPr/>
        </p:nvSpPr>
        <p:spPr>
          <a:xfrm>
            <a:off x="457200" y="1554480"/>
            <a:ext cx="2651760" cy="25603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7" name="Shape 5"/>
          <p:cNvSpPr/>
          <p:nvPr/>
        </p:nvSpPr>
        <p:spPr>
          <a:xfrm>
            <a:off x="457200" y="1554480"/>
            <a:ext cx="2651760" cy="54864"/>
          </a:xfrm>
          <a:prstGeom prst="rect">
            <a:avLst/>
          </a:prstGeom>
          <a:solidFill>
            <a:srgbClr val="0D9488"/>
          </a:solidFill>
          <a:ln/>
        </p:spPr>
        <p:txBody>
          <a:bodyPr/>
          <a:lstStyle/>
          <a:p>
            <a:endParaRPr lang="it-IT"/>
          </a:p>
        </p:txBody>
      </p:sp>
      <p:sp>
        <p:nvSpPr>
          <p:cNvPr id="8" name="Text 6"/>
          <p:cNvSpPr/>
          <p:nvPr/>
        </p:nvSpPr>
        <p:spPr>
          <a:xfrm>
            <a:off x="594360" y="1737360"/>
            <a:ext cx="2377440" cy="45720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Canali propri (owned)</a:t>
            </a:r>
            <a:endParaRPr lang="en-US" sz="1300" dirty="0"/>
          </a:p>
        </p:txBody>
      </p:sp>
      <p:sp>
        <p:nvSpPr>
          <p:cNvPr id="9" name="Text 7"/>
          <p:cNvSpPr/>
          <p:nvPr/>
        </p:nvSpPr>
        <p:spPr>
          <a:xfrm>
            <a:off x="594360" y="2286000"/>
            <a:ext cx="2377440" cy="13716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Sito web, blog SEO, email automatizzate, community clienti. Costano tempo, non denaro. Risultati crescenti.</a:t>
            </a:r>
            <a:endParaRPr lang="en-US" sz="1100" dirty="0"/>
          </a:p>
        </p:txBody>
      </p:sp>
      <p:sp>
        <p:nvSpPr>
          <p:cNvPr id="10" name="Shape 8"/>
          <p:cNvSpPr/>
          <p:nvPr/>
        </p:nvSpPr>
        <p:spPr>
          <a:xfrm>
            <a:off x="3337560" y="1554480"/>
            <a:ext cx="2651760" cy="25603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1" name="Shape 9"/>
          <p:cNvSpPr/>
          <p:nvPr/>
        </p:nvSpPr>
        <p:spPr>
          <a:xfrm>
            <a:off x="3337560" y="1554480"/>
            <a:ext cx="2651760" cy="54864"/>
          </a:xfrm>
          <a:prstGeom prst="rect">
            <a:avLst/>
          </a:prstGeom>
          <a:solidFill>
            <a:srgbClr val="1E3A5F"/>
          </a:solidFill>
          <a:ln/>
        </p:spPr>
        <p:txBody>
          <a:bodyPr/>
          <a:lstStyle/>
          <a:p>
            <a:endParaRPr lang="it-IT"/>
          </a:p>
        </p:txBody>
      </p:sp>
      <p:sp>
        <p:nvSpPr>
          <p:cNvPr id="12" name="Text 10"/>
          <p:cNvSpPr/>
          <p:nvPr/>
        </p:nvSpPr>
        <p:spPr>
          <a:xfrm>
            <a:off x="3474720" y="1737360"/>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Canali del partner (borrowed)</a:t>
            </a:r>
            <a:endParaRPr lang="en-US" sz="1300" dirty="0"/>
          </a:p>
        </p:txBody>
      </p:sp>
      <p:sp>
        <p:nvSpPr>
          <p:cNvPr id="13" name="Text 11"/>
          <p:cNvSpPr/>
          <p:nvPr/>
        </p:nvSpPr>
        <p:spPr>
          <a:xfrm>
            <a:off x="3474720" y="2286000"/>
            <a:ext cx="2377440" cy="13716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Network personale, masterclass, podcast settore, enti formazione. Impatto immediato, dipendono dalla relazione.</a:t>
            </a:r>
            <a:endParaRPr lang="en-US" sz="1100" dirty="0"/>
          </a:p>
        </p:txBody>
      </p:sp>
      <p:sp>
        <p:nvSpPr>
          <p:cNvPr id="14" name="Shape 12"/>
          <p:cNvSpPr/>
          <p:nvPr/>
        </p:nvSpPr>
        <p:spPr>
          <a:xfrm>
            <a:off x="6217920" y="1554480"/>
            <a:ext cx="2651760" cy="25603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5" name="Shape 13"/>
          <p:cNvSpPr/>
          <p:nvPr/>
        </p:nvSpPr>
        <p:spPr>
          <a:xfrm>
            <a:off x="6217920" y="1554480"/>
            <a:ext cx="2651760" cy="54864"/>
          </a:xfrm>
          <a:prstGeom prst="rect">
            <a:avLst/>
          </a:prstGeom>
          <a:solidFill>
            <a:srgbClr val="F96167"/>
          </a:solidFill>
          <a:ln/>
        </p:spPr>
        <p:txBody>
          <a:bodyPr/>
          <a:lstStyle/>
          <a:p>
            <a:endParaRPr lang="it-IT"/>
          </a:p>
        </p:txBody>
      </p:sp>
      <p:sp>
        <p:nvSpPr>
          <p:cNvPr id="16" name="Text 14"/>
          <p:cNvSpPr/>
          <p:nvPr/>
        </p:nvSpPr>
        <p:spPr>
          <a:xfrm>
            <a:off x="6355080" y="1737360"/>
            <a:ext cx="2377440" cy="457200"/>
          </a:xfrm>
          <a:prstGeom prst="rect">
            <a:avLst/>
          </a:prstGeom>
          <a:noFill/>
          <a:ln/>
        </p:spPr>
        <p:txBody>
          <a:bodyPr wrap="square" lIns="0" tIns="0" rIns="0" bIns="0" rtlCol="0" anchor="ctr"/>
          <a:lstStyle/>
          <a:p>
            <a:pPr marL="0" indent="0">
              <a:buNone/>
            </a:pPr>
            <a:r>
              <a:rPr lang="en-US" sz="1300" b="1" dirty="0">
                <a:solidFill>
                  <a:srgbClr val="F96167"/>
                </a:solidFill>
                <a:latin typeface="Calibri" pitchFamily="34" charset="0"/>
                <a:ea typeface="Calibri" pitchFamily="34" charset="-122"/>
                <a:cs typeface="Calibri" pitchFamily="34" charset="-120"/>
              </a:rPr>
              <a:t>Canali a pagamento (paid)</a:t>
            </a:r>
            <a:endParaRPr lang="en-US" sz="1300" dirty="0"/>
          </a:p>
        </p:txBody>
      </p:sp>
      <p:sp>
        <p:nvSpPr>
          <p:cNvPr id="17" name="Text 15"/>
          <p:cNvSpPr/>
          <p:nvPr/>
        </p:nvSpPr>
        <p:spPr>
          <a:xfrm>
            <a:off x="6355080" y="2286000"/>
            <a:ext cx="2377440" cy="13716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Solo dalla Fase 3 (mesi 7-12), budget €500-1.200/anno. Non il motore — un acceleratore.</a:t>
            </a:r>
            <a:endParaRPr lang="en-US" sz="1100" dirty="0"/>
          </a:p>
        </p:txBody>
      </p:sp>
      <p:sp>
        <p:nvSpPr>
          <p:cNvPr id="18" name="Text 1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22 / 56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8</a:t>
            </a:r>
            <a:endParaRPr lang="en-US" sz="800" dirty="0"/>
          </a:p>
        </p:txBody>
      </p:sp>
      <p:sp>
        <p:nvSpPr>
          <p:cNvPr id="3" name="Text 1"/>
          <p:cNvSpPr/>
          <p:nvPr/>
        </p:nvSpPr>
        <p:spPr>
          <a:xfrm>
            <a:off x="441434" y="35661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Budget marketing Anno 1 e asset pre-lancio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51560"/>
            <a:ext cx="182880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BUDGET</a:t>
            </a:r>
            <a:endParaRPr lang="en-US" sz="1000" dirty="0"/>
          </a:p>
        </p:txBody>
      </p:sp>
      <p:sp>
        <p:nvSpPr>
          <p:cNvPr id="6" name="Text 4"/>
          <p:cNvSpPr/>
          <p:nvPr/>
        </p:nvSpPr>
        <p:spPr>
          <a:xfrm>
            <a:off x="457200" y="1371600"/>
            <a:ext cx="2286000" cy="3200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Dominio + hosting</a:t>
            </a:r>
            <a:endParaRPr lang="en-US" sz="1100" dirty="0"/>
          </a:p>
        </p:txBody>
      </p:sp>
      <p:sp>
        <p:nvSpPr>
          <p:cNvPr id="7" name="Text 5"/>
          <p:cNvSpPr/>
          <p:nvPr/>
        </p:nvSpPr>
        <p:spPr>
          <a:xfrm>
            <a:off x="2743200" y="1371600"/>
            <a:ext cx="1371600" cy="320040"/>
          </a:xfrm>
          <a:prstGeom prst="rect">
            <a:avLst/>
          </a:prstGeom>
          <a:noFill/>
          <a:ln/>
        </p:spPr>
        <p:txBody>
          <a:bodyPr wrap="square" lIns="0" tIns="0" rIns="0" bIns="0" rtlCol="0" anchor="ctr"/>
          <a:lstStyle/>
          <a:p>
            <a:pPr marL="0" indent="0" algn="r">
              <a:buNone/>
            </a:pPr>
            <a:r>
              <a:rPr lang="en-US" sz="1100" dirty="0">
                <a:solidFill>
                  <a:srgbClr val="1E293B"/>
                </a:solidFill>
                <a:latin typeface="Calibri" pitchFamily="34" charset="0"/>
                <a:ea typeface="Calibri" pitchFamily="34" charset="-122"/>
                <a:cs typeface="Calibri" pitchFamily="34" charset="-120"/>
              </a:rPr>
              <a:t>€120/anno</a:t>
            </a:r>
            <a:endParaRPr lang="en-US" sz="1100" dirty="0"/>
          </a:p>
        </p:txBody>
      </p:sp>
      <p:sp>
        <p:nvSpPr>
          <p:cNvPr id="8" name="Text 6"/>
          <p:cNvSpPr/>
          <p:nvPr/>
        </p:nvSpPr>
        <p:spPr>
          <a:xfrm>
            <a:off x="457200" y="1737360"/>
            <a:ext cx="2286000" cy="3200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Email marketing</a:t>
            </a:r>
            <a:endParaRPr lang="en-US" sz="1100" dirty="0"/>
          </a:p>
        </p:txBody>
      </p:sp>
      <p:sp>
        <p:nvSpPr>
          <p:cNvPr id="9" name="Text 7"/>
          <p:cNvSpPr/>
          <p:nvPr/>
        </p:nvSpPr>
        <p:spPr>
          <a:xfrm>
            <a:off x="2743200" y="1737360"/>
            <a:ext cx="1371600" cy="320040"/>
          </a:xfrm>
          <a:prstGeom prst="rect">
            <a:avLst/>
          </a:prstGeom>
          <a:noFill/>
          <a:ln/>
        </p:spPr>
        <p:txBody>
          <a:bodyPr wrap="square" lIns="0" tIns="0" rIns="0" bIns="0" rtlCol="0" anchor="ctr"/>
          <a:lstStyle/>
          <a:p>
            <a:pPr marL="0" indent="0" algn="r">
              <a:buNone/>
            </a:pPr>
            <a:r>
              <a:rPr lang="en-US" sz="1100" dirty="0">
                <a:solidFill>
                  <a:srgbClr val="1E293B"/>
                </a:solidFill>
                <a:latin typeface="Calibri" pitchFamily="34" charset="0"/>
                <a:ea typeface="Calibri" pitchFamily="34" charset="-122"/>
                <a:cs typeface="Calibri" pitchFamily="34" charset="-120"/>
              </a:rPr>
              <a:t>€0-180/anno</a:t>
            </a:r>
            <a:endParaRPr lang="en-US" sz="1100" dirty="0"/>
          </a:p>
        </p:txBody>
      </p:sp>
      <p:sp>
        <p:nvSpPr>
          <p:cNvPr id="10" name="Text 8"/>
          <p:cNvSpPr/>
          <p:nvPr/>
        </p:nvSpPr>
        <p:spPr>
          <a:xfrm>
            <a:off x="457200" y="2103120"/>
            <a:ext cx="2286000" cy="3200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Video demo/testimonial</a:t>
            </a:r>
            <a:endParaRPr lang="en-US" sz="1100" dirty="0"/>
          </a:p>
        </p:txBody>
      </p:sp>
      <p:sp>
        <p:nvSpPr>
          <p:cNvPr id="11" name="Text 9"/>
          <p:cNvSpPr/>
          <p:nvPr/>
        </p:nvSpPr>
        <p:spPr>
          <a:xfrm>
            <a:off x="2743200" y="2103120"/>
            <a:ext cx="1371600" cy="320040"/>
          </a:xfrm>
          <a:prstGeom prst="rect">
            <a:avLst/>
          </a:prstGeom>
          <a:noFill/>
          <a:ln/>
        </p:spPr>
        <p:txBody>
          <a:bodyPr wrap="square" lIns="0" tIns="0" rIns="0" bIns="0" rtlCol="0" anchor="ctr"/>
          <a:lstStyle/>
          <a:p>
            <a:pPr marL="0" indent="0" algn="r">
              <a:buNone/>
            </a:pPr>
            <a:r>
              <a:rPr lang="en-US" sz="1100" dirty="0">
                <a:solidFill>
                  <a:srgbClr val="1E293B"/>
                </a:solidFill>
                <a:latin typeface="Calibri" pitchFamily="34" charset="0"/>
                <a:ea typeface="Calibri" pitchFamily="34" charset="-122"/>
                <a:cs typeface="Calibri" pitchFamily="34" charset="-120"/>
              </a:rPr>
              <a:t>€0-200</a:t>
            </a:r>
            <a:endParaRPr lang="en-US" sz="1100" dirty="0"/>
          </a:p>
        </p:txBody>
      </p:sp>
      <p:sp>
        <p:nvSpPr>
          <p:cNvPr id="12" name="Text 10"/>
          <p:cNvSpPr/>
          <p:nvPr/>
        </p:nvSpPr>
        <p:spPr>
          <a:xfrm>
            <a:off x="457200" y="2468880"/>
            <a:ext cx="2286000" cy="3200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Pubblicità (mesi 7-12)</a:t>
            </a:r>
            <a:endParaRPr lang="en-US" sz="1100" dirty="0"/>
          </a:p>
        </p:txBody>
      </p:sp>
      <p:sp>
        <p:nvSpPr>
          <p:cNvPr id="13" name="Text 11"/>
          <p:cNvSpPr/>
          <p:nvPr/>
        </p:nvSpPr>
        <p:spPr>
          <a:xfrm>
            <a:off x="2743200" y="2468880"/>
            <a:ext cx="1371600" cy="320040"/>
          </a:xfrm>
          <a:prstGeom prst="rect">
            <a:avLst/>
          </a:prstGeom>
          <a:noFill/>
          <a:ln/>
        </p:spPr>
        <p:txBody>
          <a:bodyPr wrap="square" lIns="0" tIns="0" rIns="0" bIns="0" rtlCol="0" anchor="ctr"/>
          <a:lstStyle/>
          <a:p>
            <a:pPr marL="0" indent="0" algn="r">
              <a:buNone/>
            </a:pPr>
            <a:r>
              <a:rPr lang="en-US" sz="1100" dirty="0">
                <a:solidFill>
                  <a:srgbClr val="1E293B"/>
                </a:solidFill>
                <a:latin typeface="Calibri" pitchFamily="34" charset="0"/>
                <a:ea typeface="Calibri" pitchFamily="34" charset="-122"/>
                <a:cs typeface="Calibri" pitchFamily="34" charset="-120"/>
              </a:rPr>
              <a:t>€300-500</a:t>
            </a:r>
            <a:endParaRPr lang="en-US" sz="1100" dirty="0"/>
          </a:p>
        </p:txBody>
      </p:sp>
      <p:sp>
        <p:nvSpPr>
          <p:cNvPr id="14" name="Text 12"/>
          <p:cNvSpPr/>
          <p:nvPr/>
        </p:nvSpPr>
        <p:spPr>
          <a:xfrm>
            <a:off x="457200" y="2834640"/>
            <a:ext cx="2286000" cy="32004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Totale Anno 1</a:t>
            </a:r>
            <a:endParaRPr lang="en-US" sz="1100" dirty="0"/>
          </a:p>
        </p:txBody>
      </p:sp>
      <p:sp>
        <p:nvSpPr>
          <p:cNvPr id="15" name="Text 13"/>
          <p:cNvSpPr/>
          <p:nvPr/>
        </p:nvSpPr>
        <p:spPr>
          <a:xfrm>
            <a:off x="2743200" y="2834640"/>
            <a:ext cx="1371600" cy="320040"/>
          </a:xfrm>
          <a:prstGeom prst="rect">
            <a:avLst/>
          </a:prstGeom>
          <a:noFill/>
          <a:ln/>
        </p:spPr>
        <p:txBody>
          <a:bodyPr wrap="square" lIns="0" tIns="0" rIns="0" bIns="0" rtlCol="0" anchor="ctr"/>
          <a:lstStyle/>
          <a:p>
            <a:pPr marL="0" indent="0" algn="r">
              <a:buNone/>
            </a:pPr>
            <a:r>
              <a:rPr lang="en-US" sz="1100" b="1" dirty="0">
                <a:solidFill>
                  <a:srgbClr val="0D9488"/>
                </a:solidFill>
                <a:latin typeface="Calibri" pitchFamily="34" charset="0"/>
                <a:ea typeface="Calibri" pitchFamily="34" charset="-122"/>
                <a:cs typeface="Calibri" pitchFamily="34" charset="-120"/>
              </a:rPr>
              <a:t>€120-880</a:t>
            </a:r>
            <a:endParaRPr lang="en-US" sz="1100" dirty="0"/>
          </a:p>
        </p:txBody>
      </p:sp>
      <p:sp>
        <p:nvSpPr>
          <p:cNvPr id="16" name="Text 14"/>
          <p:cNvSpPr/>
          <p:nvPr/>
        </p:nvSpPr>
        <p:spPr>
          <a:xfrm>
            <a:off x="4846320" y="1051560"/>
            <a:ext cx="411480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ASSET PRE-LANCIO</a:t>
            </a:r>
            <a:endParaRPr lang="en-US" sz="1000" dirty="0"/>
          </a:p>
        </p:txBody>
      </p:sp>
      <p:sp>
        <p:nvSpPr>
          <p:cNvPr id="17" name="Text 15"/>
          <p:cNvSpPr/>
          <p:nvPr/>
        </p:nvSpPr>
        <p:spPr>
          <a:xfrm>
            <a:off x="4846320" y="137160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Sito web / landing page</a:t>
            </a:r>
            <a:endParaRPr lang="en-US" sz="1000" dirty="0"/>
          </a:p>
        </p:txBody>
      </p:sp>
      <p:sp>
        <p:nvSpPr>
          <p:cNvPr id="18" name="Text 16"/>
          <p:cNvSpPr/>
          <p:nvPr/>
        </p:nvSpPr>
        <p:spPr>
          <a:xfrm>
            <a:off x="6858000" y="1371600"/>
            <a:ext cx="1005840" cy="320040"/>
          </a:xfrm>
          <a:prstGeom prst="rect">
            <a:avLst/>
          </a:prstGeom>
          <a:noFill/>
          <a:ln/>
        </p:spPr>
        <p:txBody>
          <a:bodyPr wrap="square" lIns="0" tIns="0" rIns="0" bIns="0" rtlCol="0" anchor="ctr"/>
          <a:lstStyle/>
          <a:p>
            <a:pPr marL="0" indent="0" algn="ctr">
              <a:buNone/>
            </a:pPr>
            <a:r>
              <a:rPr lang="en-US" sz="1000" dirty="0">
                <a:solidFill>
                  <a:srgbClr val="F96167"/>
                </a:solidFill>
                <a:latin typeface="Calibri" pitchFamily="34" charset="0"/>
                <a:ea typeface="Calibri" pitchFamily="34" charset="-122"/>
                <a:cs typeface="Calibri" pitchFamily="34" charset="-120"/>
              </a:rPr>
              <a:t>Da creare</a:t>
            </a:r>
            <a:endParaRPr lang="en-US" sz="1000" dirty="0"/>
          </a:p>
        </p:txBody>
      </p:sp>
      <p:sp>
        <p:nvSpPr>
          <p:cNvPr id="19" name="Text 17"/>
          <p:cNvSpPr/>
          <p:nvPr/>
        </p:nvSpPr>
        <p:spPr>
          <a:xfrm>
            <a:off x="7863840" y="1371600"/>
            <a:ext cx="822960" cy="320040"/>
          </a:xfrm>
          <a:prstGeom prst="rect">
            <a:avLst/>
          </a:prstGeom>
          <a:noFill/>
          <a:ln/>
        </p:spPr>
        <p:txBody>
          <a:bodyPr wrap="square" lIns="0" tIns="0" rIns="0" bIns="0" rtlCol="0" anchor="ctr"/>
          <a:lstStyle/>
          <a:p>
            <a:pPr marL="0" indent="0" algn="ctr">
              <a:buNone/>
            </a:pPr>
            <a:r>
              <a:rPr lang="en-US" sz="1000" b="1" dirty="0">
                <a:solidFill>
                  <a:srgbClr val="F96167"/>
                </a:solidFill>
                <a:latin typeface="Calibri" pitchFamily="34" charset="0"/>
                <a:ea typeface="Calibri" pitchFamily="34" charset="-122"/>
                <a:cs typeface="Calibri" pitchFamily="34" charset="-120"/>
              </a:rPr>
              <a:t>Critico</a:t>
            </a:r>
            <a:endParaRPr lang="en-US" sz="1000" dirty="0"/>
          </a:p>
        </p:txBody>
      </p:sp>
      <p:sp>
        <p:nvSpPr>
          <p:cNvPr id="20" name="Text 18"/>
          <p:cNvSpPr/>
          <p:nvPr/>
        </p:nvSpPr>
        <p:spPr>
          <a:xfrm>
            <a:off x="4846320" y="173736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Waiting list virale</a:t>
            </a:r>
            <a:endParaRPr lang="en-US" sz="1000" dirty="0"/>
          </a:p>
        </p:txBody>
      </p:sp>
      <p:sp>
        <p:nvSpPr>
          <p:cNvPr id="21" name="Text 19"/>
          <p:cNvSpPr/>
          <p:nvPr/>
        </p:nvSpPr>
        <p:spPr>
          <a:xfrm>
            <a:off x="6858000" y="1737360"/>
            <a:ext cx="1005840" cy="320040"/>
          </a:xfrm>
          <a:prstGeom prst="rect">
            <a:avLst/>
          </a:prstGeom>
          <a:noFill/>
          <a:ln/>
        </p:spPr>
        <p:txBody>
          <a:bodyPr wrap="square" lIns="0" tIns="0" rIns="0" bIns="0" rtlCol="0" anchor="ctr"/>
          <a:lstStyle/>
          <a:p>
            <a:pPr marL="0" indent="0" algn="ctr">
              <a:buNone/>
            </a:pPr>
            <a:r>
              <a:rPr lang="en-US" sz="1000" dirty="0">
                <a:solidFill>
                  <a:srgbClr val="F96167"/>
                </a:solidFill>
                <a:latin typeface="Calibri" pitchFamily="34" charset="0"/>
                <a:ea typeface="Calibri" pitchFamily="34" charset="-122"/>
                <a:cs typeface="Calibri" pitchFamily="34" charset="-120"/>
              </a:rPr>
              <a:t>Da creare</a:t>
            </a:r>
            <a:endParaRPr lang="en-US" sz="1000" dirty="0"/>
          </a:p>
        </p:txBody>
      </p:sp>
      <p:sp>
        <p:nvSpPr>
          <p:cNvPr id="22" name="Text 20"/>
          <p:cNvSpPr/>
          <p:nvPr/>
        </p:nvSpPr>
        <p:spPr>
          <a:xfrm>
            <a:off x="7863840" y="1737360"/>
            <a:ext cx="822960" cy="320040"/>
          </a:xfrm>
          <a:prstGeom prst="rect">
            <a:avLst/>
          </a:prstGeom>
          <a:noFill/>
          <a:ln/>
        </p:spPr>
        <p:txBody>
          <a:bodyPr wrap="square" lIns="0" tIns="0" rIns="0" bIns="0" rtlCol="0" anchor="ctr"/>
          <a:lstStyle/>
          <a:p>
            <a:pPr marL="0" indent="0" algn="ctr">
              <a:buNone/>
            </a:pPr>
            <a:r>
              <a:rPr lang="en-US" sz="1000" b="1" dirty="0">
                <a:solidFill>
                  <a:srgbClr val="F96167"/>
                </a:solidFill>
                <a:latin typeface="Calibri" pitchFamily="34" charset="0"/>
                <a:ea typeface="Calibri" pitchFamily="34" charset="-122"/>
                <a:cs typeface="Calibri" pitchFamily="34" charset="-120"/>
              </a:rPr>
              <a:t>Critico</a:t>
            </a:r>
            <a:endParaRPr lang="en-US" sz="1000" dirty="0"/>
          </a:p>
        </p:txBody>
      </p:sp>
      <p:sp>
        <p:nvSpPr>
          <p:cNvPr id="23" name="Text 21"/>
          <p:cNvSpPr/>
          <p:nvPr/>
        </p:nvSpPr>
        <p:spPr>
          <a:xfrm>
            <a:off x="4846320" y="210312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Video demo (3 min)</a:t>
            </a:r>
            <a:endParaRPr lang="en-US" sz="1000" dirty="0"/>
          </a:p>
        </p:txBody>
      </p:sp>
      <p:sp>
        <p:nvSpPr>
          <p:cNvPr id="24" name="Text 22"/>
          <p:cNvSpPr/>
          <p:nvPr/>
        </p:nvSpPr>
        <p:spPr>
          <a:xfrm>
            <a:off x="6858000" y="2103120"/>
            <a:ext cx="1005840" cy="320040"/>
          </a:xfrm>
          <a:prstGeom prst="rect">
            <a:avLst/>
          </a:prstGeom>
          <a:noFill/>
          <a:ln/>
        </p:spPr>
        <p:txBody>
          <a:bodyPr wrap="square" lIns="0" tIns="0" rIns="0" bIns="0" rtlCol="0" anchor="ctr"/>
          <a:lstStyle/>
          <a:p>
            <a:pPr marL="0" indent="0" algn="ctr">
              <a:buNone/>
            </a:pPr>
            <a:r>
              <a:rPr lang="en-US" sz="1000" dirty="0">
                <a:solidFill>
                  <a:srgbClr val="F96167"/>
                </a:solidFill>
                <a:latin typeface="Calibri" pitchFamily="34" charset="0"/>
                <a:ea typeface="Calibri" pitchFamily="34" charset="-122"/>
                <a:cs typeface="Calibri" pitchFamily="34" charset="-120"/>
              </a:rPr>
              <a:t>Da creare</a:t>
            </a:r>
            <a:endParaRPr lang="en-US" sz="1000" dirty="0"/>
          </a:p>
        </p:txBody>
      </p:sp>
      <p:sp>
        <p:nvSpPr>
          <p:cNvPr id="25" name="Text 23"/>
          <p:cNvSpPr/>
          <p:nvPr/>
        </p:nvSpPr>
        <p:spPr>
          <a:xfrm>
            <a:off x="7863840" y="2103120"/>
            <a:ext cx="822960" cy="32004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Alto</a:t>
            </a:r>
            <a:endParaRPr lang="en-US" sz="1000" dirty="0"/>
          </a:p>
        </p:txBody>
      </p:sp>
      <p:sp>
        <p:nvSpPr>
          <p:cNvPr id="26" name="Text 24"/>
          <p:cNvSpPr/>
          <p:nvPr/>
        </p:nvSpPr>
        <p:spPr>
          <a:xfrm>
            <a:off x="4846320" y="246888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Video teaser (60 sec)</a:t>
            </a:r>
            <a:endParaRPr lang="en-US" sz="1000" dirty="0"/>
          </a:p>
        </p:txBody>
      </p:sp>
      <p:sp>
        <p:nvSpPr>
          <p:cNvPr id="27" name="Text 25"/>
          <p:cNvSpPr/>
          <p:nvPr/>
        </p:nvSpPr>
        <p:spPr>
          <a:xfrm>
            <a:off x="6858000" y="2468880"/>
            <a:ext cx="1005840" cy="320040"/>
          </a:xfrm>
          <a:prstGeom prst="rect">
            <a:avLst/>
          </a:prstGeom>
          <a:noFill/>
          <a:ln/>
        </p:spPr>
        <p:txBody>
          <a:bodyPr wrap="square" lIns="0" tIns="0" rIns="0" bIns="0" rtlCol="0" anchor="ctr"/>
          <a:lstStyle/>
          <a:p>
            <a:pPr marL="0" indent="0" algn="ctr">
              <a:buNone/>
            </a:pPr>
            <a:r>
              <a:rPr lang="en-US" sz="1000" dirty="0">
                <a:solidFill>
                  <a:srgbClr val="F96167"/>
                </a:solidFill>
                <a:latin typeface="Calibri" pitchFamily="34" charset="0"/>
                <a:ea typeface="Calibri" pitchFamily="34" charset="-122"/>
                <a:cs typeface="Calibri" pitchFamily="34" charset="-120"/>
              </a:rPr>
              <a:t>Da creare</a:t>
            </a:r>
            <a:endParaRPr lang="en-US" sz="1000" dirty="0"/>
          </a:p>
        </p:txBody>
      </p:sp>
      <p:sp>
        <p:nvSpPr>
          <p:cNvPr id="28" name="Text 26"/>
          <p:cNvSpPr/>
          <p:nvPr/>
        </p:nvSpPr>
        <p:spPr>
          <a:xfrm>
            <a:off x="7863840" y="2468880"/>
            <a:ext cx="822960" cy="32004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Alto</a:t>
            </a:r>
            <a:endParaRPr lang="en-US" sz="1000" dirty="0"/>
          </a:p>
        </p:txBody>
      </p:sp>
      <p:sp>
        <p:nvSpPr>
          <p:cNvPr id="29" name="Text 27"/>
          <p:cNvSpPr/>
          <p:nvPr/>
        </p:nvSpPr>
        <p:spPr>
          <a:xfrm>
            <a:off x="4846320" y="283464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Screenshot professionali</a:t>
            </a:r>
            <a:endParaRPr lang="en-US" sz="1000" dirty="0"/>
          </a:p>
        </p:txBody>
      </p:sp>
      <p:sp>
        <p:nvSpPr>
          <p:cNvPr id="30" name="Text 28"/>
          <p:cNvSpPr/>
          <p:nvPr/>
        </p:nvSpPr>
        <p:spPr>
          <a:xfrm>
            <a:off x="6858000" y="2834640"/>
            <a:ext cx="1005840" cy="320040"/>
          </a:xfrm>
          <a:prstGeom prst="rect">
            <a:avLst/>
          </a:prstGeom>
          <a:noFill/>
          <a:ln/>
        </p:spPr>
        <p:txBody>
          <a:bodyPr wrap="square" lIns="0" tIns="0" rIns="0" bIns="0" rtlCol="0" anchor="ctr"/>
          <a:lstStyle/>
          <a:p>
            <a:pPr marL="0" indent="0" algn="ctr">
              <a:buNone/>
            </a:pPr>
            <a:r>
              <a:rPr lang="en-US" sz="1000" dirty="0">
                <a:solidFill>
                  <a:srgbClr val="F96167"/>
                </a:solidFill>
                <a:latin typeface="Calibri" pitchFamily="34" charset="0"/>
                <a:ea typeface="Calibri" pitchFamily="34" charset="-122"/>
                <a:cs typeface="Calibri" pitchFamily="34" charset="-120"/>
              </a:rPr>
              <a:t>Da creare</a:t>
            </a:r>
            <a:endParaRPr lang="en-US" sz="1000" dirty="0"/>
          </a:p>
        </p:txBody>
      </p:sp>
      <p:sp>
        <p:nvSpPr>
          <p:cNvPr id="31" name="Text 29"/>
          <p:cNvSpPr/>
          <p:nvPr/>
        </p:nvSpPr>
        <p:spPr>
          <a:xfrm>
            <a:off x="7863840" y="2834640"/>
            <a:ext cx="822960" cy="32004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Medio</a:t>
            </a:r>
            <a:endParaRPr lang="en-US" sz="1000" dirty="0"/>
          </a:p>
        </p:txBody>
      </p:sp>
      <p:sp>
        <p:nvSpPr>
          <p:cNvPr id="32" name="Text 30"/>
          <p:cNvSpPr/>
          <p:nvPr/>
        </p:nvSpPr>
        <p:spPr>
          <a:xfrm>
            <a:off x="4846320" y="3200400"/>
            <a:ext cx="2011680" cy="32004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Profilo LinkedIn attivo</a:t>
            </a:r>
            <a:endParaRPr lang="en-US" sz="1000" dirty="0"/>
          </a:p>
        </p:txBody>
      </p:sp>
      <p:sp>
        <p:nvSpPr>
          <p:cNvPr id="33" name="Text 31"/>
          <p:cNvSpPr/>
          <p:nvPr/>
        </p:nvSpPr>
        <p:spPr>
          <a:xfrm>
            <a:off x="6858000" y="3200400"/>
            <a:ext cx="1005840" cy="320040"/>
          </a:xfrm>
          <a:prstGeom prst="rect">
            <a:avLst/>
          </a:prstGeom>
          <a:noFill/>
          <a:ln/>
        </p:spPr>
        <p:txBody>
          <a:bodyPr wrap="square" lIns="0" tIns="0" rIns="0" bIns="0" rtlCol="0" anchor="ctr"/>
          <a:lstStyle/>
          <a:p>
            <a:pPr marL="0" indent="0" algn="ctr">
              <a:buNone/>
            </a:pPr>
            <a:r>
              <a:rPr lang="en-US" sz="1000" dirty="0">
                <a:solidFill>
                  <a:srgbClr val="F59E0B"/>
                </a:solidFill>
                <a:latin typeface="Calibri" pitchFamily="34" charset="0"/>
                <a:ea typeface="Calibri" pitchFamily="34" charset="-122"/>
                <a:cs typeface="Calibri" pitchFamily="34" charset="-120"/>
              </a:rPr>
              <a:t>Parziale</a:t>
            </a:r>
            <a:endParaRPr lang="en-US" sz="1000" dirty="0"/>
          </a:p>
        </p:txBody>
      </p:sp>
      <p:sp>
        <p:nvSpPr>
          <p:cNvPr id="34" name="Text 32"/>
          <p:cNvSpPr/>
          <p:nvPr/>
        </p:nvSpPr>
        <p:spPr>
          <a:xfrm>
            <a:off x="7863840" y="3200400"/>
            <a:ext cx="822960" cy="32004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Alto</a:t>
            </a:r>
            <a:endParaRPr lang="en-US" sz="1000" dirty="0"/>
          </a:p>
        </p:txBody>
      </p:sp>
      <p:sp>
        <p:nvSpPr>
          <p:cNvPr id="35" name="Shape 33"/>
          <p:cNvSpPr/>
          <p:nvPr/>
        </p:nvSpPr>
        <p:spPr>
          <a:xfrm>
            <a:off x="457200" y="3657600"/>
            <a:ext cx="8229600" cy="11887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36" name="Shape 34"/>
          <p:cNvSpPr/>
          <p:nvPr/>
        </p:nvSpPr>
        <p:spPr>
          <a:xfrm>
            <a:off x="457200" y="3657600"/>
            <a:ext cx="54864" cy="1188720"/>
          </a:xfrm>
          <a:prstGeom prst="rect">
            <a:avLst/>
          </a:prstGeom>
          <a:solidFill>
            <a:srgbClr val="0D9488"/>
          </a:solidFill>
          <a:ln/>
        </p:spPr>
        <p:txBody>
          <a:bodyPr/>
          <a:lstStyle/>
          <a:p>
            <a:endParaRPr lang="it-IT"/>
          </a:p>
        </p:txBody>
      </p:sp>
      <p:sp>
        <p:nvSpPr>
          <p:cNvPr id="37" name="Text 35"/>
          <p:cNvSpPr/>
          <p:nvPr/>
        </p:nvSpPr>
        <p:spPr>
          <a:xfrm>
            <a:off x="731520" y="3749040"/>
            <a:ext cx="7772400" cy="22860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MARKETING VIRALE NEL PRODOTTO</a:t>
            </a:r>
            <a:endParaRPr lang="en-US" sz="1000" dirty="0"/>
          </a:p>
        </p:txBody>
      </p:sp>
      <p:sp>
        <p:nvSpPr>
          <p:cNvPr id="38" name="Text 36"/>
          <p:cNvSpPr/>
          <p:nvPr/>
        </p:nvSpPr>
        <p:spPr>
          <a:xfrm>
            <a:off x="731520" y="4023360"/>
            <a:ext cx="7772400" cy="731520"/>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Ogni volta che un trainer invia il link anamnesi, il cliente vede "Powered by FitManager Studio+" nel footer. Con 30 trainer attivi e 20 clienti ciascuno = 600+ esposizioni/mese a costo zero. Il meccanismo cresce automaticamente.</a:t>
            </a:r>
            <a:endParaRPr lang="en-US" sz="1100" dirty="0"/>
          </a:p>
        </p:txBody>
      </p:sp>
      <p:sp>
        <p:nvSpPr>
          <p:cNvPr id="39" name="Text 37"/>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23 / 56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8</a:t>
            </a:r>
            <a:endParaRPr lang="en-US" sz="800" dirty="0"/>
          </a:p>
        </p:txBody>
      </p:sp>
      <p:sp>
        <p:nvSpPr>
          <p:cNvPr id="3" name="Text 1"/>
          <p:cNvSpPr/>
          <p:nvPr/>
        </p:nvSpPr>
        <p:spPr>
          <a:xfrm>
            <a:off x="457200" y="408642"/>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Risultati attesi per fase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9728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097280"/>
            <a:ext cx="54864" cy="777240"/>
          </a:xfrm>
          <a:prstGeom prst="rect">
            <a:avLst/>
          </a:prstGeom>
          <a:solidFill>
            <a:srgbClr val="475569"/>
          </a:solidFill>
          <a:ln/>
        </p:spPr>
        <p:txBody>
          <a:bodyPr/>
          <a:lstStyle/>
          <a:p>
            <a:endParaRPr lang="it-IT"/>
          </a:p>
        </p:txBody>
      </p:sp>
      <p:sp>
        <p:nvSpPr>
          <p:cNvPr id="7" name="Text 5"/>
          <p:cNvSpPr/>
          <p:nvPr/>
        </p:nvSpPr>
        <p:spPr>
          <a:xfrm>
            <a:off x="731520" y="1097280"/>
            <a:ext cx="1645920" cy="777240"/>
          </a:xfrm>
          <a:prstGeom prst="rect">
            <a:avLst/>
          </a:prstGeom>
          <a:noFill/>
          <a:ln/>
        </p:spPr>
        <p:txBody>
          <a:bodyPr wrap="square" lIns="0" tIns="0" rIns="0" bIns="0" rtlCol="0" anchor="ctr"/>
          <a:lstStyle/>
          <a:p>
            <a:pPr marL="0" indent="0">
              <a:buNone/>
            </a:pPr>
            <a:r>
              <a:rPr lang="en-US" sz="1400" b="1" dirty="0">
                <a:solidFill>
                  <a:srgbClr val="475569"/>
                </a:solidFill>
                <a:latin typeface="Calibri" pitchFamily="34" charset="0"/>
                <a:ea typeface="Calibri" pitchFamily="34" charset="-122"/>
                <a:cs typeface="Calibri" pitchFamily="34" charset="-120"/>
              </a:rPr>
              <a:t>Pre-lancio</a:t>
            </a:r>
            <a:endParaRPr lang="en-US" sz="1400" dirty="0"/>
          </a:p>
        </p:txBody>
      </p:sp>
      <p:sp>
        <p:nvSpPr>
          <p:cNvPr id="8" name="Text 6"/>
          <p:cNvSpPr/>
          <p:nvPr/>
        </p:nvSpPr>
        <p:spPr>
          <a:xfrm>
            <a:off x="2377440" y="1097280"/>
            <a:ext cx="1828800" cy="7772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4 sett. prima POC</a:t>
            </a:r>
            <a:endParaRPr lang="en-US" sz="1100" dirty="0"/>
          </a:p>
        </p:txBody>
      </p:sp>
      <p:sp>
        <p:nvSpPr>
          <p:cNvPr id="9" name="Text 7"/>
          <p:cNvSpPr/>
          <p:nvPr/>
        </p:nvSpPr>
        <p:spPr>
          <a:xfrm>
            <a:off x="4206240" y="1097280"/>
            <a:ext cx="2286000" cy="7772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50+ iscritti waiting list</a:t>
            </a:r>
            <a:endParaRPr lang="en-US" sz="1100" dirty="0"/>
          </a:p>
        </p:txBody>
      </p:sp>
      <p:sp>
        <p:nvSpPr>
          <p:cNvPr id="10" name="Text 8"/>
          <p:cNvSpPr/>
          <p:nvPr/>
        </p:nvSpPr>
        <p:spPr>
          <a:xfrm>
            <a:off x="6675120" y="1097280"/>
            <a:ext cx="1828800" cy="777240"/>
          </a:xfrm>
          <a:prstGeom prst="rect">
            <a:avLst/>
          </a:prstGeom>
          <a:noFill/>
          <a:ln/>
        </p:spPr>
        <p:txBody>
          <a:bodyPr wrap="square" lIns="0" tIns="0" rIns="0" bIns="0" rtlCol="0" anchor="ctr"/>
          <a:lstStyle/>
          <a:p>
            <a:pPr marL="0" indent="0" algn="ctr">
              <a:buNone/>
            </a:pPr>
            <a:r>
              <a:rPr lang="en-US" sz="1400" b="1" dirty="0">
                <a:solidFill>
                  <a:srgbClr val="475569"/>
                </a:solidFill>
                <a:latin typeface="Georgia" pitchFamily="34" charset="0"/>
                <a:ea typeface="Georgia" pitchFamily="34" charset="-122"/>
                <a:cs typeface="Georgia" pitchFamily="34" charset="-120"/>
              </a:rPr>
              <a:t>0</a:t>
            </a:r>
            <a:endParaRPr lang="en-US" sz="1400" dirty="0"/>
          </a:p>
        </p:txBody>
      </p:sp>
      <p:sp>
        <p:nvSpPr>
          <p:cNvPr id="11" name="Shape 9"/>
          <p:cNvSpPr/>
          <p:nvPr/>
        </p:nvSpPr>
        <p:spPr>
          <a:xfrm>
            <a:off x="457200" y="201168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2" name="Shape 10"/>
          <p:cNvSpPr/>
          <p:nvPr/>
        </p:nvSpPr>
        <p:spPr>
          <a:xfrm>
            <a:off x="457200" y="2011680"/>
            <a:ext cx="54864" cy="777240"/>
          </a:xfrm>
          <a:prstGeom prst="rect">
            <a:avLst/>
          </a:prstGeom>
          <a:solidFill>
            <a:srgbClr val="0D9488"/>
          </a:solidFill>
          <a:ln/>
        </p:spPr>
        <p:txBody>
          <a:bodyPr/>
          <a:lstStyle/>
          <a:p>
            <a:endParaRPr lang="it-IT"/>
          </a:p>
        </p:txBody>
      </p:sp>
      <p:sp>
        <p:nvSpPr>
          <p:cNvPr id="13" name="Text 11"/>
          <p:cNvSpPr/>
          <p:nvPr/>
        </p:nvSpPr>
        <p:spPr>
          <a:xfrm>
            <a:off x="731520" y="2011680"/>
            <a:ext cx="1645920" cy="77724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POC</a:t>
            </a:r>
            <a:endParaRPr lang="en-US" sz="1400" dirty="0"/>
          </a:p>
        </p:txBody>
      </p:sp>
      <p:sp>
        <p:nvSpPr>
          <p:cNvPr id="14" name="Text 12"/>
          <p:cNvSpPr/>
          <p:nvPr/>
        </p:nvSpPr>
        <p:spPr>
          <a:xfrm>
            <a:off x="2377440" y="2011680"/>
            <a:ext cx="1828800" cy="7772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Mesi 1-3</a:t>
            </a:r>
            <a:endParaRPr lang="en-US" sz="1100" dirty="0"/>
          </a:p>
        </p:txBody>
      </p:sp>
      <p:sp>
        <p:nvSpPr>
          <p:cNvPr id="15" name="Text 13"/>
          <p:cNvSpPr/>
          <p:nvPr/>
        </p:nvSpPr>
        <p:spPr>
          <a:xfrm>
            <a:off x="4206240" y="2011680"/>
            <a:ext cx="2286000" cy="7772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Focus 10 Fondatori</a:t>
            </a:r>
            <a:endParaRPr lang="en-US" sz="1100" dirty="0"/>
          </a:p>
        </p:txBody>
      </p:sp>
      <p:sp>
        <p:nvSpPr>
          <p:cNvPr id="16" name="Text 14"/>
          <p:cNvSpPr/>
          <p:nvPr/>
        </p:nvSpPr>
        <p:spPr>
          <a:xfrm>
            <a:off x="6675120" y="2011680"/>
            <a:ext cx="1828800" cy="777240"/>
          </a:xfrm>
          <a:prstGeom prst="rect">
            <a:avLst/>
          </a:prstGeom>
          <a:noFill/>
          <a:ln/>
        </p:spPr>
        <p:txBody>
          <a:bodyPr wrap="square" lIns="0" tIns="0" rIns="0" bIns="0" rtlCol="0" anchor="ctr"/>
          <a:lstStyle/>
          <a:p>
            <a:pPr marL="0" indent="0" algn="ctr">
              <a:buNone/>
            </a:pPr>
            <a:r>
              <a:rPr lang="en-US" sz="1400" b="1" dirty="0">
                <a:solidFill>
                  <a:srgbClr val="0D9488"/>
                </a:solidFill>
                <a:latin typeface="Georgia" pitchFamily="34" charset="0"/>
                <a:ea typeface="Georgia" pitchFamily="34" charset="-122"/>
                <a:cs typeface="Georgia" pitchFamily="34" charset="-120"/>
              </a:rPr>
              <a:t>10 (selezionati)</a:t>
            </a:r>
            <a:endParaRPr lang="en-US" sz="1400" dirty="0"/>
          </a:p>
        </p:txBody>
      </p:sp>
      <p:sp>
        <p:nvSpPr>
          <p:cNvPr id="17" name="Shape 15"/>
          <p:cNvSpPr/>
          <p:nvPr/>
        </p:nvSpPr>
        <p:spPr>
          <a:xfrm>
            <a:off x="457200" y="292608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8" name="Shape 16"/>
          <p:cNvSpPr/>
          <p:nvPr/>
        </p:nvSpPr>
        <p:spPr>
          <a:xfrm>
            <a:off x="457200" y="2926080"/>
            <a:ext cx="54864" cy="777240"/>
          </a:xfrm>
          <a:prstGeom prst="rect">
            <a:avLst/>
          </a:prstGeom>
          <a:solidFill>
            <a:srgbClr val="0A7A70"/>
          </a:solidFill>
          <a:ln/>
        </p:spPr>
        <p:txBody>
          <a:bodyPr/>
          <a:lstStyle/>
          <a:p>
            <a:endParaRPr lang="it-IT"/>
          </a:p>
        </p:txBody>
      </p:sp>
      <p:sp>
        <p:nvSpPr>
          <p:cNvPr id="19" name="Text 17"/>
          <p:cNvSpPr/>
          <p:nvPr/>
        </p:nvSpPr>
        <p:spPr>
          <a:xfrm>
            <a:off x="731520" y="2926080"/>
            <a:ext cx="1645920" cy="777240"/>
          </a:xfrm>
          <a:prstGeom prst="rect">
            <a:avLst/>
          </a:prstGeom>
          <a:noFill/>
          <a:ln/>
        </p:spPr>
        <p:txBody>
          <a:bodyPr wrap="square" lIns="0" tIns="0" rIns="0" bIns="0" rtlCol="0" anchor="ctr"/>
          <a:lstStyle/>
          <a:p>
            <a:pPr marL="0" indent="0">
              <a:buNone/>
            </a:pPr>
            <a:r>
              <a:rPr lang="en-US" sz="1400" b="1" dirty="0">
                <a:solidFill>
                  <a:srgbClr val="0A7A70"/>
                </a:solidFill>
                <a:latin typeface="Calibri" pitchFamily="34" charset="0"/>
                <a:ea typeface="Calibri" pitchFamily="34" charset="-122"/>
                <a:cs typeface="Calibri" pitchFamily="34" charset="-120"/>
              </a:rPr>
              <a:t>Early Adopter</a:t>
            </a:r>
            <a:endParaRPr lang="en-US" sz="1400" dirty="0"/>
          </a:p>
        </p:txBody>
      </p:sp>
      <p:sp>
        <p:nvSpPr>
          <p:cNvPr id="20" name="Text 18"/>
          <p:cNvSpPr/>
          <p:nvPr/>
        </p:nvSpPr>
        <p:spPr>
          <a:xfrm>
            <a:off x="2377440" y="2926080"/>
            <a:ext cx="1828800" cy="7772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Mesi 4-6</a:t>
            </a:r>
            <a:endParaRPr lang="en-US" sz="1100" dirty="0"/>
          </a:p>
        </p:txBody>
      </p:sp>
      <p:sp>
        <p:nvSpPr>
          <p:cNvPr id="21" name="Text 19"/>
          <p:cNvSpPr/>
          <p:nvPr/>
        </p:nvSpPr>
        <p:spPr>
          <a:xfrm>
            <a:off x="4206240" y="2926080"/>
            <a:ext cx="2286000" cy="7772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15-25/mese</a:t>
            </a:r>
            <a:endParaRPr lang="en-US" sz="1100" dirty="0"/>
          </a:p>
        </p:txBody>
      </p:sp>
      <p:sp>
        <p:nvSpPr>
          <p:cNvPr id="22" name="Text 20"/>
          <p:cNvSpPr/>
          <p:nvPr/>
        </p:nvSpPr>
        <p:spPr>
          <a:xfrm>
            <a:off x="6675120" y="2926080"/>
            <a:ext cx="1828800" cy="777240"/>
          </a:xfrm>
          <a:prstGeom prst="rect">
            <a:avLst/>
          </a:prstGeom>
          <a:noFill/>
          <a:ln/>
        </p:spPr>
        <p:txBody>
          <a:bodyPr wrap="square" lIns="0" tIns="0" rIns="0" bIns="0" rtlCol="0" anchor="ctr"/>
          <a:lstStyle/>
          <a:p>
            <a:pPr marL="0" indent="0" algn="ctr">
              <a:buNone/>
            </a:pPr>
            <a:r>
              <a:rPr lang="en-US" sz="1400" b="1" dirty="0">
                <a:solidFill>
                  <a:srgbClr val="0A7A70"/>
                </a:solidFill>
                <a:latin typeface="Georgia" pitchFamily="34" charset="0"/>
                <a:ea typeface="Georgia" pitchFamily="34" charset="-122"/>
                <a:cs typeface="Georgia" pitchFamily="34" charset="-120"/>
              </a:rPr>
              <a:t>2-3/mese</a:t>
            </a:r>
            <a:endParaRPr lang="en-US" sz="1400" dirty="0"/>
          </a:p>
        </p:txBody>
      </p:sp>
      <p:sp>
        <p:nvSpPr>
          <p:cNvPr id="23" name="Shape 21"/>
          <p:cNvSpPr/>
          <p:nvPr/>
        </p:nvSpPr>
        <p:spPr>
          <a:xfrm>
            <a:off x="457200" y="384048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24" name="Shape 22"/>
          <p:cNvSpPr/>
          <p:nvPr/>
        </p:nvSpPr>
        <p:spPr>
          <a:xfrm>
            <a:off x="457200" y="3840480"/>
            <a:ext cx="54864" cy="777240"/>
          </a:xfrm>
          <a:prstGeom prst="rect">
            <a:avLst/>
          </a:prstGeom>
          <a:solidFill>
            <a:srgbClr val="1E3A5F"/>
          </a:solidFill>
          <a:ln/>
        </p:spPr>
        <p:txBody>
          <a:bodyPr/>
          <a:lstStyle/>
          <a:p>
            <a:endParaRPr lang="it-IT"/>
          </a:p>
        </p:txBody>
      </p:sp>
      <p:sp>
        <p:nvSpPr>
          <p:cNvPr id="25" name="Text 23"/>
          <p:cNvSpPr/>
          <p:nvPr/>
        </p:nvSpPr>
        <p:spPr>
          <a:xfrm>
            <a:off x="731520" y="3840480"/>
            <a:ext cx="1645920" cy="777240"/>
          </a:xfrm>
          <a:prstGeom prst="rect">
            <a:avLst/>
          </a:prstGeom>
          <a:noFill/>
          <a:ln/>
        </p:spPr>
        <p:txBody>
          <a:bodyPr wrap="square" lIns="0" tIns="0" rIns="0" bIns="0" rtlCol="0" anchor="ctr"/>
          <a:lstStyle/>
          <a:p>
            <a:pPr marL="0" indent="0">
              <a:buNone/>
            </a:pPr>
            <a:r>
              <a:rPr lang="en-US" sz="1400" b="1" dirty="0">
                <a:solidFill>
                  <a:srgbClr val="1E3A5F"/>
                </a:solidFill>
                <a:latin typeface="Calibri" pitchFamily="34" charset="0"/>
                <a:ea typeface="Calibri" pitchFamily="34" charset="-122"/>
                <a:cs typeface="Calibri" pitchFamily="34" charset="-120"/>
              </a:rPr>
              <a:t>Prezzo pieno</a:t>
            </a:r>
            <a:endParaRPr lang="en-US" sz="1400" dirty="0"/>
          </a:p>
        </p:txBody>
      </p:sp>
      <p:sp>
        <p:nvSpPr>
          <p:cNvPr id="26" name="Text 24"/>
          <p:cNvSpPr/>
          <p:nvPr/>
        </p:nvSpPr>
        <p:spPr>
          <a:xfrm>
            <a:off x="2377440" y="3840480"/>
            <a:ext cx="1828800" cy="7772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Mesi 7-12</a:t>
            </a:r>
            <a:endParaRPr lang="en-US" sz="1100" dirty="0"/>
          </a:p>
        </p:txBody>
      </p:sp>
      <p:sp>
        <p:nvSpPr>
          <p:cNvPr id="27" name="Text 25"/>
          <p:cNvSpPr/>
          <p:nvPr/>
        </p:nvSpPr>
        <p:spPr>
          <a:xfrm>
            <a:off x="4206240" y="3840480"/>
            <a:ext cx="2286000" cy="7772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22-35/mese</a:t>
            </a:r>
            <a:endParaRPr lang="en-US" sz="1100" dirty="0"/>
          </a:p>
        </p:txBody>
      </p:sp>
      <p:sp>
        <p:nvSpPr>
          <p:cNvPr id="28" name="Text 26"/>
          <p:cNvSpPr/>
          <p:nvPr/>
        </p:nvSpPr>
        <p:spPr>
          <a:xfrm>
            <a:off x="6675120" y="3840480"/>
            <a:ext cx="1828800" cy="777240"/>
          </a:xfrm>
          <a:prstGeom prst="rect">
            <a:avLst/>
          </a:prstGeom>
          <a:noFill/>
          <a:ln/>
        </p:spPr>
        <p:txBody>
          <a:bodyPr wrap="square" lIns="0" tIns="0" rIns="0" bIns="0" rtlCol="0" anchor="ctr"/>
          <a:lstStyle/>
          <a:p>
            <a:pPr marL="0" indent="0" algn="ctr">
              <a:buNone/>
            </a:pPr>
            <a:r>
              <a:rPr lang="en-US" sz="1400" b="1" dirty="0">
                <a:solidFill>
                  <a:srgbClr val="1E3A5F"/>
                </a:solidFill>
                <a:latin typeface="Georgia" pitchFamily="34" charset="0"/>
                <a:ea typeface="Georgia" pitchFamily="34" charset="-122"/>
                <a:cs typeface="Georgia" pitchFamily="34" charset="-120"/>
              </a:rPr>
              <a:t>3-5/mese</a:t>
            </a:r>
            <a:endParaRPr lang="en-US" sz="1400" dirty="0"/>
          </a:p>
        </p:txBody>
      </p:sp>
      <p:sp>
        <p:nvSpPr>
          <p:cNvPr id="29" name="Text 27"/>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24 / 56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9</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La Proof of Concept</a:t>
            </a:r>
            <a:endParaRPr lang="en-US" sz="4000" dirty="0"/>
          </a:p>
        </p:txBody>
      </p:sp>
      <p:sp>
        <p:nvSpPr>
          <p:cNvPr id="5" name="Text 3"/>
          <p:cNvSpPr/>
          <p:nvPr/>
        </p:nvSpPr>
        <p:spPr>
          <a:xfrm>
            <a:off x="457200" y="256032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Non vendiamo subito. Prima dimostriamo — il pacchetto completo.</a:t>
            </a:r>
            <a:endParaRPr lang="en-US" sz="1600" dirty="0"/>
          </a:p>
        </p:txBody>
      </p:sp>
      <p:sp>
        <p:nvSpPr>
          <p:cNvPr id="6" name="Text 4"/>
          <p:cNvSpPr/>
          <p:nvPr/>
        </p:nvSpPr>
        <p:spPr>
          <a:xfrm>
            <a:off x="457200" y="3383280"/>
            <a:ext cx="7772400" cy="990080"/>
          </a:xfrm>
          <a:prstGeom prst="rect">
            <a:avLst/>
          </a:prstGeom>
          <a:noFill/>
          <a:ln/>
        </p:spPr>
        <p:txBody>
          <a:bodyPr wrap="square" rtlCol="0" anchor="ctr"/>
          <a:lstStyle/>
          <a:p>
            <a:pPr marL="0" indent="0">
              <a:buNone/>
            </a:pPr>
            <a:r>
              <a:rPr lang="en-US" sz="1300" dirty="0">
                <a:solidFill>
                  <a:srgbClr val="94A3B8"/>
                </a:solidFill>
                <a:latin typeface="Calibri" pitchFamily="34" charset="0"/>
                <a:ea typeface="Calibri" pitchFamily="34" charset="-122"/>
                <a:cs typeface="Calibri" pitchFamily="34" charset="-120"/>
              </a:rPr>
              <a:t>I primi 10 non sono solo tester del software. Sono i primi studenti del Metodo PT Evoluto. La POC valida simultaneamente il prodotto, la categoria professionale, la community, e il ruolo dell'Industry Partner.</a:t>
            </a:r>
            <a:endParaRPr lang="en-US" sz="1300" dirty="0"/>
          </a:p>
          <a:p>
            <a:pPr>
              <a:spcBef>
                <a:spcPts val="800"/>
              </a:spcBef>
            </a:pPr>
            <a:r>
              <a:rPr sz="1300" b="1">
                <a:solidFill>
                  <a:srgbClr val="14B8A6"/>
                </a:solidFill>
              </a:rPr>
              <a:t>La comunicazione WhatsApp è attiva dal giorno uno. È la prima feature che i Fondatori usano — non serve imparare il sistema per trarne valore immediato.</a:t>
            </a:r>
          </a:p>
        </p:txBody>
      </p:sp>
      <p:sp>
        <p:nvSpPr>
          <p:cNvPr id="7" name="Text 5"/>
          <p:cNvSpPr/>
          <p:nvPr/>
        </p:nvSpPr>
        <p:spPr>
          <a:xfrm>
            <a:off x="457200" y="4281920"/>
            <a:ext cx="7315200" cy="365760"/>
          </a:xfrm>
          <a:prstGeom prst="rect">
            <a:avLst/>
          </a:prstGeom>
          <a:noFill/>
          <a:ln/>
        </p:spPr>
        <p:txBody>
          <a:bodyPr wrap="square" rtlCol="0" anchor="ctr"/>
          <a:lstStyle/>
          <a:p>
            <a:pPr marL="0" indent="0">
              <a:buNone/>
            </a:pPr>
            <a:r>
              <a:rPr lang="en-US" sz="1400" b="1" dirty="0">
                <a:solidFill>
                  <a:srgbClr val="F96167"/>
                </a:solidFill>
                <a:latin typeface="Calibri" pitchFamily="34" charset="0"/>
                <a:ea typeface="Calibri" pitchFamily="34" charset="-122"/>
                <a:cs typeface="Calibri" pitchFamily="34" charset="-120"/>
              </a:rPr>
              <a:t>Se non funziona, lo scopriamo con 10 persone e ~€1.000.</a:t>
            </a:r>
            <a:endParaRPr lang="en-US" sz="1400" dirty="0"/>
          </a:p>
        </p:txBody>
      </p:sp>
      <p:sp>
        <p:nvSpPr>
          <p:cNvPr id="8" name="Text 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25 / 56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9</a:t>
            </a:r>
            <a:endParaRPr lang="en-US" sz="800" dirty="0"/>
          </a:p>
        </p:txBody>
      </p:sp>
      <p:sp>
        <p:nvSpPr>
          <p:cNvPr id="3" name="Text 1"/>
          <p:cNvSpPr/>
          <p:nvPr/>
        </p:nvSpPr>
        <p:spPr>
          <a:xfrm>
            <a:off x="457200" y="40233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Cosa ricevono i 10 Fondatori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365760"/>
          </a:xfrm>
          <a:prstGeom prst="rect">
            <a:avLst/>
          </a:prstGeom>
          <a:noFill/>
          <a:ln/>
        </p:spPr>
        <p:txBody>
          <a:bodyPr wrap="square"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I Fondatori non ricevono solo il software. Ricevono il percorso completo per 12 mesi:</a:t>
            </a:r>
            <a:endParaRPr lang="en-US" sz="1200" dirty="0"/>
          </a:p>
        </p:txBody>
      </p:sp>
      <p:sp>
        <p:nvSpPr>
          <p:cNvPr id="6" name="Shape 4"/>
          <p:cNvSpPr/>
          <p:nvPr/>
        </p:nvSpPr>
        <p:spPr>
          <a:xfrm>
            <a:off x="457200" y="1463040"/>
            <a:ext cx="8229600" cy="594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7" name="Image 0" descr="preencoded.png"/>
          <p:cNvPicPr>
            <a:picLocks noChangeAspect="1"/>
          </p:cNvPicPr>
          <p:nvPr/>
        </p:nvPicPr>
        <p:blipFill>
          <a:blip r:embed="rId3"/>
          <a:stretch>
            <a:fillRect/>
          </a:stretch>
        </p:blipFill>
        <p:spPr>
          <a:xfrm>
            <a:off x="640080" y="1572768"/>
            <a:ext cx="320040" cy="320040"/>
          </a:xfrm>
          <a:prstGeom prst="rect">
            <a:avLst/>
          </a:prstGeom>
        </p:spPr>
      </p:pic>
      <p:sp>
        <p:nvSpPr>
          <p:cNvPr id="8" name="Text 5"/>
          <p:cNvSpPr/>
          <p:nvPr/>
        </p:nvSpPr>
        <p:spPr>
          <a:xfrm>
            <a:off x="1188720" y="1463040"/>
            <a:ext cx="2286000" cy="59436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Software o Box</a:t>
            </a:r>
            <a:endParaRPr lang="en-US" sz="1200" dirty="0"/>
          </a:p>
        </p:txBody>
      </p:sp>
      <p:sp>
        <p:nvSpPr>
          <p:cNvPr id="9" name="Text 6"/>
          <p:cNvSpPr/>
          <p:nvPr/>
        </p:nvSpPr>
        <p:spPr>
          <a:xfrm>
            <a:off x="3474720" y="1463040"/>
            <a:ext cx="5029200" cy="5943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8 ricevono la licenza (€99), 2 ricevono la Box (€199)</a:t>
            </a:r>
            <a:endParaRPr lang="en-US" sz="1100" dirty="0"/>
          </a:p>
        </p:txBody>
      </p:sp>
      <p:sp>
        <p:nvSpPr>
          <p:cNvPr id="10" name="Shape 7"/>
          <p:cNvSpPr/>
          <p:nvPr/>
        </p:nvSpPr>
        <p:spPr>
          <a:xfrm>
            <a:off x="457200" y="2148840"/>
            <a:ext cx="8229600" cy="594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1" name="Image 1" descr="preencoded.png"/>
          <p:cNvPicPr>
            <a:picLocks noChangeAspect="1"/>
          </p:cNvPicPr>
          <p:nvPr/>
        </p:nvPicPr>
        <p:blipFill>
          <a:blip r:embed="rId4"/>
          <a:stretch>
            <a:fillRect/>
          </a:stretch>
        </p:blipFill>
        <p:spPr>
          <a:xfrm>
            <a:off x="640080" y="2258568"/>
            <a:ext cx="320040" cy="320040"/>
          </a:xfrm>
          <a:prstGeom prst="rect">
            <a:avLst/>
          </a:prstGeom>
        </p:spPr>
      </p:pic>
      <p:sp>
        <p:nvSpPr>
          <p:cNvPr id="12" name="Text 8"/>
          <p:cNvSpPr/>
          <p:nvPr/>
        </p:nvSpPr>
        <p:spPr>
          <a:xfrm>
            <a:off x="1188720" y="2148840"/>
            <a:ext cx="2286000" cy="59436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Inner Circle 12 mesi</a:t>
            </a:r>
            <a:endParaRPr lang="en-US" sz="1200" dirty="0"/>
          </a:p>
        </p:txBody>
      </p:sp>
      <p:sp>
        <p:nvSpPr>
          <p:cNvPr id="13" name="Text 9"/>
          <p:cNvSpPr/>
          <p:nvPr/>
        </p:nvSpPr>
        <p:spPr>
          <a:xfrm>
            <a:off x="3474720" y="2148840"/>
            <a:ext cx="5029200" cy="5943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Masterclass, webinar, mastermind — incluso, non extra</a:t>
            </a:r>
            <a:endParaRPr lang="en-US" sz="1100" dirty="0"/>
          </a:p>
        </p:txBody>
      </p:sp>
      <p:sp>
        <p:nvSpPr>
          <p:cNvPr id="14" name="Shape 10"/>
          <p:cNvSpPr/>
          <p:nvPr/>
        </p:nvSpPr>
        <p:spPr>
          <a:xfrm>
            <a:off x="457200" y="2834640"/>
            <a:ext cx="8229600" cy="594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5" name="Image 2" descr="preencoded.png"/>
          <p:cNvPicPr>
            <a:picLocks noChangeAspect="1"/>
          </p:cNvPicPr>
          <p:nvPr/>
        </p:nvPicPr>
        <p:blipFill>
          <a:blip r:embed="rId5"/>
          <a:stretch>
            <a:fillRect/>
          </a:stretch>
        </p:blipFill>
        <p:spPr>
          <a:xfrm>
            <a:off x="640080" y="2944368"/>
            <a:ext cx="320040" cy="320040"/>
          </a:xfrm>
          <a:prstGeom prst="rect">
            <a:avLst/>
          </a:prstGeom>
        </p:spPr>
      </p:pic>
      <p:sp>
        <p:nvSpPr>
          <p:cNvPr id="16" name="Text 11"/>
          <p:cNvSpPr/>
          <p:nvPr/>
        </p:nvSpPr>
        <p:spPr>
          <a:xfrm>
            <a:off x="1188720" y="2834640"/>
            <a:ext cx="2286000" cy="59436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Community Fondatori</a:t>
            </a:r>
            <a:endParaRPr lang="en-US" sz="1200" dirty="0"/>
          </a:p>
        </p:txBody>
      </p:sp>
      <p:sp>
        <p:nvSpPr>
          <p:cNvPr id="17" name="Text 12"/>
          <p:cNvSpPr/>
          <p:nvPr/>
        </p:nvSpPr>
        <p:spPr>
          <a:xfrm>
            <a:off x="3474720" y="2834640"/>
            <a:ext cx="5029200" cy="5943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Canale riservato per feedback, idee, supporto</a:t>
            </a:r>
            <a:endParaRPr lang="en-US" sz="1100" dirty="0"/>
          </a:p>
        </p:txBody>
      </p:sp>
      <p:sp>
        <p:nvSpPr>
          <p:cNvPr id="18" name="Shape 13"/>
          <p:cNvSpPr/>
          <p:nvPr/>
        </p:nvSpPr>
        <p:spPr>
          <a:xfrm>
            <a:off x="457200" y="3520440"/>
            <a:ext cx="8229600" cy="5943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9" name="Image 3" descr="preencoded.png"/>
          <p:cNvPicPr>
            <a:picLocks noChangeAspect="1"/>
          </p:cNvPicPr>
          <p:nvPr/>
        </p:nvPicPr>
        <p:blipFill>
          <a:blip r:embed="rId6"/>
          <a:stretch>
            <a:fillRect/>
          </a:stretch>
        </p:blipFill>
        <p:spPr>
          <a:xfrm>
            <a:off x="640080" y="3630168"/>
            <a:ext cx="320040" cy="320040"/>
          </a:xfrm>
          <a:prstGeom prst="rect">
            <a:avLst/>
          </a:prstGeom>
        </p:spPr>
      </p:pic>
      <p:sp>
        <p:nvSpPr>
          <p:cNvPr id="20" name="Text 14"/>
          <p:cNvSpPr/>
          <p:nvPr/>
        </p:nvSpPr>
        <p:spPr>
          <a:xfrm>
            <a:off x="1188720" y="3520440"/>
            <a:ext cx="2286000" cy="59436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Installazione assistita</a:t>
            </a:r>
            <a:endParaRPr lang="en-US" sz="1200" dirty="0"/>
          </a:p>
        </p:txBody>
      </p:sp>
      <p:sp>
        <p:nvSpPr>
          <p:cNvPr id="21" name="Text 15"/>
          <p:cNvSpPr/>
          <p:nvPr/>
        </p:nvSpPr>
        <p:spPr>
          <a:xfrm>
            <a:off x="3474720" y="3520440"/>
            <a:ext cx="5029200" cy="5943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Setup 1:1 con il founder</a:t>
            </a:r>
            <a:endParaRPr lang="en-US" sz="1100" dirty="0"/>
          </a:p>
        </p:txBody>
      </p:sp>
      <p:sp>
        <p:nvSpPr>
          <p:cNvPr id="22" name="Shape 16"/>
          <p:cNvSpPr/>
          <p:nvPr/>
        </p:nvSpPr>
        <p:spPr>
          <a:xfrm>
            <a:off x="457200" y="4160520"/>
            <a:ext cx="8229600" cy="731520"/>
          </a:xfrm>
          <a:prstGeom prst="rect">
            <a:avLst/>
          </a:prstGeom>
          <a:solidFill>
            <a:srgbClr val="E6FAF5"/>
          </a:solidFill>
          <a:ln/>
        </p:spPr>
        <p:txBody>
          <a:bodyPr/>
          <a:lstStyle/>
          <a:p>
            <a:endParaRPr lang="it-IT"/>
          </a:p>
        </p:txBody>
      </p:sp>
      <p:sp>
        <p:nvSpPr>
          <p:cNvPr id="23" name="Text 17"/>
          <p:cNvSpPr/>
          <p:nvPr/>
        </p:nvSpPr>
        <p:spPr>
          <a:xfrm>
            <a:off x="640080" y="4206240"/>
            <a:ext cx="7772400" cy="640080"/>
          </a:xfrm>
          <a:prstGeom prst="rect">
            <a:avLst/>
          </a:prstGeom>
          <a:noFill/>
          <a:ln/>
        </p:spPr>
        <p:txBody>
          <a:bodyPr wrap="square" rtlCol="0" anchor="ctr"/>
          <a:lstStyle/>
          <a:p>
            <a:pPr marL="0" indent="0">
              <a:buNone/>
            </a:pPr>
            <a:r>
              <a:rPr lang="en-US" sz="1200" b="1" dirty="0">
                <a:solidFill>
                  <a:srgbClr val="0A7A70"/>
                </a:solidFill>
                <a:latin typeface="Calibri" pitchFamily="34" charset="0"/>
                <a:ea typeface="Calibri" pitchFamily="34" charset="-122"/>
                <a:cs typeface="Calibri" pitchFamily="34" charset="-120"/>
              </a:rPr>
              <a:t>Valore reale del pacchetto: €498 (licenza) / €698 (Box). I Fondatori lo ottengono a €99 / €199 perché sono l'investimento più importante del progetto.</a:t>
            </a:r>
            <a:endParaRPr lang="en-US" sz="1200" dirty="0"/>
          </a:p>
        </p:txBody>
      </p:sp>
      <p:sp>
        <p:nvSpPr>
          <p:cNvPr id="24" name="Text 18"/>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26 / 56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9</a:t>
            </a:r>
            <a:endParaRPr lang="en-US" sz="800" dirty="0"/>
          </a:p>
        </p:txBody>
      </p:sp>
      <p:sp>
        <p:nvSpPr>
          <p:cNvPr id="3" name="Text 1"/>
          <p:cNvSpPr/>
          <p:nvPr/>
        </p:nvSpPr>
        <p:spPr>
          <a:xfrm>
            <a:off x="457200" y="34763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Il protocollo: prodotto + formazione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051560"/>
            <a:ext cx="73152" cy="777240"/>
          </a:xfrm>
          <a:prstGeom prst="rect">
            <a:avLst/>
          </a:prstGeom>
          <a:solidFill>
            <a:srgbClr val="14B8A6"/>
          </a:solidFill>
          <a:ln/>
        </p:spPr>
        <p:txBody>
          <a:bodyPr/>
          <a:lstStyle/>
          <a:p>
            <a:endParaRPr lang="it-IT"/>
          </a:p>
        </p:txBody>
      </p:sp>
      <p:sp>
        <p:nvSpPr>
          <p:cNvPr id="7" name="Text 5"/>
          <p:cNvSpPr/>
          <p:nvPr/>
        </p:nvSpPr>
        <p:spPr>
          <a:xfrm>
            <a:off x="731520" y="1097280"/>
            <a:ext cx="4572000" cy="274320"/>
          </a:xfrm>
          <a:prstGeom prst="rect">
            <a:avLst/>
          </a:prstGeom>
          <a:noFill/>
          <a:ln/>
        </p:spPr>
        <p:txBody>
          <a:bodyPr wrap="square" lIns="0" tIns="0" rIns="0" bIns="0" rtlCol="0" anchor="ctr"/>
          <a:lstStyle/>
          <a:p>
            <a:pPr marL="0" indent="0">
              <a:buNone/>
            </a:pPr>
            <a:r>
              <a:rPr lang="en-US" sz="1300" b="1" dirty="0">
                <a:solidFill>
                  <a:srgbClr val="14B8A6"/>
                </a:solidFill>
                <a:latin typeface="Calibri" pitchFamily="34" charset="0"/>
                <a:ea typeface="Calibri" pitchFamily="34" charset="-122"/>
                <a:cs typeface="Calibri" pitchFamily="34" charset="-120"/>
              </a:rPr>
              <a:t>Fase A — Setup e baseline</a:t>
            </a:r>
            <a:endParaRPr lang="en-US" sz="1300" dirty="0"/>
          </a:p>
        </p:txBody>
      </p:sp>
      <p:sp>
        <p:nvSpPr>
          <p:cNvPr id="8" name="Text 6"/>
          <p:cNvSpPr/>
          <p:nvPr/>
        </p:nvSpPr>
        <p:spPr>
          <a:xfrm>
            <a:off x="6400800" y="1097280"/>
            <a:ext cx="2103120" cy="27432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Giorni 1-14</a:t>
            </a:r>
            <a:endParaRPr lang="en-US" sz="1000" dirty="0"/>
          </a:p>
        </p:txBody>
      </p:sp>
      <p:sp>
        <p:nvSpPr>
          <p:cNvPr id="9" name="Text 7"/>
          <p:cNvSpPr/>
          <p:nvPr/>
        </p:nvSpPr>
        <p:spPr>
          <a:xfrm>
            <a:off x="731520" y="1332043"/>
            <a:ext cx="7772400" cy="5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10 professionisti selezionati. Questionario baseline. Installazione e inserimento primi clienti.</a:t>
            </a:r>
            <a:endParaRPr lang="en-US" sz="1000" dirty="0"/>
          </a:p>
          <a:p>
            <a:pPr>
              <a:spcBef>
                <a:spcPts val="400"/>
              </a:spcBef>
            </a:pPr>
            <a:r>
              <a:rPr sz="1000" b="1" dirty="0">
                <a:solidFill>
                  <a:srgbClr val="14B8A6"/>
                </a:solidFill>
              </a:rPr>
              <a:t>KPI di </a:t>
            </a:r>
            <a:r>
              <a:rPr sz="1000" b="1" dirty="0" err="1">
                <a:solidFill>
                  <a:srgbClr val="14B8A6"/>
                </a:solidFill>
              </a:rPr>
              <a:t>attivazione</a:t>
            </a:r>
            <a:r>
              <a:rPr sz="1000" b="1" dirty="0">
                <a:solidFill>
                  <a:srgbClr val="14B8A6"/>
                </a:solidFill>
              </a:rPr>
              <a:t>: primo </a:t>
            </a:r>
            <a:r>
              <a:rPr sz="1000" b="1" dirty="0" err="1">
                <a:solidFill>
                  <a:srgbClr val="14B8A6"/>
                </a:solidFill>
              </a:rPr>
              <a:t>messaggio</a:t>
            </a:r>
            <a:r>
              <a:rPr sz="1000" b="1" dirty="0">
                <a:solidFill>
                  <a:srgbClr val="14B8A6"/>
                </a:solidFill>
              </a:rPr>
              <a:t> WhatsApp pre-</a:t>
            </a:r>
            <a:r>
              <a:rPr sz="1000" b="1" dirty="0" err="1">
                <a:solidFill>
                  <a:srgbClr val="14B8A6"/>
                </a:solidFill>
              </a:rPr>
              <a:t>compilato</a:t>
            </a:r>
            <a:r>
              <a:rPr sz="1000" b="1" dirty="0">
                <a:solidFill>
                  <a:srgbClr val="14B8A6"/>
                </a:solidFill>
              </a:rPr>
              <a:t> </a:t>
            </a:r>
            <a:r>
              <a:rPr sz="1000" b="1" dirty="0" err="1">
                <a:solidFill>
                  <a:srgbClr val="14B8A6"/>
                </a:solidFill>
              </a:rPr>
              <a:t>inviato</a:t>
            </a:r>
            <a:r>
              <a:rPr sz="1000" b="1" dirty="0">
                <a:solidFill>
                  <a:srgbClr val="14B8A6"/>
                </a:solidFill>
              </a:rPr>
              <a:t> </a:t>
            </a:r>
            <a:r>
              <a:rPr sz="1000" b="1" dirty="0" err="1">
                <a:solidFill>
                  <a:srgbClr val="14B8A6"/>
                </a:solidFill>
              </a:rPr>
              <a:t>entro</a:t>
            </a:r>
            <a:r>
              <a:rPr sz="1000" b="1" dirty="0">
                <a:solidFill>
                  <a:srgbClr val="14B8A6"/>
                </a:solidFill>
              </a:rPr>
              <a:t> 24 ore </a:t>
            </a:r>
            <a:r>
              <a:rPr sz="1000" b="1" dirty="0" err="1">
                <a:solidFill>
                  <a:srgbClr val="14B8A6"/>
                </a:solidFill>
              </a:rPr>
              <a:t>dall'installazione</a:t>
            </a:r>
            <a:r>
              <a:rPr sz="1000" b="1" dirty="0">
                <a:solidFill>
                  <a:srgbClr val="14B8A6"/>
                </a:solidFill>
              </a:rPr>
              <a:t>.</a:t>
            </a:r>
          </a:p>
        </p:txBody>
      </p:sp>
      <p:sp>
        <p:nvSpPr>
          <p:cNvPr id="10" name="Shape 8"/>
          <p:cNvSpPr/>
          <p:nvPr/>
        </p:nvSpPr>
        <p:spPr>
          <a:xfrm>
            <a:off x="457200" y="196596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1" name="Shape 9"/>
          <p:cNvSpPr/>
          <p:nvPr/>
        </p:nvSpPr>
        <p:spPr>
          <a:xfrm>
            <a:off x="457200" y="1965960"/>
            <a:ext cx="73152" cy="777240"/>
          </a:xfrm>
          <a:prstGeom prst="rect">
            <a:avLst/>
          </a:prstGeom>
          <a:solidFill>
            <a:srgbClr val="0D9488"/>
          </a:solidFill>
          <a:ln/>
        </p:spPr>
        <p:txBody>
          <a:bodyPr/>
          <a:lstStyle/>
          <a:p>
            <a:endParaRPr lang="it-IT"/>
          </a:p>
        </p:txBody>
      </p:sp>
      <p:sp>
        <p:nvSpPr>
          <p:cNvPr id="12" name="Text 10"/>
          <p:cNvSpPr/>
          <p:nvPr/>
        </p:nvSpPr>
        <p:spPr>
          <a:xfrm>
            <a:off x="731520" y="2011680"/>
            <a:ext cx="45720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Fase B — Adozione e masterclass</a:t>
            </a:r>
            <a:endParaRPr lang="en-US" sz="1300" dirty="0"/>
          </a:p>
        </p:txBody>
      </p:sp>
      <p:sp>
        <p:nvSpPr>
          <p:cNvPr id="13" name="Text 11"/>
          <p:cNvSpPr/>
          <p:nvPr/>
        </p:nvSpPr>
        <p:spPr>
          <a:xfrm>
            <a:off x="6400800" y="2011680"/>
            <a:ext cx="2103120" cy="27432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Giorni 15-75</a:t>
            </a:r>
            <a:endParaRPr lang="en-US" sz="1000" dirty="0"/>
          </a:p>
        </p:txBody>
      </p:sp>
      <p:sp>
        <p:nvSpPr>
          <p:cNvPr id="14" name="Text 12"/>
          <p:cNvSpPr/>
          <p:nvPr/>
        </p:nvSpPr>
        <p:spPr>
          <a:xfrm>
            <a:off x="731520" y="2331720"/>
            <a:ext cx="777240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Uso reale quotidiano. Check-in bisettimanale. Micro-sondaggio settimanale. 3 masterclass condotte dal Partner.</a:t>
            </a:r>
            <a:endParaRPr lang="en-US" sz="1000" dirty="0"/>
          </a:p>
        </p:txBody>
      </p:sp>
      <p:sp>
        <p:nvSpPr>
          <p:cNvPr id="15" name="Shape 13"/>
          <p:cNvSpPr/>
          <p:nvPr/>
        </p:nvSpPr>
        <p:spPr>
          <a:xfrm>
            <a:off x="457200" y="288036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6" name="Shape 14"/>
          <p:cNvSpPr/>
          <p:nvPr/>
        </p:nvSpPr>
        <p:spPr>
          <a:xfrm>
            <a:off x="457200" y="2880360"/>
            <a:ext cx="73152" cy="777240"/>
          </a:xfrm>
          <a:prstGeom prst="rect">
            <a:avLst/>
          </a:prstGeom>
          <a:solidFill>
            <a:srgbClr val="0A7A70"/>
          </a:solidFill>
          <a:ln/>
        </p:spPr>
        <p:txBody>
          <a:bodyPr/>
          <a:lstStyle/>
          <a:p>
            <a:endParaRPr lang="it-IT"/>
          </a:p>
        </p:txBody>
      </p:sp>
      <p:sp>
        <p:nvSpPr>
          <p:cNvPr id="17" name="Text 15"/>
          <p:cNvSpPr/>
          <p:nvPr/>
        </p:nvSpPr>
        <p:spPr>
          <a:xfrm>
            <a:off x="731520" y="2926080"/>
            <a:ext cx="4572000" cy="274320"/>
          </a:xfrm>
          <a:prstGeom prst="rect">
            <a:avLst/>
          </a:prstGeom>
          <a:noFill/>
          <a:ln/>
        </p:spPr>
        <p:txBody>
          <a:bodyPr wrap="square" lIns="0" tIns="0" rIns="0" bIns="0" rtlCol="0" anchor="ctr"/>
          <a:lstStyle/>
          <a:p>
            <a:pPr marL="0" indent="0">
              <a:buNone/>
            </a:pPr>
            <a:r>
              <a:rPr lang="en-US" sz="1300" b="1" dirty="0">
                <a:solidFill>
                  <a:srgbClr val="0A7A70"/>
                </a:solidFill>
                <a:latin typeface="Calibri" pitchFamily="34" charset="0"/>
                <a:ea typeface="Calibri" pitchFamily="34" charset="-122"/>
                <a:cs typeface="Calibri" pitchFamily="34" charset="-120"/>
              </a:rPr>
              <a:t>Fase C — Misurazione</a:t>
            </a:r>
            <a:endParaRPr lang="en-US" sz="1300" dirty="0"/>
          </a:p>
        </p:txBody>
      </p:sp>
      <p:sp>
        <p:nvSpPr>
          <p:cNvPr id="18" name="Text 16"/>
          <p:cNvSpPr/>
          <p:nvPr/>
        </p:nvSpPr>
        <p:spPr>
          <a:xfrm>
            <a:off x="6400800" y="2926080"/>
            <a:ext cx="2103120" cy="274320"/>
          </a:xfrm>
          <a:prstGeom prst="rect">
            <a:avLst/>
          </a:prstGeom>
          <a:noFill/>
          <a:ln/>
        </p:spPr>
        <p:txBody>
          <a:bodyPr wrap="square" lIns="0" tIns="0" rIns="0" bIns="0" rtlCol="0" anchor="ctr"/>
          <a:lstStyle/>
          <a:p>
            <a:pPr marL="0" indent="0" algn="r">
              <a:buNone/>
            </a:pPr>
            <a:r>
              <a:rPr lang="en-US" sz="1000" dirty="0">
                <a:solidFill>
                  <a:srgbClr val="475569"/>
                </a:solidFill>
                <a:latin typeface="Calibri" pitchFamily="34" charset="0"/>
                <a:ea typeface="Calibri" pitchFamily="34" charset="-122"/>
                <a:cs typeface="Calibri" pitchFamily="34" charset="-120"/>
              </a:rPr>
              <a:t>Giorni 75-90</a:t>
            </a:r>
            <a:endParaRPr lang="en-US" sz="1000" dirty="0"/>
          </a:p>
        </p:txBody>
      </p:sp>
      <p:sp>
        <p:nvSpPr>
          <p:cNvPr id="19" name="Text 17"/>
          <p:cNvSpPr/>
          <p:nvPr/>
        </p:nvSpPr>
        <p:spPr>
          <a:xfrm>
            <a:off x="731520" y="3246120"/>
            <a:ext cx="777240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Questionario finale. Confronto prima/dopo. Video-intervista. Sessione di gruppo. Decisione GO/NO-GO.</a:t>
            </a:r>
            <a:endParaRPr lang="en-US" sz="1000" dirty="0"/>
          </a:p>
        </p:txBody>
      </p:sp>
      <p:sp>
        <p:nvSpPr>
          <p:cNvPr id="20" name="Text 18"/>
          <p:cNvSpPr/>
          <p:nvPr/>
        </p:nvSpPr>
        <p:spPr>
          <a:xfrm>
            <a:off x="457200" y="3886200"/>
            <a:ext cx="8229600" cy="228600"/>
          </a:xfrm>
          <a:prstGeom prst="rect">
            <a:avLst/>
          </a:prstGeom>
          <a:noFill/>
          <a:ln/>
        </p:spPr>
        <p:txBody>
          <a:bodyPr wrap="square" rtlCol="0" anchor="ctr"/>
          <a:lstStyle/>
          <a:p>
            <a:pPr marL="0" indent="0">
              <a:buNone/>
            </a:pPr>
            <a:r>
              <a:rPr lang="en-US" sz="1000" b="1" dirty="0">
                <a:solidFill>
                  <a:srgbClr val="0D9488"/>
                </a:solidFill>
                <a:latin typeface="Calibri" pitchFamily="34" charset="0"/>
                <a:ea typeface="Calibri" pitchFamily="34" charset="-122"/>
                <a:cs typeface="Calibri" pitchFamily="34" charset="-120"/>
              </a:rPr>
              <a:t>Le 3 masterclass (condotte dall'Industry Partner):</a:t>
            </a:r>
            <a:endParaRPr lang="en-US" sz="1000" dirty="0"/>
          </a:p>
        </p:txBody>
      </p:sp>
      <p:sp>
        <p:nvSpPr>
          <p:cNvPr id="21" name="Text 19"/>
          <p:cNvSpPr/>
          <p:nvPr/>
        </p:nvSpPr>
        <p:spPr>
          <a:xfrm>
            <a:off x="640080" y="4114800"/>
            <a:ext cx="7772400" cy="548640"/>
          </a:xfrm>
          <a:prstGeom prst="rect">
            <a:avLst/>
          </a:prstGeom>
          <a:noFill/>
          <a:ln/>
        </p:spPr>
        <p:txBody>
          <a:bodyPr wrap="square" rtlCol="0" anchor="ctr"/>
          <a:lstStyle/>
          <a:p>
            <a:pPr marL="342900" indent="-342900">
              <a:buSzPct val="100000"/>
              <a:buChar char="•"/>
            </a:pPr>
            <a:r>
              <a:rPr lang="en-US" sz="900" dirty="0">
                <a:solidFill>
                  <a:srgbClr val="1E293B"/>
                </a:solidFill>
                <a:latin typeface="Calibri" pitchFamily="34" charset="0"/>
                <a:ea typeface="Calibri" pitchFamily="34" charset="-122"/>
                <a:cs typeface="Calibri" pitchFamily="34" charset="-120"/>
              </a:rPr>
              <a:t>Mese 1: "Il Metodo PT Evoluto — come cambia il tuo lavoro"</a:t>
            </a:r>
            <a:endParaRPr lang="en-US" sz="900" dirty="0"/>
          </a:p>
          <a:p>
            <a:pPr marL="342900" indent="-342900">
              <a:buSzPct val="100000"/>
              <a:buChar char="•"/>
            </a:pPr>
            <a:r>
              <a:rPr lang="en-US" sz="900" dirty="0">
                <a:solidFill>
                  <a:srgbClr val="1E293B"/>
                </a:solidFill>
                <a:latin typeface="Calibri" pitchFamily="34" charset="0"/>
                <a:ea typeface="Calibri" pitchFamily="34" charset="-122"/>
                <a:cs typeface="Calibri" pitchFamily="34" charset="-120"/>
              </a:rPr>
              <a:t>Mese 2: "Le prime 4 settimane con FitManager — risultati e domande"</a:t>
            </a:r>
            <a:endParaRPr lang="en-US" sz="900" dirty="0"/>
          </a:p>
          <a:p>
            <a:pPr marL="342900" indent="-342900">
              <a:buSzPct val="100000"/>
              <a:buChar char="•"/>
            </a:pPr>
            <a:r>
              <a:rPr lang="en-US" sz="900" dirty="0">
                <a:solidFill>
                  <a:srgbClr val="1E293B"/>
                </a:solidFill>
                <a:latin typeface="Calibri" pitchFamily="34" charset="0"/>
                <a:ea typeface="Calibri" pitchFamily="34" charset="-122"/>
                <a:cs typeface="Calibri" pitchFamily="34" charset="-120"/>
              </a:rPr>
              <a:t>Mese 3: "Da 25 a 45 clienti — il metodo in pratica"</a:t>
            </a:r>
            <a:endParaRPr lang="en-US" sz="900" dirty="0"/>
          </a:p>
        </p:txBody>
      </p:sp>
      <p:sp>
        <p:nvSpPr>
          <p:cNvPr id="22" name="Text 20"/>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27 / 56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9</a:t>
            </a:r>
            <a:endParaRPr lang="en-US" sz="800" dirty="0"/>
          </a:p>
        </p:txBody>
      </p:sp>
      <p:sp>
        <p:nvSpPr>
          <p:cNvPr id="3" name="Text 1"/>
          <p:cNvSpPr/>
          <p:nvPr/>
        </p:nvSpPr>
        <p:spPr>
          <a:xfrm>
            <a:off x="457200" y="384048"/>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Le metriche della POC</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822192"/>
        </p:xfrm>
        <a:graphic>
          <a:graphicData uri="http://schemas.openxmlformats.org/drawingml/2006/table">
            <a:tbl>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347472">
                <a:tc>
                  <a:txBody>
                    <a:bodyPr/>
                    <a:lstStyle/>
                    <a:p>
                      <a:pPr marL="0" indent="0">
                        <a:buNone/>
                      </a:pPr>
                      <a:r>
                        <a:rPr lang="en-US" sz="1000" b="1" dirty="0">
                          <a:solidFill>
                            <a:srgbClr val="FFFFFF"/>
                          </a:solidFill>
                        </a:rPr>
                        <a:t>Metrica</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Prima</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Target</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Valida</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Ore admin/settimana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3-5 ore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&lt; 2 ore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Organizzazione (1-10)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Dati persi/mese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Zero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NPS (-100/+100)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Sopra 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Prodotto + percorso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"Lo ricompreresti a prezzo pieno?"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8/10 sì</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Pricing</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"Masterclass hanno cambiato approccio?"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7+/10 sì</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Percorso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"I tuoi clienti notano differenza?"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5+/10 sì</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Volano PT Evoluto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lgn="l">
                        <a:buNone/>
                      </a:pPr>
                      <a:r>
                        <a:rPr lang="en-US" sz="900" dirty="0">
                          <a:solidFill>
                            <a:srgbClr val="1E293B"/>
                          </a:solidFill>
                          <a:latin typeface="Calibri" pitchFamily="34" charset="0"/>
                          <a:ea typeface="Calibri" pitchFamily="34" charset="-122"/>
                          <a:cs typeface="Calibri" pitchFamily="34" charset="-120"/>
                        </a:rPr>
                        <a:t>"Ti definiresti un PT Evoluto?"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6+/10 sì</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Category creation</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8"/>
                  </a:ext>
                </a:extLst>
              </a:tr>
              <a:tr h="347472">
                <a:tc>
                  <a:txBody>
                    <a:bodyPr/>
                    <a:lstStyle/>
                    <a:p>
                      <a:r>
                        <a:rPr sz="900">
                          <a:solidFill>
                            <a:srgbClr val="1E293B"/>
                          </a:solidFill>
                        </a:rPr>
                        <a:t>Messaggi WA pre-compilati/settimana</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900">
                          <a:solidFill>
                            <a:srgbClr val="1E293B"/>
                          </a:solidFill>
                        </a:rPr>
                        <a:t>—</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900">
                          <a:solidFill>
                            <a:srgbClr val="1E293B"/>
                          </a:solidFill>
                        </a:rPr>
                        <a:t>15+</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900">
                          <a:solidFill>
                            <a:srgbClr val="1E293B"/>
                          </a:solidFill>
                        </a:rPr>
                        <a:t>Adozione comunicazione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3713189341"/>
                  </a:ext>
                </a:extLst>
              </a:tr>
              <a:tr h="347472">
                <a:tc>
                  <a:txBody>
                    <a:bodyPr/>
                    <a:lstStyle/>
                    <a:p>
                      <a:r>
                        <a:rPr sz="900">
                          <a:solidFill>
                            <a:srgbClr val="1E293B"/>
                          </a:solidFill>
                        </a:rPr>
                        <a:t>Tempo risparmiato comunicazione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900">
                          <a:solidFill>
                            <a:srgbClr val="1E293B"/>
                          </a:solidFill>
                        </a:rPr>
                        <a:t>—</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900">
                          <a:solidFill>
                            <a:srgbClr val="1E293B"/>
                          </a:solidFill>
                        </a:rPr>
                        <a:t>30+ min/giorno</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900" dirty="0">
                          <a:solidFill>
                            <a:srgbClr val="1E293B"/>
                          </a:solidFill>
                        </a:rPr>
                        <a:t>Valore feature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200536721"/>
                  </a:ext>
                </a:extLst>
              </a:tr>
            </a:tbl>
          </a:graphicData>
        </a:graphic>
      </p:graphicFrame>
      <p:sp>
        <p:nvSpPr>
          <p:cNvPr id="6" name="Text 3"/>
          <p:cNvSpPr/>
          <p:nvPr/>
        </p:nvSpPr>
        <p:spPr>
          <a:xfrm>
            <a:off x="457200" y="4773633"/>
            <a:ext cx="8229600" cy="365760"/>
          </a:xfrm>
          <a:prstGeom prst="rect">
            <a:avLst/>
          </a:prstGeom>
          <a:noFill/>
          <a:ln/>
        </p:spPr>
        <p:txBody>
          <a:bodyPr wrap="square" rtlCol="0" anchor="ctr"/>
          <a:lstStyle/>
          <a:p>
            <a:pPr marL="0" indent="0">
              <a:buNone/>
            </a:pPr>
            <a:r>
              <a:rPr lang="en-US" sz="1100" b="1" i="1" dirty="0">
                <a:solidFill>
                  <a:srgbClr val="F96167"/>
                </a:solidFill>
                <a:latin typeface="Calibri" pitchFamily="34" charset="0"/>
                <a:ea typeface="Calibri" pitchFamily="34" charset="-122"/>
                <a:cs typeface="Calibri" pitchFamily="34" charset="-120"/>
              </a:rPr>
              <a:t>Le </a:t>
            </a:r>
            <a:r>
              <a:rPr lang="en-US" sz="1100" b="1" i="1" dirty="0" err="1">
                <a:solidFill>
                  <a:srgbClr val="F96167"/>
                </a:solidFill>
                <a:latin typeface="Calibri" pitchFamily="34" charset="0"/>
                <a:ea typeface="Calibri" pitchFamily="34" charset="-122"/>
                <a:cs typeface="Calibri" pitchFamily="34" charset="-120"/>
              </a:rPr>
              <a:t>ultime</a:t>
            </a:r>
            <a:r>
              <a:rPr lang="en-US" sz="1100" b="1" i="1" dirty="0">
                <a:solidFill>
                  <a:srgbClr val="F96167"/>
                </a:solidFill>
                <a:latin typeface="Calibri" pitchFamily="34" charset="0"/>
                <a:ea typeface="Calibri" pitchFamily="34" charset="-122"/>
                <a:cs typeface="Calibri" pitchFamily="34" charset="-120"/>
              </a:rPr>
              <a:t> 4 metriche validano la categoria e il volano — non solo il software.</a:t>
            </a:r>
            <a:endParaRPr lang="en-US" sz="1100" dirty="0"/>
          </a:p>
        </p:txBody>
      </p:sp>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28 / 56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9</a:t>
            </a:r>
            <a:endParaRPr lang="en-US" sz="800" dirty="0"/>
          </a:p>
        </p:txBody>
      </p:sp>
      <p:sp>
        <p:nvSpPr>
          <p:cNvPr id="3" name="Text 1"/>
          <p:cNvSpPr/>
          <p:nvPr/>
        </p:nvSpPr>
        <p:spPr>
          <a:xfrm>
            <a:off x="457200" y="364183"/>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I profili e la decisione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51560"/>
            <a:ext cx="365760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I 10 FONDATORI</a:t>
            </a:r>
            <a:endParaRPr lang="en-US" sz="1000" dirty="0"/>
          </a:p>
        </p:txBody>
      </p:sp>
      <p:sp>
        <p:nvSpPr>
          <p:cNvPr id="6" name="Text 4"/>
          <p:cNvSpPr/>
          <p:nvPr/>
        </p:nvSpPr>
        <p:spPr>
          <a:xfrm>
            <a:off x="457200" y="1371600"/>
            <a:ext cx="4114800" cy="1554480"/>
          </a:xfrm>
          <a:prstGeom prst="rect">
            <a:avLst/>
          </a:prstGeom>
          <a:noFill/>
          <a:ln/>
        </p:spPr>
        <p:txBody>
          <a:bodyPr wrap="square" rtlCol="0" anchor="ctr"/>
          <a:lstStyle/>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3 trainer in palestra</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2 freelance con studio proprio</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2 chinesiologi con clienti clinici</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1 trainer online/ibrido</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1 neoqualificato</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1 senior con 40+ clienti</a:t>
            </a:r>
            <a:endParaRPr lang="en-US" sz="1000" dirty="0"/>
          </a:p>
        </p:txBody>
      </p:sp>
      <p:sp>
        <p:nvSpPr>
          <p:cNvPr id="7" name="Text 5"/>
          <p:cNvSpPr/>
          <p:nvPr/>
        </p:nvSpPr>
        <p:spPr>
          <a:xfrm>
            <a:off x="457200" y="2971800"/>
            <a:ext cx="4114800" cy="457200"/>
          </a:xfrm>
          <a:prstGeom prst="rect">
            <a:avLst/>
          </a:prstGeom>
          <a:noFill/>
          <a:ln/>
        </p:spPr>
        <p:txBody>
          <a:bodyPr wrap="square"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Criterio: almeno 10 clienti attivi, disponibilità a dare feedback strutturato per 90 giorni.</a:t>
            </a:r>
            <a:endParaRPr lang="en-US" sz="900" dirty="0"/>
          </a:p>
        </p:txBody>
      </p:sp>
      <p:sp>
        <p:nvSpPr>
          <p:cNvPr id="8" name="Text 6"/>
          <p:cNvSpPr/>
          <p:nvPr/>
        </p:nvSpPr>
        <p:spPr>
          <a:xfrm>
            <a:off x="5029200" y="1051560"/>
            <a:ext cx="3657600" cy="27432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LA DECISIONE</a:t>
            </a:r>
            <a:endParaRPr lang="en-US" sz="1000" dirty="0"/>
          </a:p>
        </p:txBody>
      </p:sp>
      <p:sp>
        <p:nvSpPr>
          <p:cNvPr id="9" name="Shape 7"/>
          <p:cNvSpPr/>
          <p:nvPr/>
        </p:nvSpPr>
        <p:spPr>
          <a:xfrm>
            <a:off x="5029200" y="1463040"/>
            <a:ext cx="3657600" cy="6858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0" name="Shape 8"/>
          <p:cNvSpPr/>
          <p:nvPr/>
        </p:nvSpPr>
        <p:spPr>
          <a:xfrm>
            <a:off x="5029200" y="1463040"/>
            <a:ext cx="54864" cy="685800"/>
          </a:xfrm>
          <a:prstGeom prst="rect">
            <a:avLst/>
          </a:prstGeom>
          <a:solidFill>
            <a:srgbClr val="22C55E"/>
          </a:solidFill>
          <a:ln/>
        </p:spPr>
        <p:txBody>
          <a:bodyPr/>
          <a:lstStyle/>
          <a:p>
            <a:endParaRPr lang="it-IT"/>
          </a:p>
        </p:txBody>
      </p:sp>
      <p:sp>
        <p:nvSpPr>
          <p:cNvPr id="11" name="Text 9"/>
          <p:cNvSpPr/>
          <p:nvPr/>
        </p:nvSpPr>
        <p:spPr>
          <a:xfrm>
            <a:off x="5212080" y="1463040"/>
            <a:ext cx="1097280" cy="685800"/>
          </a:xfrm>
          <a:prstGeom prst="rect">
            <a:avLst/>
          </a:prstGeom>
          <a:noFill/>
          <a:ln/>
        </p:spPr>
        <p:txBody>
          <a:bodyPr wrap="square" lIns="0" tIns="0" rIns="0" bIns="0" rtlCol="0" anchor="ctr"/>
          <a:lstStyle/>
          <a:p>
            <a:pPr marL="0" indent="0">
              <a:buNone/>
            </a:pPr>
            <a:r>
              <a:rPr lang="en-US" sz="1400" b="1" dirty="0">
                <a:solidFill>
                  <a:srgbClr val="22C55E"/>
                </a:solidFill>
                <a:latin typeface="Georgia" pitchFamily="34" charset="0"/>
                <a:ea typeface="Georgia" pitchFamily="34" charset="-122"/>
                <a:cs typeface="Georgia" pitchFamily="34" charset="-120"/>
              </a:rPr>
              <a:t>GO</a:t>
            </a:r>
            <a:endParaRPr lang="en-US" sz="1400" dirty="0"/>
          </a:p>
        </p:txBody>
      </p:sp>
      <p:sp>
        <p:nvSpPr>
          <p:cNvPr id="12" name="Text 10"/>
          <p:cNvSpPr/>
          <p:nvPr/>
        </p:nvSpPr>
        <p:spPr>
          <a:xfrm>
            <a:off x="6309360" y="1463040"/>
            <a:ext cx="2194560" cy="68580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NPS 50+, ore dimezzate, 8+ attivi, 5+ clienti notano</a:t>
            </a:r>
            <a:endParaRPr lang="en-US" sz="900" dirty="0"/>
          </a:p>
        </p:txBody>
      </p:sp>
      <p:sp>
        <p:nvSpPr>
          <p:cNvPr id="13" name="Shape 11"/>
          <p:cNvSpPr/>
          <p:nvPr/>
        </p:nvSpPr>
        <p:spPr>
          <a:xfrm>
            <a:off x="5029200" y="2286000"/>
            <a:ext cx="3657600" cy="6858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4" name="Shape 12"/>
          <p:cNvSpPr/>
          <p:nvPr/>
        </p:nvSpPr>
        <p:spPr>
          <a:xfrm>
            <a:off x="5029200" y="2286000"/>
            <a:ext cx="54864" cy="685800"/>
          </a:xfrm>
          <a:prstGeom prst="rect">
            <a:avLst/>
          </a:prstGeom>
          <a:solidFill>
            <a:srgbClr val="F59E0B"/>
          </a:solidFill>
          <a:ln/>
        </p:spPr>
        <p:txBody>
          <a:bodyPr/>
          <a:lstStyle/>
          <a:p>
            <a:endParaRPr lang="it-IT"/>
          </a:p>
        </p:txBody>
      </p:sp>
      <p:sp>
        <p:nvSpPr>
          <p:cNvPr id="15" name="Text 13"/>
          <p:cNvSpPr/>
          <p:nvPr/>
        </p:nvSpPr>
        <p:spPr>
          <a:xfrm>
            <a:off x="5212080" y="2286000"/>
            <a:ext cx="1097280" cy="685800"/>
          </a:xfrm>
          <a:prstGeom prst="rect">
            <a:avLst/>
          </a:prstGeom>
          <a:noFill/>
          <a:ln/>
        </p:spPr>
        <p:txBody>
          <a:bodyPr wrap="square" lIns="0" tIns="0" rIns="0" bIns="0" rtlCol="0" anchor="ctr"/>
          <a:lstStyle/>
          <a:p>
            <a:pPr marL="0" indent="0">
              <a:buNone/>
            </a:pPr>
            <a:r>
              <a:rPr lang="en-US" sz="1400" b="1" dirty="0">
                <a:solidFill>
                  <a:srgbClr val="F59E0B"/>
                </a:solidFill>
                <a:latin typeface="Georgia" pitchFamily="34" charset="0"/>
                <a:ea typeface="Georgia" pitchFamily="34" charset="-122"/>
                <a:cs typeface="Georgia" pitchFamily="34" charset="-120"/>
              </a:rPr>
              <a:t>GO cautela</a:t>
            </a:r>
            <a:endParaRPr lang="en-US" sz="1400" dirty="0"/>
          </a:p>
        </p:txBody>
      </p:sp>
      <p:sp>
        <p:nvSpPr>
          <p:cNvPr id="16" name="Text 14"/>
          <p:cNvSpPr/>
          <p:nvPr/>
        </p:nvSpPr>
        <p:spPr>
          <a:xfrm>
            <a:off x="6309360" y="2286000"/>
            <a:ext cx="2194560" cy="68580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NPS 30-50, miglioramenti parziali, categoria parziale</a:t>
            </a:r>
            <a:endParaRPr lang="en-US" sz="900" dirty="0"/>
          </a:p>
        </p:txBody>
      </p:sp>
      <p:sp>
        <p:nvSpPr>
          <p:cNvPr id="17" name="Shape 15"/>
          <p:cNvSpPr/>
          <p:nvPr/>
        </p:nvSpPr>
        <p:spPr>
          <a:xfrm>
            <a:off x="5029200" y="3108960"/>
            <a:ext cx="3657600" cy="6858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8" name="Shape 16"/>
          <p:cNvSpPr/>
          <p:nvPr/>
        </p:nvSpPr>
        <p:spPr>
          <a:xfrm>
            <a:off x="5029200" y="3108960"/>
            <a:ext cx="54864" cy="685800"/>
          </a:xfrm>
          <a:prstGeom prst="rect">
            <a:avLst/>
          </a:prstGeom>
          <a:solidFill>
            <a:srgbClr val="F96167"/>
          </a:solidFill>
          <a:ln/>
        </p:spPr>
        <p:txBody>
          <a:bodyPr/>
          <a:lstStyle/>
          <a:p>
            <a:endParaRPr lang="it-IT"/>
          </a:p>
        </p:txBody>
      </p:sp>
      <p:sp>
        <p:nvSpPr>
          <p:cNvPr id="19" name="Text 17"/>
          <p:cNvSpPr/>
          <p:nvPr/>
        </p:nvSpPr>
        <p:spPr>
          <a:xfrm>
            <a:off x="5212080" y="3108960"/>
            <a:ext cx="1097280" cy="685800"/>
          </a:xfrm>
          <a:prstGeom prst="rect">
            <a:avLst/>
          </a:prstGeom>
          <a:noFill/>
          <a:ln/>
        </p:spPr>
        <p:txBody>
          <a:bodyPr wrap="square" lIns="0" tIns="0" rIns="0" bIns="0" rtlCol="0" anchor="ctr"/>
          <a:lstStyle/>
          <a:p>
            <a:pPr marL="0" indent="0">
              <a:buNone/>
            </a:pPr>
            <a:r>
              <a:rPr lang="en-US" sz="1400" b="1" dirty="0">
                <a:solidFill>
                  <a:srgbClr val="F96167"/>
                </a:solidFill>
                <a:latin typeface="Georgia" pitchFamily="34" charset="0"/>
                <a:ea typeface="Georgia" pitchFamily="34" charset="-122"/>
                <a:cs typeface="Georgia" pitchFamily="34" charset="-120"/>
              </a:rPr>
              <a:t>STOP</a:t>
            </a:r>
            <a:endParaRPr lang="en-US" sz="1400" dirty="0"/>
          </a:p>
        </p:txBody>
      </p:sp>
      <p:sp>
        <p:nvSpPr>
          <p:cNvPr id="20" name="Text 18"/>
          <p:cNvSpPr/>
          <p:nvPr/>
        </p:nvSpPr>
        <p:spPr>
          <a:xfrm>
            <a:off x="6309360" y="3108960"/>
            <a:ext cx="2194560" cy="68580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NPS &lt;30, meno di 6 attivi, categoria non risuona</a:t>
            </a:r>
            <a:endParaRPr lang="en-US" sz="900" dirty="0"/>
          </a:p>
        </p:txBody>
      </p:sp>
      <p:sp>
        <p:nvSpPr>
          <p:cNvPr id="21" name="Shape 19"/>
          <p:cNvSpPr/>
          <p:nvPr/>
        </p:nvSpPr>
        <p:spPr>
          <a:xfrm>
            <a:off x="457200" y="3840480"/>
            <a:ext cx="8229600" cy="914400"/>
          </a:xfrm>
          <a:prstGeom prst="rect">
            <a:avLst/>
          </a:prstGeom>
          <a:solidFill>
            <a:srgbClr val="0A7A70"/>
          </a:solidFill>
          <a:ln/>
        </p:spPr>
        <p:txBody>
          <a:bodyPr/>
          <a:lstStyle/>
          <a:p>
            <a:endParaRPr lang="it-IT"/>
          </a:p>
        </p:txBody>
      </p:sp>
      <p:sp>
        <p:nvSpPr>
          <p:cNvPr id="22" name="Text 20"/>
          <p:cNvSpPr/>
          <p:nvPr/>
        </p:nvSpPr>
        <p:spPr>
          <a:xfrm>
            <a:off x="640080" y="3858768"/>
            <a:ext cx="7772400" cy="182880"/>
          </a:xfrm>
          <a:prstGeom prst="rect">
            <a:avLst/>
          </a:prstGeom>
          <a:noFill/>
          <a:ln/>
        </p:spPr>
        <p:txBody>
          <a:bodyPr wrap="square" rtlCol="0" anchor="ctr"/>
          <a:lstStyle/>
          <a:p>
            <a:pPr marL="0" indent="0">
              <a:buNone/>
            </a:pPr>
            <a:r>
              <a:rPr lang="en-US" sz="900" b="1" kern="0" spc="200" dirty="0">
                <a:solidFill>
                  <a:srgbClr val="99F6E4"/>
                </a:solidFill>
                <a:latin typeface="Calibri" pitchFamily="34" charset="0"/>
                <a:ea typeface="Calibri" pitchFamily="34" charset="-122"/>
                <a:cs typeface="Calibri" pitchFamily="34" charset="-120"/>
              </a:rPr>
              <a:t>COSA ABBIAMO AL MESE 4 (se GO)</a:t>
            </a:r>
            <a:endParaRPr lang="en-US" sz="900" dirty="0"/>
          </a:p>
        </p:txBody>
      </p:sp>
      <p:sp>
        <p:nvSpPr>
          <p:cNvPr id="23" name="Text 21"/>
          <p:cNvSpPr/>
          <p:nvPr/>
        </p:nvSpPr>
        <p:spPr>
          <a:xfrm>
            <a:off x="640080" y="4041648"/>
            <a:ext cx="7772400" cy="594360"/>
          </a:xfrm>
          <a:prstGeom prst="rect">
            <a:avLst/>
          </a:prstGeom>
          <a:noFill/>
          <a:ln/>
        </p:spPr>
        <p:txBody>
          <a:bodyPr wrap="square" rtlCol="0" anchor="ctr"/>
          <a:lstStyle/>
          <a:p>
            <a:pPr marL="342900" indent="-342900">
              <a:buSzPct val="100000"/>
              <a:buChar char="•"/>
            </a:pPr>
            <a:r>
              <a:rPr lang="en-US" sz="900" dirty="0">
                <a:solidFill>
                  <a:srgbClr val="FFFFFF"/>
                </a:solidFill>
                <a:latin typeface="Calibri" pitchFamily="34" charset="0"/>
                <a:ea typeface="Calibri" pitchFamily="34" charset="-122"/>
                <a:cs typeface="Calibri" pitchFamily="34" charset="-120"/>
              </a:rPr>
              <a:t>10 storie reali con dati misurabili (prima/dopo)</a:t>
            </a:r>
            <a:endParaRPr lang="en-US" sz="900" dirty="0"/>
          </a:p>
          <a:p>
            <a:pPr marL="342900" indent="-342900">
              <a:buSzPct val="100000"/>
              <a:buChar char="•"/>
            </a:pPr>
            <a:r>
              <a:rPr lang="en-US" sz="900" dirty="0">
                <a:solidFill>
                  <a:srgbClr val="FFFFFF"/>
                </a:solidFill>
                <a:latin typeface="Calibri" pitchFamily="34" charset="0"/>
                <a:ea typeface="Calibri" pitchFamily="34" charset="-122"/>
                <a:cs typeface="Calibri" pitchFamily="34" charset="-120"/>
              </a:rPr>
              <a:t>10 video-interviste testimonial</a:t>
            </a:r>
            <a:endParaRPr lang="en-US" sz="900" dirty="0"/>
          </a:p>
          <a:p>
            <a:pPr marL="342900" indent="-342900">
              <a:buSzPct val="100000"/>
              <a:buChar char="•"/>
            </a:pPr>
            <a:r>
              <a:rPr lang="en-US" sz="900" dirty="0">
                <a:solidFill>
                  <a:srgbClr val="FFFFFF"/>
                </a:solidFill>
                <a:latin typeface="Calibri" pitchFamily="34" charset="0"/>
                <a:ea typeface="Calibri" pitchFamily="34" charset="-122"/>
                <a:cs typeface="Calibri" pitchFamily="34" charset="-120"/>
              </a:rPr>
              <a:t>3 masterclass registrate (libreria Inner Circle)</a:t>
            </a:r>
            <a:endParaRPr lang="en-US" sz="900" dirty="0"/>
          </a:p>
          <a:p>
            <a:pPr marL="342900" indent="-342900">
              <a:buSzPct val="100000"/>
              <a:buChar char="•"/>
            </a:pPr>
            <a:r>
              <a:rPr lang="en-US" sz="900" dirty="0">
                <a:solidFill>
                  <a:srgbClr val="FFFFFF"/>
                </a:solidFill>
                <a:latin typeface="Calibri" pitchFamily="34" charset="0"/>
                <a:ea typeface="Calibri" pitchFamily="34" charset="-122"/>
                <a:cs typeface="Calibri" pitchFamily="34" charset="-120"/>
              </a:rPr>
              <a:t>Dati aggregati + community funzionante</a:t>
            </a:r>
            <a:endParaRPr lang="en-US" sz="900" dirty="0"/>
          </a:p>
          <a:p>
            <a:pPr marL="342900" indent="-342900">
              <a:buSzPct val="100000"/>
              <a:buChar char="•"/>
            </a:pPr>
            <a:r>
              <a:rPr lang="en-US" sz="900" dirty="0">
                <a:solidFill>
                  <a:srgbClr val="FFFFFF"/>
                </a:solidFill>
                <a:latin typeface="Calibri" pitchFamily="34" charset="0"/>
                <a:ea typeface="Calibri" pitchFamily="34" charset="-122"/>
                <a:cs typeface="Calibri" pitchFamily="34" charset="-120"/>
              </a:rPr>
              <a:t>La prova che il percorso PT Evoluto funziona — non solo il software</a:t>
            </a:r>
            <a:endParaRPr lang="en-US" sz="900" dirty="0"/>
          </a:p>
        </p:txBody>
      </p:sp>
      <p:sp>
        <p:nvSpPr>
          <p:cNvPr id="24" name="Text 22"/>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29 / 56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9</a:t>
            </a:r>
            <a:endParaRPr lang="en-US" sz="800" dirty="0"/>
          </a:p>
        </p:txBody>
      </p:sp>
      <p:sp>
        <p:nvSpPr>
          <p:cNvPr id="3" name="Text 1"/>
          <p:cNvSpPr/>
          <p:nvPr/>
        </p:nvSpPr>
        <p:spPr>
          <a:xfrm>
            <a:off x="457200" y="37049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Costo della POC</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97280"/>
            <a:ext cx="8229600" cy="411480"/>
          </a:xfrm>
          <a:prstGeom prst="rect">
            <a:avLst/>
          </a:prstGeom>
          <a:solidFill>
            <a:srgbClr val="FFFFFF"/>
          </a:solidFill>
          <a:ln/>
        </p:spPr>
        <p:txBody>
          <a:bodyPr/>
          <a:lstStyle/>
          <a:p>
            <a:endParaRPr lang="it-IT"/>
          </a:p>
        </p:txBody>
      </p:sp>
      <p:sp>
        <p:nvSpPr>
          <p:cNvPr id="6" name="Text 4"/>
          <p:cNvSpPr/>
          <p:nvPr/>
        </p:nvSpPr>
        <p:spPr>
          <a:xfrm>
            <a:off x="640080" y="1097280"/>
            <a:ext cx="54864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8 licenze Fondatore a €99 + 2 Box a €199</a:t>
            </a:r>
            <a:endParaRPr lang="en-US" sz="1200" dirty="0"/>
          </a:p>
        </p:txBody>
      </p:sp>
      <p:sp>
        <p:nvSpPr>
          <p:cNvPr id="7" name="Text 5"/>
          <p:cNvSpPr/>
          <p:nvPr/>
        </p:nvSpPr>
        <p:spPr>
          <a:xfrm>
            <a:off x="6126480" y="1097280"/>
            <a:ext cx="2377440" cy="411480"/>
          </a:xfrm>
          <a:prstGeom prst="rect">
            <a:avLst/>
          </a:prstGeom>
          <a:noFill/>
          <a:ln/>
        </p:spPr>
        <p:txBody>
          <a:bodyPr wrap="square" lIns="0" tIns="0" rIns="0" bIns="0" rtlCol="0" anchor="ctr"/>
          <a:lstStyle/>
          <a:p>
            <a:pPr marL="0" indent="0" algn="r">
              <a:buNone/>
            </a:pPr>
            <a:r>
              <a:rPr lang="en-US" sz="1200" dirty="0">
                <a:solidFill>
                  <a:srgbClr val="1E293B"/>
                </a:solidFill>
                <a:latin typeface="Calibri" pitchFamily="34" charset="0"/>
                <a:ea typeface="Calibri" pitchFamily="34" charset="-122"/>
                <a:cs typeface="Calibri" pitchFamily="34" charset="-120"/>
              </a:rPr>
              <a:t>€1.190 (ricavo)</a:t>
            </a:r>
            <a:endParaRPr lang="en-US" sz="1200" dirty="0"/>
          </a:p>
        </p:txBody>
      </p:sp>
      <p:sp>
        <p:nvSpPr>
          <p:cNvPr id="8" name="Shape 6"/>
          <p:cNvSpPr/>
          <p:nvPr/>
        </p:nvSpPr>
        <p:spPr>
          <a:xfrm>
            <a:off x="457200" y="1600200"/>
            <a:ext cx="8229600" cy="411480"/>
          </a:xfrm>
          <a:prstGeom prst="rect">
            <a:avLst/>
          </a:prstGeom>
          <a:solidFill>
            <a:srgbClr val="F1F5F9"/>
          </a:solidFill>
          <a:ln/>
        </p:spPr>
        <p:txBody>
          <a:bodyPr/>
          <a:lstStyle/>
          <a:p>
            <a:endParaRPr lang="it-IT"/>
          </a:p>
        </p:txBody>
      </p:sp>
      <p:sp>
        <p:nvSpPr>
          <p:cNvPr id="9" name="Text 7"/>
          <p:cNvSpPr/>
          <p:nvPr/>
        </p:nvSpPr>
        <p:spPr>
          <a:xfrm>
            <a:off x="640080" y="1600200"/>
            <a:ext cx="54864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Costo vivo hardware 2 Box test</a:t>
            </a:r>
            <a:endParaRPr lang="en-US" sz="1200" dirty="0"/>
          </a:p>
        </p:txBody>
      </p:sp>
      <p:sp>
        <p:nvSpPr>
          <p:cNvPr id="10" name="Text 8"/>
          <p:cNvSpPr/>
          <p:nvPr/>
        </p:nvSpPr>
        <p:spPr>
          <a:xfrm>
            <a:off x="6126480" y="1600200"/>
            <a:ext cx="2377440" cy="411480"/>
          </a:xfrm>
          <a:prstGeom prst="rect">
            <a:avLst/>
          </a:prstGeom>
          <a:noFill/>
          <a:ln/>
        </p:spPr>
        <p:txBody>
          <a:bodyPr wrap="square" lIns="0" tIns="0" rIns="0" bIns="0" rtlCol="0" anchor="ctr"/>
          <a:lstStyle/>
          <a:p>
            <a:pPr marL="0" indent="0" algn="r">
              <a:buNone/>
            </a:pPr>
            <a:r>
              <a:rPr lang="en-US" sz="1200" dirty="0">
                <a:solidFill>
                  <a:srgbClr val="1E293B"/>
                </a:solidFill>
                <a:latin typeface="Calibri" pitchFamily="34" charset="0"/>
                <a:ea typeface="Calibri" pitchFamily="34" charset="-122"/>
                <a:cs typeface="Calibri" pitchFamily="34" charset="-120"/>
              </a:rPr>
              <a:t>€300</a:t>
            </a:r>
            <a:endParaRPr lang="en-US" sz="1200" dirty="0"/>
          </a:p>
        </p:txBody>
      </p:sp>
      <p:sp>
        <p:nvSpPr>
          <p:cNvPr id="11" name="Shape 9"/>
          <p:cNvSpPr/>
          <p:nvPr/>
        </p:nvSpPr>
        <p:spPr>
          <a:xfrm>
            <a:off x="457200" y="2103120"/>
            <a:ext cx="8229600" cy="411480"/>
          </a:xfrm>
          <a:prstGeom prst="rect">
            <a:avLst/>
          </a:prstGeom>
          <a:solidFill>
            <a:srgbClr val="FFFFFF"/>
          </a:solidFill>
          <a:ln/>
        </p:spPr>
        <p:txBody>
          <a:bodyPr/>
          <a:lstStyle/>
          <a:p>
            <a:endParaRPr lang="it-IT"/>
          </a:p>
        </p:txBody>
      </p:sp>
      <p:sp>
        <p:nvSpPr>
          <p:cNvPr id="12" name="Text 10"/>
          <p:cNvSpPr/>
          <p:nvPr/>
        </p:nvSpPr>
        <p:spPr>
          <a:xfrm>
            <a:off x="640080" y="2103120"/>
            <a:ext cx="54864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Tempo founder (check-in, supporto, analisi)</a:t>
            </a:r>
            <a:endParaRPr lang="en-US" sz="1200" dirty="0"/>
          </a:p>
        </p:txBody>
      </p:sp>
      <p:sp>
        <p:nvSpPr>
          <p:cNvPr id="13" name="Text 11"/>
          <p:cNvSpPr/>
          <p:nvPr/>
        </p:nvSpPr>
        <p:spPr>
          <a:xfrm>
            <a:off x="6126480" y="2103120"/>
            <a:ext cx="2377440" cy="411480"/>
          </a:xfrm>
          <a:prstGeom prst="rect">
            <a:avLst/>
          </a:prstGeom>
          <a:noFill/>
          <a:ln/>
        </p:spPr>
        <p:txBody>
          <a:bodyPr wrap="square" lIns="0" tIns="0" rIns="0" bIns="0" rtlCol="0" anchor="ctr"/>
          <a:lstStyle/>
          <a:p>
            <a:pPr marL="0" indent="0" algn="r">
              <a:buNone/>
            </a:pPr>
            <a:r>
              <a:rPr lang="en-US" sz="1200" dirty="0">
                <a:solidFill>
                  <a:srgbClr val="1E293B"/>
                </a:solidFill>
                <a:latin typeface="Calibri" pitchFamily="34" charset="0"/>
                <a:ea typeface="Calibri" pitchFamily="34" charset="-122"/>
                <a:cs typeface="Calibri" pitchFamily="34" charset="-120"/>
              </a:rPr>
              <a:t>~40 ore in 90 gg</a:t>
            </a:r>
            <a:endParaRPr lang="en-US" sz="1200" dirty="0"/>
          </a:p>
        </p:txBody>
      </p:sp>
      <p:sp>
        <p:nvSpPr>
          <p:cNvPr id="14" name="Shape 12"/>
          <p:cNvSpPr/>
          <p:nvPr/>
        </p:nvSpPr>
        <p:spPr>
          <a:xfrm>
            <a:off x="457200" y="2606040"/>
            <a:ext cx="8229600" cy="411480"/>
          </a:xfrm>
          <a:prstGeom prst="rect">
            <a:avLst/>
          </a:prstGeom>
          <a:solidFill>
            <a:srgbClr val="F1F5F9"/>
          </a:solidFill>
          <a:ln/>
        </p:spPr>
        <p:txBody>
          <a:bodyPr/>
          <a:lstStyle/>
          <a:p>
            <a:endParaRPr lang="it-IT"/>
          </a:p>
        </p:txBody>
      </p:sp>
      <p:sp>
        <p:nvSpPr>
          <p:cNvPr id="15" name="Text 13"/>
          <p:cNvSpPr/>
          <p:nvPr/>
        </p:nvSpPr>
        <p:spPr>
          <a:xfrm>
            <a:off x="640080" y="2606040"/>
            <a:ext cx="5486400" cy="41148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Tempo partner (selezione, 3 masterclass)</a:t>
            </a:r>
            <a:endParaRPr lang="en-US" sz="1200" dirty="0"/>
          </a:p>
        </p:txBody>
      </p:sp>
      <p:sp>
        <p:nvSpPr>
          <p:cNvPr id="16" name="Text 14"/>
          <p:cNvSpPr/>
          <p:nvPr/>
        </p:nvSpPr>
        <p:spPr>
          <a:xfrm>
            <a:off x="6126480" y="2606040"/>
            <a:ext cx="2377440" cy="411480"/>
          </a:xfrm>
          <a:prstGeom prst="rect">
            <a:avLst/>
          </a:prstGeom>
          <a:noFill/>
          <a:ln/>
        </p:spPr>
        <p:txBody>
          <a:bodyPr wrap="square" lIns="0" tIns="0" rIns="0" bIns="0" rtlCol="0" anchor="ctr"/>
          <a:lstStyle/>
          <a:p>
            <a:pPr marL="0" indent="0" algn="r">
              <a:buNone/>
            </a:pPr>
            <a:r>
              <a:rPr lang="en-US" sz="1200" dirty="0">
                <a:solidFill>
                  <a:srgbClr val="1E293B"/>
                </a:solidFill>
                <a:latin typeface="Calibri" pitchFamily="34" charset="0"/>
                <a:ea typeface="Calibri" pitchFamily="34" charset="-122"/>
                <a:cs typeface="Calibri" pitchFamily="34" charset="-120"/>
              </a:rPr>
              <a:t>~15-20 ore in 90 gg</a:t>
            </a:r>
            <a:endParaRPr lang="en-US" sz="1200" dirty="0"/>
          </a:p>
        </p:txBody>
      </p:sp>
      <p:sp>
        <p:nvSpPr>
          <p:cNvPr id="17" name="Shape 15"/>
          <p:cNvSpPr/>
          <p:nvPr/>
        </p:nvSpPr>
        <p:spPr>
          <a:xfrm>
            <a:off x="457200" y="3108960"/>
            <a:ext cx="8229600" cy="411480"/>
          </a:xfrm>
          <a:prstGeom prst="rect">
            <a:avLst/>
          </a:prstGeom>
          <a:solidFill>
            <a:srgbClr val="E6FAF5"/>
          </a:solidFill>
          <a:ln/>
        </p:spPr>
        <p:txBody>
          <a:bodyPr/>
          <a:lstStyle/>
          <a:p>
            <a:endParaRPr lang="it-IT"/>
          </a:p>
        </p:txBody>
      </p:sp>
      <p:sp>
        <p:nvSpPr>
          <p:cNvPr id="18" name="Text 16"/>
          <p:cNvSpPr/>
          <p:nvPr/>
        </p:nvSpPr>
        <p:spPr>
          <a:xfrm>
            <a:off x="640080" y="3108960"/>
            <a:ext cx="5486400" cy="4114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Investimento netto in cash</a:t>
            </a:r>
            <a:endParaRPr lang="en-US" sz="1200" dirty="0"/>
          </a:p>
        </p:txBody>
      </p:sp>
      <p:sp>
        <p:nvSpPr>
          <p:cNvPr id="19" name="Text 17"/>
          <p:cNvSpPr/>
          <p:nvPr/>
        </p:nvSpPr>
        <p:spPr>
          <a:xfrm>
            <a:off x="6126480" y="3108960"/>
            <a:ext cx="2377440" cy="411480"/>
          </a:xfrm>
          <a:prstGeom prst="rect">
            <a:avLst/>
          </a:prstGeom>
          <a:noFill/>
          <a:ln/>
        </p:spPr>
        <p:txBody>
          <a:bodyPr wrap="square" lIns="0" tIns="0" rIns="0" bIns="0" rtlCol="0" anchor="ctr"/>
          <a:lstStyle/>
          <a:p>
            <a:pPr marL="0" indent="0" algn="r">
              <a:buNone/>
            </a:pPr>
            <a:r>
              <a:rPr lang="en-US" sz="1200" b="1" dirty="0">
                <a:solidFill>
                  <a:srgbClr val="0A7A70"/>
                </a:solidFill>
                <a:latin typeface="Calibri" pitchFamily="34" charset="0"/>
                <a:ea typeface="Calibri" pitchFamily="34" charset="-122"/>
                <a:cs typeface="Calibri" pitchFamily="34" charset="-120"/>
              </a:rPr>
              <a:t>~€300</a:t>
            </a:r>
            <a:endParaRPr lang="en-US" sz="1200" dirty="0"/>
          </a:p>
        </p:txBody>
      </p:sp>
      <p:sp>
        <p:nvSpPr>
          <p:cNvPr id="20" name="Text 18"/>
          <p:cNvSpPr/>
          <p:nvPr/>
        </p:nvSpPr>
        <p:spPr>
          <a:xfrm>
            <a:off x="457200" y="3840480"/>
            <a:ext cx="8229600" cy="594360"/>
          </a:xfrm>
          <a:prstGeom prst="rect">
            <a:avLst/>
          </a:prstGeom>
          <a:noFill/>
          <a:ln/>
        </p:spPr>
        <p:txBody>
          <a:bodyPr wrap="square" rtlCol="0" anchor="ctr"/>
          <a:lstStyle/>
          <a:p>
            <a:pPr marL="0" indent="0">
              <a:buNone/>
            </a:pPr>
            <a:r>
              <a:rPr lang="en-US" sz="1000" dirty="0">
                <a:solidFill>
                  <a:srgbClr val="475569"/>
                </a:solidFill>
                <a:latin typeface="Calibri" pitchFamily="34" charset="0"/>
                <a:ea typeface="Calibri" pitchFamily="34" charset="-122"/>
                <a:cs typeface="Calibri" pitchFamily="34" charset="-120"/>
              </a:rPr>
              <a:t>Il partner viene compensato con il 25% dei ricavi POC (€298) e con la proprietà condivisa delle registrazioni: le 3 masterclass entrano nella libreria Inner Circle e generano il 30% di revenue share per ogni futuro membro.</a:t>
            </a:r>
            <a:endParaRPr lang="en-US" sz="1000" dirty="0"/>
          </a:p>
        </p:txBody>
      </p:sp>
      <p:sp>
        <p:nvSpPr>
          <p:cNvPr id="21" name="Text 19"/>
          <p:cNvSpPr/>
          <p:nvPr/>
        </p:nvSpPr>
        <p:spPr>
          <a:xfrm>
            <a:off x="457200" y="4526280"/>
            <a:ext cx="8229600" cy="274320"/>
          </a:xfrm>
          <a:prstGeom prst="rect">
            <a:avLst/>
          </a:prstGeom>
          <a:noFill/>
          <a:ln/>
        </p:spPr>
        <p:txBody>
          <a:bodyPr wrap="square" rtlCol="0" anchor="ctr"/>
          <a:lstStyle/>
          <a:p>
            <a:pPr marL="0" indent="0">
              <a:buNone/>
            </a:pPr>
            <a:r>
              <a:rPr lang="en-US" sz="1200" b="1" dirty="0">
                <a:solidFill>
                  <a:srgbClr val="F96167"/>
                </a:solidFill>
                <a:latin typeface="Calibri" pitchFamily="34" charset="0"/>
                <a:ea typeface="Calibri" pitchFamily="34" charset="-122"/>
                <a:cs typeface="Calibri" pitchFamily="34" charset="-120"/>
              </a:rPr>
              <a:t>Costo totale se ci fermiamo al giorno 90: 3 mesi di tempo e circa €1.000.</a:t>
            </a:r>
            <a:endParaRPr lang="en-US" sz="1200" dirty="0"/>
          </a:p>
        </p:txBody>
      </p:sp>
      <p:sp>
        <p:nvSpPr>
          <p:cNvPr id="22" name="Text 20"/>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30 / 56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10</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Proiezioni finanziarie</a:t>
            </a:r>
            <a:endParaRPr lang="en-US" sz="4000" dirty="0"/>
          </a:p>
        </p:txBody>
      </p:sp>
      <p:sp>
        <p:nvSpPr>
          <p:cNvPr id="5" name="Text 3"/>
          <p:cNvSpPr/>
          <p:nvPr/>
        </p:nvSpPr>
        <p:spPr>
          <a:xfrm>
            <a:off x="457200" y="256032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Due strutture a confronto: il business sta in piedi indipendentemente dalla partnership</a:t>
            </a:r>
            <a:endParaRPr lang="en-US" sz="1600" dirty="0"/>
          </a:p>
        </p:txBody>
      </p:sp>
      <p:sp>
        <p:nvSpPr>
          <p:cNvPr id="6"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31 / 56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10 — CONFIGURAZIONE A</a:t>
            </a:r>
            <a:endParaRPr lang="en-US" sz="800" dirty="0"/>
          </a:p>
        </p:txBody>
      </p:sp>
      <p:sp>
        <p:nvSpPr>
          <p:cNvPr id="3" name="Text 1"/>
          <p:cNvSpPr/>
          <p:nvPr/>
        </p:nvSpPr>
        <p:spPr>
          <a:xfrm>
            <a:off x="457200" y="399081"/>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Founder solo (senza Industry Partner)</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320040"/>
          </a:xfrm>
          <a:prstGeom prst="rect">
            <a:avLst/>
          </a:prstGeom>
          <a:noFill/>
          <a:ln/>
        </p:spPr>
        <p:txBody>
          <a:bodyPr wrap="square"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LinkedIn organico, SEO, referral, webinar self-hosted. Lead a regime: 10-14/mese. Vendite a regime: 1-2/mese.</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2606040"/>
        </p:xfrm>
        <a:graphic>
          <a:graphicData uri="http://schemas.openxmlformats.org/drawingml/2006/table">
            <a:tbl>
              <a:tblPr/>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75569"/>
                    </a:solidFill>
                  </a:tcPr>
                </a:tc>
                <a:tc>
                  <a:txBody>
                    <a:bodyPr/>
                    <a:lstStyle/>
                    <a:p>
                      <a:pPr marL="0" indent="0" algn="ctr">
                        <a:buNone/>
                      </a:pPr>
                      <a:r>
                        <a:rPr lang="en-US" sz="1100" b="1" dirty="0">
                          <a:solidFill>
                            <a:srgbClr val="FFFFFF"/>
                          </a:solidFill>
                        </a:rPr>
                        <a:t>Anno 1</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75569"/>
                    </a:solidFill>
                  </a:tcPr>
                </a:tc>
                <a:tc>
                  <a:txBody>
                    <a:bodyPr/>
                    <a:lstStyle/>
                    <a:p>
                      <a:pPr marL="0" indent="0" algn="ctr">
                        <a:buNone/>
                      </a:pPr>
                      <a:r>
                        <a:rPr lang="en-US" sz="1100" b="1" dirty="0">
                          <a:solidFill>
                            <a:srgbClr val="FFFFFF"/>
                          </a:solidFill>
                        </a:rPr>
                        <a:t>Anno 2</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75569"/>
                    </a:solidFill>
                  </a:tcPr>
                </a:tc>
                <a:tc>
                  <a:txBody>
                    <a:bodyPr/>
                    <a:lstStyle/>
                    <a:p>
                      <a:pPr marL="0" indent="0" algn="ctr">
                        <a:buNone/>
                      </a:pPr>
                      <a:r>
                        <a:rPr lang="en-US" sz="1100" b="1" dirty="0">
                          <a:solidFill>
                            <a:srgbClr val="FFFFFF"/>
                          </a:solidFill>
                        </a:rPr>
                        <a:t>Anno 3</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475569"/>
                    </a:solidFill>
                  </a:tcPr>
                </a:tc>
                <a:extLst>
                  <a:ext uri="{0D108BD9-81ED-4DB2-BD59-A6C34878D82A}">
                    <a16:rowId xmlns:a16="http://schemas.microsoft.com/office/drawing/2014/main" val="10000"/>
                  </a:ext>
                </a:extLst>
              </a:tr>
              <a:tr h="365760">
                <a:tc>
                  <a:txBody>
                    <a:bodyPr/>
                    <a:lstStyle/>
                    <a:p>
                      <a:pPr marL="0" indent="0" algn="l">
                        <a:buNone/>
                      </a:pPr>
                      <a:r>
                        <a:rPr lang="en-US" sz="1100" b="1" dirty="0">
                          <a:solidFill>
                            <a:srgbClr val="1E293B"/>
                          </a:solidFill>
                          <a:latin typeface="Calibri" pitchFamily="34" charset="0"/>
                          <a:ea typeface="Calibri" pitchFamily="34" charset="-122"/>
                          <a:cs typeface="Calibri" pitchFamily="34" charset="-120"/>
                        </a:rPr>
                        <a:t>Nuovi clienti</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00" b="1" dirty="0">
                          <a:solidFill>
                            <a:srgbClr val="1E293B"/>
                          </a:solidFill>
                          <a:latin typeface="Calibri" pitchFamily="34" charset="0"/>
                          <a:ea typeface="Calibri" pitchFamily="34" charset="-122"/>
                          <a:cs typeface="Calibri" pitchFamily="34" charset="-120"/>
                        </a:rPr>
                        <a:t>Base cumulativa</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100" b="1" dirty="0">
                          <a:solidFill>
                            <a:srgbClr val="1E293B"/>
                          </a:solidFill>
                          <a:latin typeface="Calibri" pitchFamily="34" charset="0"/>
                          <a:ea typeface="Calibri" pitchFamily="34" charset="-122"/>
                          <a:cs typeface="Calibri" pitchFamily="34" charset="-120"/>
                        </a:rPr>
                        <a:t>Fatturato</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€7.200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€13.500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00" b="1" dirty="0">
                          <a:solidFill>
                            <a:srgbClr val="1E293B"/>
                          </a:solidFill>
                          <a:latin typeface="Calibri" pitchFamily="34" charset="0"/>
                          <a:ea typeface="Calibri" pitchFamily="34" charset="-122"/>
                          <a:cs typeface="Calibri" pitchFamily="34" charset="-120"/>
                        </a:rPr>
                        <a:t>Costi totali</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€5.800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€8.500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€14.000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100" b="1" dirty="0">
                          <a:solidFill>
                            <a:srgbClr val="1E293B"/>
                          </a:solidFill>
                          <a:latin typeface="Calibri" pitchFamily="34" charset="0"/>
                          <a:ea typeface="Calibri" pitchFamily="34" charset="-122"/>
                          <a:cs typeface="Calibri" pitchFamily="34" charset="-120"/>
                        </a:rPr>
                        <a:t>Tasse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€1.512</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€2.835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€4.400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100" b="1" dirty="0">
                          <a:solidFill>
                            <a:srgbClr val="0A7A70"/>
                          </a:solidFill>
                          <a:latin typeface="Calibri" pitchFamily="34" charset="0"/>
                          <a:ea typeface="Calibri" pitchFamily="34" charset="-122"/>
                          <a:cs typeface="Calibri" pitchFamily="34" charset="-120"/>
                        </a:rPr>
                        <a:t>Netto founder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b="1" dirty="0">
                          <a:solidFill>
                            <a:srgbClr val="F96167"/>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b="1" dirty="0">
                          <a:solidFill>
                            <a:srgbClr val="0A7A70"/>
                          </a:solidFill>
                          <a:latin typeface="Calibri" pitchFamily="34" charset="0"/>
                          <a:ea typeface="Calibri" pitchFamily="34" charset="-122"/>
                          <a:cs typeface="Calibri" pitchFamily="34" charset="-120"/>
                        </a:rPr>
                        <a:t>€2.165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1100" b="1" dirty="0">
                          <a:solidFill>
                            <a:srgbClr val="0A7A70"/>
                          </a:solidFill>
                          <a:latin typeface="Calibri" pitchFamily="34" charset="0"/>
                          <a:ea typeface="Calibri" pitchFamily="34" charset="-122"/>
                          <a:cs typeface="Calibri" pitchFamily="34" charset="-120"/>
                        </a:rPr>
                        <a:t>€3.600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6"/>
                  </a:ext>
                </a:extLst>
              </a:tr>
            </a:tbl>
          </a:graphicData>
        </a:graphic>
      </p:graphicFrame>
      <p:sp>
        <p:nvSpPr>
          <p:cNvPr id="7" name="Text 4"/>
          <p:cNvSpPr/>
          <p:nvPr/>
        </p:nvSpPr>
        <p:spPr>
          <a:xfrm>
            <a:off x="457200" y="4206240"/>
            <a:ext cx="8229600" cy="457200"/>
          </a:xfrm>
          <a:prstGeom prst="rect">
            <a:avLst/>
          </a:prstGeom>
          <a:noFill/>
          <a:ln/>
        </p:spPr>
        <p:txBody>
          <a:bodyPr wrap="square"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Il business sopravvive. Non genera debito. Ma la crescita è lenta e il founder non si paga un vero stipendio per almeno 2 anni.</a:t>
            </a:r>
            <a:endParaRPr lang="en-US" sz="1200" dirty="0"/>
          </a:p>
        </p:txBody>
      </p:sp>
      <p:sp>
        <p:nvSpPr>
          <p:cNvPr id="8" name="Text 5"/>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32 / 56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10 — CONFIG. B CONSERVATIVO</a:t>
            </a:r>
            <a:endParaRPr lang="en-US" sz="800" dirty="0"/>
          </a:p>
        </p:txBody>
      </p:sp>
      <p:sp>
        <p:nvSpPr>
          <p:cNvPr id="3" name="Text 1"/>
          <p:cNvSpPr/>
          <p:nvPr/>
        </p:nvSpPr>
        <p:spPr>
          <a:xfrm>
            <a:off x="457200" y="384048"/>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Con partner — Scenario conservativo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274320"/>
          </a:xfrm>
          <a:prstGeom prst="rect">
            <a:avLst/>
          </a:prstGeom>
          <a:noFill/>
          <a:ln/>
        </p:spPr>
        <p:txBody>
          <a:bodyPr wrap="square"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Partner arriva tardi, conversione 20%, Inner Circle con bassa adozione (12% della base)</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3182112"/>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buNone/>
                      </a:pP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rPr>
                        <a:t>Anno 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rPr>
                        <a:t>Anno 2</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rPr>
                        <a:t>Anno 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Nuovi clienti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Base cumulativa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117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Vendite 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€8.559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€12.632</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€18.108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Assistenza PRO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€160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€2.414</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€4.945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Inner Circle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€996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€2.040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€4.388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Fatturato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€10.715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€17.086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€27.441</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6"/>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Costi + operativi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€6.970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€9.330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€12.990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Compenso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€1.735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€2.782</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€4.590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Tasse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€2.250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€3.588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€6.467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lgn="l">
                        <a:buNone/>
                      </a:pPr>
                      <a:r>
                        <a:rPr lang="en-US" sz="900" b="1" dirty="0">
                          <a:solidFill>
                            <a:srgbClr val="0A7A70"/>
                          </a:solidFill>
                          <a:latin typeface="Calibri" pitchFamily="34" charset="0"/>
                          <a:ea typeface="Calibri" pitchFamily="34" charset="-122"/>
                          <a:cs typeface="Calibri" pitchFamily="34" charset="-120"/>
                        </a:rPr>
                        <a:t>Netto founder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F96167"/>
                          </a:solidFill>
                          <a:latin typeface="Calibri" pitchFamily="34" charset="0"/>
                          <a:ea typeface="Calibri" pitchFamily="34" charset="-122"/>
                          <a:cs typeface="Calibri" pitchFamily="34" charset="-120"/>
                        </a:rPr>
                        <a:t>-€240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€1.386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€3.394</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10"/>
                  </a:ext>
                </a:extLst>
              </a:tr>
              <a:tr h="265176">
                <a:tc>
                  <a:txBody>
                    <a:bodyPr/>
                    <a:lstStyle/>
                    <a:p>
                      <a:pPr marL="0" indent="0" algn="l">
                        <a:buNone/>
                      </a:pPr>
                      <a:r>
                        <a:rPr lang="en-US" sz="900" b="1" dirty="0">
                          <a:solidFill>
                            <a:srgbClr val="1E3A5F"/>
                          </a:solidFill>
                          <a:latin typeface="Calibri" pitchFamily="34" charset="0"/>
                          <a:ea typeface="Calibri" pitchFamily="34" charset="-122"/>
                          <a:cs typeface="Calibri" pitchFamily="34" charset="-120"/>
                        </a:rPr>
                        <a:t>Netto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€1.735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€2.782</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€4.590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11"/>
                  </a:ext>
                </a:extLst>
              </a:tr>
            </a:tbl>
          </a:graphicData>
        </a:graphic>
      </p:graphicFrame>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33 / 56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10 — CONFIG. B BASE</a:t>
            </a:r>
            <a:endParaRPr lang="en-US" sz="800" dirty="0"/>
          </a:p>
        </p:txBody>
      </p:sp>
      <p:sp>
        <p:nvSpPr>
          <p:cNvPr id="3" name="Text 1"/>
          <p:cNvSpPr/>
          <p:nvPr/>
        </p:nvSpPr>
        <p:spPr>
          <a:xfrm>
            <a:off x="457200" y="36576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Con partner — Scenario base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274320"/>
          </a:xfrm>
          <a:prstGeom prst="rect">
            <a:avLst/>
          </a:prstGeom>
          <a:noFill/>
          <a:ln/>
        </p:spPr>
        <p:txBody>
          <a:bodyPr wrap="square"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Partner operativo dal mese 2, conversione 25%, Inner Circle al 20% della base</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3182112"/>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buNone/>
                      </a:pP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Anno 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Anno 2</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000" b="1" dirty="0">
                          <a:solidFill>
                            <a:srgbClr val="FFFFFF"/>
                          </a:solidFill>
                        </a:rPr>
                        <a:t>Anno 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Nuovi clienti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58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Base cumulativa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46</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Vendite 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€13.950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€21.450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€32.850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Assistenza PRO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€3.700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€7.300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Inner Circle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€2.250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Fatturato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€17.150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€29.650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€49.650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6"/>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Costi + operativi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€8.560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€14.325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€22.865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Compenso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€2.375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€4.200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Tasse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€3.600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€6.230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€6.750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lgn="l">
                        <a:buNone/>
                      </a:pPr>
                      <a:r>
                        <a:rPr lang="en-US" sz="900" b="1" dirty="0">
                          <a:solidFill>
                            <a:srgbClr val="0A7A70"/>
                          </a:solidFill>
                          <a:latin typeface="Calibri" pitchFamily="34" charset="0"/>
                          <a:ea typeface="Calibri" pitchFamily="34" charset="-122"/>
                          <a:cs typeface="Calibri" pitchFamily="34" charset="-120"/>
                        </a:rPr>
                        <a:t>Netto founder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€2.615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€4.895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€12.535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10"/>
                  </a:ext>
                </a:extLst>
              </a:tr>
              <a:tr h="265176">
                <a:tc>
                  <a:txBody>
                    <a:bodyPr/>
                    <a:lstStyle/>
                    <a:p>
                      <a:pPr marL="0" indent="0" algn="l">
                        <a:buNone/>
                      </a:pPr>
                      <a:r>
                        <a:rPr lang="en-US" sz="900" b="1" dirty="0">
                          <a:solidFill>
                            <a:srgbClr val="1E3A5F"/>
                          </a:solidFill>
                          <a:latin typeface="Calibri" pitchFamily="34" charset="0"/>
                          <a:ea typeface="Calibri" pitchFamily="34" charset="-122"/>
                          <a:cs typeface="Calibri" pitchFamily="34" charset="-120"/>
                        </a:rPr>
                        <a:t>Netto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€2.375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€4.200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€7.500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11"/>
                  </a:ext>
                </a:extLst>
              </a:tr>
            </a:tbl>
          </a:graphicData>
        </a:graphic>
      </p:graphicFrame>
      <p:sp>
        <p:nvSpPr>
          <p:cNvPr id="7" name="Text 4"/>
          <p:cNvSpPr/>
          <p:nvPr/>
        </p:nvSpPr>
        <p:spPr>
          <a:xfrm>
            <a:off x="274320" y="4526280"/>
            <a:ext cx="7315200" cy="182880"/>
          </a:xfrm>
          <a:prstGeom prst="rect">
            <a:avLst/>
          </a:prstGeom>
          <a:noFill/>
          <a:ln/>
        </p:spPr>
        <p:txBody>
          <a:bodyPr wrap="square" rtlCol="0" anchor="ctr"/>
          <a:lstStyle/>
          <a:p>
            <a:pPr marL="0" indent="0">
              <a:buNone/>
            </a:pPr>
            <a:r>
              <a:rPr lang="en-US" sz="750" i="1" dirty="0">
                <a:solidFill>
                  <a:srgbClr val="475569"/>
                </a:solidFill>
                <a:latin typeface="Calibri" pitchFamily="34" charset="0"/>
                <a:ea typeface="Calibri" pitchFamily="34" charset="-122"/>
                <a:cs typeface="Calibri" pitchFamily="34" charset="-120"/>
              </a:rPr>
              <a:t>Dall'Anno 3, con fatturato &gt;€40K, transizione a regime ordinario/SRL. Tasse ~35% sul reddito netto (costi deducibili).</a:t>
            </a:r>
            <a:endParaRPr lang="en-US" sz="750" dirty="0"/>
          </a:p>
        </p:txBody>
      </p:sp>
      <p:sp>
        <p:nvSpPr>
          <p:cNvPr id="8" name="Text 5"/>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34 / 56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10 — CONFIG. B OTTIMISTICO</a:t>
            </a:r>
            <a:endParaRPr lang="en-US" sz="800" dirty="0"/>
          </a:p>
        </p:txBody>
      </p:sp>
      <p:sp>
        <p:nvSpPr>
          <p:cNvPr id="3" name="Text 1"/>
          <p:cNvSpPr/>
          <p:nvPr/>
        </p:nvSpPr>
        <p:spPr>
          <a:xfrm>
            <a:off x="457200" y="375214"/>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Con partner — Scenario ottimistico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274320"/>
          </a:xfrm>
          <a:prstGeom prst="rect">
            <a:avLst/>
          </a:prstGeom>
          <a:noFill/>
          <a:ln/>
        </p:spPr>
        <p:txBody>
          <a:bodyPr wrap="square"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Partner forte, conversione 30%, Inner Circle al 25% della base</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3182112"/>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buNone/>
                      </a:pP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1000" b="1" dirty="0">
                          <a:solidFill>
                            <a:srgbClr val="FFFFFF"/>
                          </a:solidFill>
                        </a:rPr>
                        <a:t>Anno 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1000" b="1" dirty="0">
                          <a:solidFill>
                            <a:srgbClr val="FFFFFF"/>
                          </a:solidFill>
                        </a:rPr>
                        <a:t>Anno 2</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1000" b="1" dirty="0">
                          <a:solidFill>
                            <a:srgbClr val="FFFFFF"/>
                          </a:solidFill>
                        </a:rPr>
                        <a:t>Anno 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extLst>
                  <a:ext uri="{0D108BD9-81ED-4DB2-BD59-A6C34878D82A}">
                    <a16:rowId xmlns:a16="http://schemas.microsoft.com/office/drawing/2014/main" val="10000"/>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Nuovi clienti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155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Base cumulativa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164</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319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Vendite prodotto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€23.383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€37.330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€57.680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Assistenza PRO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€4.430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€8.620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Inner Circle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€2.990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€7.380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€15.200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Fatturato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€27.973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€49.140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293B"/>
                          </a:solidFill>
                          <a:latin typeface="Calibri" pitchFamily="34" charset="0"/>
                          <a:ea typeface="Calibri" pitchFamily="34" charset="-122"/>
                          <a:cs typeface="Calibri" pitchFamily="34" charset="-120"/>
                        </a:rPr>
                        <a:t>€81.500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6"/>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Costi + operativi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€11.050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€22.130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€38.250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Compenso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€8.100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€13.900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Tasse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€5.874</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€6.620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€10.270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lgn="l">
                        <a:buNone/>
                      </a:pPr>
                      <a:r>
                        <a:rPr lang="en-US" sz="900" b="1" dirty="0">
                          <a:solidFill>
                            <a:srgbClr val="0A7A70"/>
                          </a:solidFill>
                          <a:latin typeface="Calibri" pitchFamily="34" charset="0"/>
                          <a:ea typeface="Calibri" pitchFamily="34" charset="-122"/>
                          <a:cs typeface="Calibri" pitchFamily="34" charset="-120"/>
                        </a:rPr>
                        <a:t>Netto founder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€6.549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€12.290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€19.080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10"/>
                  </a:ext>
                </a:extLst>
              </a:tr>
              <a:tr h="265176">
                <a:tc>
                  <a:txBody>
                    <a:bodyPr/>
                    <a:lstStyle/>
                    <a:p>
                      <a:pPr marL="0" indent="0" algn="l">
                        <a:buNone/>
                      </a:pPr>
                      <a:r>
                        <a:rPr lang="en-US" sz="900" b="1" dirty="0">
                          <a:solidFill>
                            <a:srgbClr val="1E3A5F"/>
                          </a:solidFill>
                          <a:latin typeface="Calibri" pitchFamily="34" charset="0"/>
                          <a:ea typeface="Calibri" pitchFamily="34" charset="-122"/>
                          <a:cs typeface="Calibri" pitchFamily="34" charset="-120"/>
                        </a:rPr>
                        <a:t>Netto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€4.500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€8.100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€13.900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11"/>
                  </a:ext>
                </a:extLst>
              </a:tr>
            </a:tbl>
          </a:graphicData>
        </a:graphic>
      </p:graphicFrame>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35 / 56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8229600" cy="274320"/>
          </a:xfrm>
          <a:prstGeom prst="rect">
            <a:avLst/>
          </a:prstGeom>
          <a:noFill/>
          <a:ln/>
        </p:spPr>
        <p:txBody>
          <a:bodyPr wrap="square" rtlCol="0" anchor="ctr"/>
          <a:lstStyle/>
          <a:p>
            <a:pPr marL="0" indent="0">
              <a:buNone/>
            </a:pPr>
            <a:r>
              <a:rPr lang="en-US" sz="1000" b="1" kern="0" spc="400" dirty="0">
                <a:solidFill>
                  <a:srgbClr val="0D9488"/>
                </a:solidFill>
                <a:latin typeface="Calibri" pitchFamily="34" charset="0"/>
                <a:ea typeface="Calibri" pitchFamily="34" charset="-122"/>
                <a:cs typeface="Calibri" pitchFamily="34" charset="-120"/>
              </a:rPr>
              <a:t>IL CONFRONTO DIRETTO</a:t>
            </a:r>
            <a:endParaRPr lang="en-US" sz="1000" dirty="0"/>
          </a:p>
        </p:txBody>
      </p:sp>
      <p:sp>
        <p:nvSpPr>
          <p:cNvPr id="4" name="Text 2"/>
          <p:cNvSpPr/>
          <p:nvPr/>
        </p:nvSpPr>
        <p:spPr>
          <a:xfrm>
            <a:off x="457200" y="731520"/>
            <a:ext cx="8229600" cy="54864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Cosa cambia con il partner</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2432304"/>
        </p:xfrm>
        <a:graphic>
          <a:graphicData uri="http://schemas.openxmlformats.org/drawingml/2006/table">
            <a:tbl>
              <a:tblPr/>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472">
                <a:tc>
                  <a:txBody>
                    <a:bodyPr/>
                    <a:lstStyle/>
                    <a:p>
                      <a:pPr marL="0" indent="0">
                        <a:buNone/>
                      </a:pPr>
                      <a:endParaRPr lang="en-US" sz="1200" dirty="0"/>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0A7A70"/>
                    </a:solidFill>
                  </a:tcPr>
                </a:tc>
                <a:tc>
                  <a:txBody>
                    <a:bodyPr/>
                    <a:lstStyle/>
                    <a:p>
                      <a:pPr marL="0" indent="0" algn="ctr">
                        <a:buNone/>
                      </a:pPr>
                      <a:r>
                        <a:rPr lang="en-US" sz="1000" b="1" dirty="0">
                          <a:solidFill>
                            <a:srgbClr val="FFFFFF"/>
                          </a:solidFill>
                        </a:rPr>
                        <a:t>Senza partner</a:t>
                      </a:r>
                      <a:endParaRPr lang="en-US" sz="1000" dirty="0"/>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0A7A70"/>
                    </a:solidFill>
                  </a:tcPr>
                </a:tc>
                <a:tc>
                  <a:txBody>
                    <a:bodyPr/>
                    <a:lstStyle/>
                    <a:p>
                      <a:pPr marL="0" indent="0" algn="ctr">
                        <a:buNone/>
                      </a:pPr>
                      <a:r>
                        <a:rPr lang="en-US" sz="1000" b="1" dirty="0">
                          <a:solidFill>
                            <a:srgbClr val="FFFFFF"/>
                          </a:solidFill>
                        </a:rPr>
                        <a:t>Con partner (base)</a:t>
                      </a:r>
                      <a:endParaRPr lang="en-US" sz="1000" dirty="0"/>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0A7A70"/>
                    </a:solidFill>
                  </a:tcPr>
                </a:tc>
                <a:tc>
                  <a:txBody>
                    <a:bodyPr/>
                    <a:lstStyle/>
                    <a:p>
                      <a:pPr marL="0" indent="0" algn="ctr">
                        <a:buNone/>
                      </a:pPr>
                      <a:r>
                        <a:rPr lang="en-US" sz="1000" b="1" dirty="0">
                          <a:solidFill>
                            <a:srgbClr val="F59E0B"/>
                          </a:solidFill>
                        </a:rPr>
                        <a:t>Moltiplicatore</a:t>
                      </a:r>
                      <a:endParaRPr lang="en-US" sz="1000" dirty="0"/>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0A7A70"/>
                    </a:solidFill>
                  </a:tcPr>
                </a:tc>
                <a:extLst>
                  <a:ext uri="{0D108BD9-81ED-4DB2-BD59-A6C34878D82A}">
                    <a16:rowId xmlns:a16="http://schemas.microsoft.com/office/drawing/2014/main" val="10000"/>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Clienti Anno 1</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1,9x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1"/>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Clienti Anno 3</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191</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1,8x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2"/>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Fatturato Anno 1</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€7.200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€17.150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2,4x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3"/>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Fatturato Anno 3</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€22.000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€49.650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2,3x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4"/>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Netto founder Anno 3</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€3.600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€12.535</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3,5x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5"/>
                  </a:ext>
                </a:extLst>
              </a:tr>
              <a:tr h="34747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Fatturato cumulativo 3 anni</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FFFFFF"/>
                          </a:solidFill>
                          <a:latin typeface="Calibri" pitchFamily="34" charset="0"/>
                          <a:ea typeface="Calibri" pitchFamily="34" charset="-122"/>
                          <a:cs typeface="Calibri" pitchFamily="34" charset="-120"/>
                        </a:rPr>
                        <a:t>€42.700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dirty="0">
                          <a:solidFill>
                            <a:srgbClr val="14B8A6"/>
                          </a:solidFill>
                          <a:latin typeface="Calibri" pitchFamily="34" charset="0"/>
                          <a:ea typeface="Calibri" pitchFamily="34" charset="-122"/>
                          <a:cs typeface="Calibri" pitchFamily="34" charset="-120"/>
                        </a:rPr>
                        <a:t>€96.450</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tc>
                  <a:txBody>
                    <a:bodyPr/>
                    <a:lstStyle/>
                    <a:p>
                      <a:pPr marL="0" indent="0" algn="ctr">
                        <a:buNone/>
                      </a:pPr>
                      <a:r>
                        <a:rPr lang="en-US" sz="1000" b="1" dirty="0">
                          <a:solidFill>
                            <a:srgbClr val="F59E0B"/>
                          </a:solidFill>
                          <a:latin typeface="Calibri" pitchFamily="34" charset="0"/>
                          <a:ea typeface="Calibri" pitchFamily="34" charset="-122"/>
                          <a:cs typeface="Calibri" pitchFamily="34" charset="-120"/>
                        </a:rPr>
                        <a:t>2,3x</a:t>
                      </a:r>
                      <a:endParaRPr lang="en-US" sz="1000" dirty="0">
                        <a:latin typeface="Calibri" charset="0"/>
                        <a:ea typeface="Calibri" charset="0"/>
                        <a:cs typeface="Calibri" charset="0"/>
                      </a:endParaRPr>
                    </a:p>
                  </a:txBody>
                  <a:tcPr>
                    <a:lnL w="6350" cap="flat" cmpd="sng" algn="ctr">
                      <a:solidFill>
                        <a:srgbClr val="2A3A4E"/>
                      </a:solidFill>
                      <a:prstDash val="solid"/>
                      <a:round/>
                      <a:headEnd type="none" w="med" len="med"/>
                      <a:tailEnd type="none" w="med" len="med"/>
                    </a:lnL>
                    <a:lnR w="6350" cap="flat" cmpd="sng" algn="ctr">
                      <a:solidFill>
                        <a:srgbClr val="2A3A4E"/>
                      </a:solidFill>
                      <a:prstDash val="solid"/>
                      <a:round/>
                      <a:headEnd type="none" w="med" len="med"/>
                      <a:tailEnd type="none" w="med" len="med"/>
                    </a:lnR>
                    <a:lnT w="6350" cap="flat" cmpd="sng" algn="ctr">
                      <a:solidFill>
                        <a:srgbClr val="2A3A4E"/>
                      </a:solidFill>
                      <a:prstDash val="solid"/>
                      <a:round/>
                      <a:headEnd type="none" w="med" len="med"/>
                      <a:tailEnd type="none" w="med" len="med"/>
                    </a:lnT>
                    <a:lnB w="6350" cap="flat" cmpd="sng" algn="ctr">
                      <a:solidFill>
                        <a:srgbClr val="2A3A4E"/>
                      </a:solidFill>
                      <a:prstDash val="solid"/>
                      <a:round/>
                      <a:headEnd type="none" w="med" len="med"/>
                      <a:tailEnd type="none" w="med" len="med"/>
                    </a:lnB>
                    <a:solidFill>
                      <a:srgbClr val="162536"/>
                    </a:solidFill>
                  </a:tcPr>
                </a:tc>
                <a:extLst>
                  <a:ext uri="{0D108BD9-81ED-4DB2-BD59-A6C34878D82A}">
                    <a16:rowId xmlns:a16="http://schemas.microsoft.com/office/drawing/2014/main" val="10006"/>
                  </a:ext>
                </a:extLst>
              </a:tr>
            </a:tbl>
          </a:graphicData>
        </a:graphic>
      </p:graphicFrame>
      <p:sp>
        <p:nvSpPr>
          <p:cNvPr id="6" name="Text 3"/>
          <p:cNvSpPr/>
          <p:nvPr/>
        </p:nvSpPr>
        <p:spPr>
          <a:xfrm>
            <a:off x="457200" y="3977640"/>
            <a:ext cx="8229600" cy="502920"/>
          </a:xfrm>
          <a:prstGeom prst="rect">
            <a:avLst/>
          </a:prstGeom>
          <a:noFill/>
          <a:ln/>
        </p:spPr>
        <p:txBody>
          <a:bodyPr wrap="square" rtlCol="0" anchor="ctr"/>
          <a:lstStyle/>
          <a:p>
            <a:pPr marL="0" indent="0">
              <a:buNone/>
            </a:pPr>
            <a:r>
              <a:rPr lang="en-US" sz="1000" dirty="0">
                <a:solidFill>
                  <a:srgbClr val="94A3B8"/>
                </a:solidFill>
                <a:latin typeface="Calibri" pitchFamily="34" charset="0"/>
                <a:ea typeface="Calibri" pitchFamily="34" charset="-122"/>
                <a:cs typeface="Calibri" pitchFamily="34" charset="-120"/>
              </a:rPr>
              <a:t>Il partner non solo raddoppia le vendite — abilita un intero flusso di ricavo (Inner Circle) che non esiste senza partner. Moltiplicatore 3,5x sul netto: l'IC è ad alto margine e cresce con la base.</a:t>
            </a:r>
            <a:endParaRPr lang="en-US" sz="1000" dirty="0"/>
          </a:p>
        </p:txBody>
      </p:sp>
      <p:sp>
        <p:nvSpPr>
          <p:cNvPr id="7" name="Text 4"/>
          <p:cNvSpPr/>
          <p:nvPr/>
        </p:nvSpPr>
        <p:spPr>
          <a:xfrm>
            <a:off x="457200" y="4434840"/>
            <a:ext cx="8229600" cy="274320"/>
          </a:xfrm>
          <a:prstGeom prst="rect">
            <a:avLst/>
          </a:prstGeom>
          <a:noFill/>
          <a:ln/>
        </p:spPr>
        <p:txBody>
          <a:bodyPr wrap="square" rtlCol="0" anchor="ctr"/>
          <a:lstStyle/>
          <a:p>
            <a:pPr marL="0" indent="0">
              <a:buNone/>
            </a:pPr>
            <a:r>
              <a:rPr lang="en-US" sz="1300" b="1" dirty="0">
                <a:solidFill>
                  <a:srgbClr val="99F6E4"/>
                </a:solidFill>
                <a:latin typeface="Calibri" pitchFamily="34" charset="0"/>
                <a:ea typeface="Calibri" pitchFamily="34" charset="-122"/>
                <a:cs typeface="Calibri" pitchFamily="34" charset="-120"/>
              </a:rPr>
              <a:t>Il business funziona senza partner. Con il partner, decolla.</a:t>
            </a:r>
            <a:endParaRPr lang="en-US" sz="1300" dirty="0"/>
          </a:p>
        </p:txBody>
      </p:sp>
      <p:sp>
        <p:nvSpPr>
          <p:cNvPr id="8" name="Text 5"/>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36 / 56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10</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Vista cumulativa (scenario base)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3429000"/>
        </p:xfrm>
        <a:graphic>
          <a:graphicData uri="http://schemas.openxmlformats.org/drawingml/2006/table">
            <a:tbl>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28600">
                <a:tc>
                  <a:txBody>
                    <a:bodyPr/>
                    <a:lstStyle/>
                    <a:p>
                      <a:pPr marL="0" indent="0">
                        <a:buNone/>
                      </a:pP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Cumulativo</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28600">
                <a:tc>
                  <a:txBody>
                    <a:bodyPr/>
                    <a:lstStyle/>
                    <a:p>
                      <a:pPr marL="0" indent="0" algn="l">
                        <a:buNone/>
                      </a:pPr>
                      <a:r>
                        <a:rPr lang="en-US" sz="850" b="1" dirty="0">
                          <a:solidFill>
                            <a:srgbClr val="0D9488"/>
                          </a:solidFill>
                          <a:latin typeface="Calibri" pitchFamily="34" charset="0"/>
                          <a:ea typeface="Calibri" pitchFamily="34" charset="-122"/>
                          <a:cs typeface="Calibri" pitchFamily="34" charset="-120"/>
                        </a:rPr>
                        <a:t>PROGETTO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1"/>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Clienti (base installata)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104</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191</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Di cui Inner Circle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n-US" sz="850" b="1" dirty="0">
                          <a:solidFill>
                            <a:srgbClr val="0A7A70"/>
                          </a:solidFill>
                          <a:latin typeface="Calibri" pitchFamily="34" charset="0"/>
                          <a:ea typeface="Calibri" pitchFamily="34" charset="-122"/>
                          <a:cs typeface="Calibri" pitchFamily="34" charset="-120"/>
                        </a:rPr>
                        <a:t>Fatturato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€17.150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€29.650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€49.650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€96.450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extLst>
                  <a:ext uri="{0D108BD9-81ED-4DB2-BD59-A6C34878D82A}">
                    <a16:rowId xmlns:a16="http://schemas.microsoft.com/office/drawing/2014/main" val="10004"/>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Di cui ricorrente (PRO+IC)</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€8.200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€16.800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€28.200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lgn="l">
                        <a:buNone/>
                      </a:pPr>
                      <a:r>
                        <a:rPr lang="en-US" sz="850" b="1" dirty="0">
                          <a:solidFill>
                            <a:srgbClr val="0D9488"/>
                          </a:solidFill>
                          <a:latin typeface="Calibri" pitchFamily="34" charset="0"/>
                          <a:ea typeface="Calibri" pitchFamily="34" charset="-122"/>
                          <a:cs typeface="Calibri" pitchFamily="34" charset="-120"/>
                        </a:rPr>
                        <a:t>FOUNDER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6"/>
                  </a:ext>
                </a:extLst>
              </a:tr>
              <a:tr h="228600">
                <a:tc>
                  <a:txBody>
                    <a:bodyPr/>
                    <a:lstStyle/>
                    <a:p>
                      <a:pPr marL="0" indent="0" algn="l">
                        <a:buNone/>
                      </a:pPr>
                      <a:r>
                        <a:rPr lang="en-US" sz="850" b="1" dirty="0">
                          <a:solidFill>
                            <a:srgbClr val="0A7A70"/>
                          </a:solidFill>
                          <a:latin typeface="Calibri" pitchFamily="34" charset="0"/>
                          <a:ea typeface="Calibri" pitchFamily="34" charset="-122"/>
                          <a:cs typeface="Calibri" pitchFamily="34" charset="-120"/>
                        </a:rPr>
                        <a:t>Netto cash</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€2.615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€4.895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€12.535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€20.045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extLst>
                  <a:ext uri="{0D108BD9-81ED-4DB2-BD59-A6C34878D82A}">
                    <a16:rowId xmlns:a16="http://schemas.microsoft.com/office/drawing/2014/main" val="10007"/>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Equity detenuta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28600">
                <a:tc>
                  <a:txBody>
                    <a:bodyPr/>
                    <a:lstStyle/>
                    <a:p>
                      <a:pPr marL="0" indent="0" algn="l">
                        <a:buNone/>
                      </a:pPr>
                      <a:r>
                        <a:rPr lang="en-US" sz="850" b="1" dirty="0">
                          <a:solidFill>
                            <a:srgbClr val="0D9488"/>
                          </a:solidFill>
                          <a:latin typeface="Calibri" pitchFamily="34" charset="0"/>
                          <a:ea typeface="Calibri" pitchFamily="34" charset="-122"/>
                          <a:cs typeface="Calibri" pitchFamily="34" charset="-120"/>
                        </a:rPr>
                        <a:t>PARTNER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9"/>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Cash (compenso diff.)</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€2.375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€4.200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€14.075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Equity detenuta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28600">
                <a:tc>
                  <a:txBody>
                    <a:bodyPr/>
                    <a:lstStyle/>
                    <a:p>
                      <a:pPr marL="0" indent="0" algn="l">
                        <a:buNone/>
                      </a:pPr>
                      <a:r>
                        <a:rPr lang="en-US" sz="850" b="1" dirty="0">
                          <a:solidFill>
                            <a:srgbClr val="1E293B"/>
                          </a:solidFill>
                          <a:latin typeface="Calibri" pitchFamily="34" charset="0"/>
                          <a:ea typeface="Calibri" pitchFamily="34" charset="-122"/>
                          <a:cs typeface="Calibri" pitchFamily="34" charset="-120"/>
                        </a:rPr>
                        <a:t>Valore equity stimato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€4.100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€8.400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28600">
                <a:tc>
                  <a:txBody>
                    <a:bodyPr/>
                    <a:lstStyle/>
                    <a:p>
                      <a:pPr marL="0" indent="0" algn="l">
                        <a:buNone/>
                      </a:pPr>
                      <a:r>
                        <a:rPr lang="en-US" sz="850" b="1" dirty="0">
                          <a:solidFill>
                            <a:srgbClr val="0A7A70"/>
                          </a:solidFill>
                          <a:latin typeface="Calibri" pitchFamily="34" charset="0"/>
                          <a:ea typeface="Calibri" pitchFamily="34" charset="-122"/>
                          <a:cs typeface="Calibri" pitchFamily="34" charset="-120"/>
                        </a:rPr>
                        <a:t>Totale partner (cash+eq.)</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€3.975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€8.300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€15.900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€28.175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extLst>
                  <a:ext uri="{0D108BD9-81ED-4DB2-BD59-A6C34878D82A}">
                    <a16:rowId xmlns:a16="http://schemas.microsoft.com/office/drawing/2014/main" val="10013"/>
                  </a:ext>
                </a:extLst>
              </a:tr>
              <a:tr h="228600">
                <a:tc>
                  <a:txBody>
                    <a:bodyPr/>
                    <a:lstStyle/>
                    <a:p>
                      <a:pPr marL="0" indent="0" algn="l">
                        <a:buNone/>
                      </a:pPr>
                      <a:r>
                        <a:rPr lang="en-US" sz="850" b="1" dirty="0">
                          <a:solidFill>
                            <a:srgbClr val="0A7A70"/>
                          </a:solidFill>
                          <a:latin typeface="Calibri" pitchFamily="34" charset="0"/>
                          <a:ea typeface="Calibri" pitchFamily="34" charset="-122"/>
                          <a:cs typeface="Calibri" pitchFamily="34" charset="-120"/>
                        </a:rPr>
                        <a:t>Valore stimato progetto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€68.000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€140.000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tc>
                  <a:txBody>
                    <a:bodyPr/>
                    <a:lstStyle/>
                    <a:p>
                      <a:pPr marL="0" indent="0" algn="ctr">
                        <a:buNone/>
                      </a:pPr>
                      <a:r>
                        <a:rPr lang="en-US" sz="850" b="1" dirty="0">
                          <a:solidFill>
                            <a:srgbClr val="0A7A7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9"/>
                    </a:solidFill>
                  </a:tcPr>
                </a:tc>
                <a:extLst>
                  <a:ext uri="{0D108BD9-81ED-4DB2-BD59-A6C34878D82A}">
                    <a16:rowId xmlns:a16="http://schemas.microsoft.com/office/drawing/2014/main" val="10014"/>
                  </a:ext>
                </a:extLst>
              </a:tr>
            </a:tbl>
          </a:graphicData>
        </a:graphic>
      </p:graphicFrame>
      <p:sp>
        <p:nvSpPr>
          <p:cNvPr id="6" name="Text 3"/>
          <p:cNvSpPr/>
          <p:nvPr/>
        </p:nvSpPr>
        <p:spPr>
          <a:xfrm>
            <a:off x="274320" y="4480560"/>
            <a:ext cx="8595360" cy="228600"/>
          </a:xfrm>
          <a:prstGeom prst="rect">
            <a:avLst/>
          </a:prstGeom>
          <a:noFill/>
          <a:ln/>
        </p:spPr>
        <p:txBody>
          <a:bodyPr wrap="square" rtlCol="0" anchor="ctr"/>
          <a:lstStyle/>
          <a:p>
            <a:pPr marL="0" indent="0">
              <a:buNone/>
            </a:pPr>
            <a:r>
              <a:rPr lang="en-US" sz="750" i="1" dirty="0">
                <a:solidFill>
                  <a:srgbClr val="475569"/>
                </a:solidFill>
                <a:latin typeface="Calibri" pitchFamily="34" charset="0"/>
                <a:ea typeface="Calibri" pitchFamily="34" charset="-122"/>
                <a:cs typeface="Calibri" pitchFamily="34" charset="-120"/>
              </a:rPr>
              <a:t>Valutazione: 2x ricavo ricorrente annualizzato + valore base installata + IP + community. Metodo conservativo per software B2B verticali.</a:t>
            </a:r>
            <a:endParaRPr lang="en-US" sz="750" dirty="0"/>
          </a:p>
        </p:txBody>
      </p:sp>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37 / 56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11</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Se va male</a:t>
            </a:r>
            <a:endParaRPr lang="en-US" sz="4000" dirty="0"/>
          </a:p>
        </p:txBody>
      </p:sp>
      <p:sp>
        <p:nvSpPr>
          <p:cNvPr id="5" name="Text 3"/>
          <p:cNvSpPr/>
          <p:nvPr/>
        </p:nvSpPr>
        <p:spPr>
          <a:xfrm>
            <a:off x="457200" y="256032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Lo scenario peggiore — tutto va male contemporaneamente</a:t>
            </a:r>
            <a:endParaRPr lang="en-US" sz="1600" dirty="0"/>
          </a:p>
        </p:txBody>
      </p:sp>
      <p:sp>
        <p:nvSpPr>
          <p:cNvPr id="6" name="Shape 4"/>
          <p:cNvSpPr/>
          <p:nvPr/>
        </p:nvSpPr>
        <p:spPr>
          <a:xfrm>
            <a:off x="457200" y="3383280"/>
            <a:ext cx="1920240" cy="822960"/>
          </a:xfrm>
          <a:prstGeom prst="rect">
            <a:avLst/>
          </a:prstGeom>
          <a:solidFill>
            <a:srgbClr val="162536"/>
          </a:solidFill>
          <a:ln/>
        </p:spPr>
        <p:txBody>
          <a:bodyPr/>
          <a:lstStyle/>
          <a:p>
            <a:endParaRPr lang="it-IT"/>
          </a:p>
        </p:txBody>
      </p:sp>
      <p:sp>
        <p:nvSpPr>
          <p:cNvPr id="7" name="Text 5"/>
          <p:cNvSpPr/>
          <p:nvPr/>
        </p:nvSpPr>
        <p:spPr>
          <a:xfrm>
            <a:off x="457200" y="3401568"/>
            <a:ext cx="1920240" cy="411480"/>
          </a:xfrm>
          <a:prstGeom prst="rect">
            <a:avLst/>
          </a:prstGeom>
          <a:noFill/>
          <a:ln/>
        </p:spPr>
        <p:txBody>
          <a:bodyPr wrap="square" lIns="0" tIns="0" rIns="0" bIns="0" rtlCol="0" anchor="ctr"/>
          <a:lstStyle/>
          <a:p>
            <a:pPr marL="0" indent="0" algn="ctr">
              <a:buNone/>
            </a:pPr>
            <a:r>
              <a:rPr lang="en-US" sz="2000" b="1" dirty="0">
                <a:solidFill>
                  <a:srgbClr val="F96167"/>
                </a:solidFill>
                <a:latin typeface="Georgia" pitchFamily="34" charset="0"/>
                <a:ea typeface="Georgia" pitchFamily="34" charset="-122"/>
                <a:cs typeface="Georgia" pitchFamily="34" charset="-120"/>
              </a:rPr>
              <a:t>18-20</a:t>
            </a:r>
            <a:endParaRPr lang="en-US" sz="2000" dirty="0"/>
          </a:p>
        </p:txBody>
      </p:sp>
      <p:sp>
        <p:nvSpPr>
          <p:cNvPr id="8" name="Text 6"/>
          <p:cNvSpPr/>
          <p:nvPr/>
        </p:nvSpPr>
        <p:spPr>
          <a:xfrm>
            <a:off x="457200" y="3840480"/>
            <a:ext cx="1920240" cy="32004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Clienti Anno 1</a:t>
            </a:r>
            <a:endParaRPr lang="en-US" sz="1000" dirty="0"/>
          </a:p>
        </p:txBody>
      </p:sp>
      <p:sp>
        <p:nvSpPr>
          <p:cNvPr id="9" name="Shape 7"/>
          <p:cNvSpPr/>
          <p:nvPr/>
        </p:nvSpPr>
        <p:spPr>
          <a:xfrm>
            <a:off x="2560320" y="3383280"/>
            <a:ext cx="1920240" cy="822960"/>
          </a:xfrm>
          <a:prstGeom prst="rect">
            <a:avLst/>
          </a:prstGeom>
          <a:solidFill>
            <a:srgbClr val="162536"/>
          </a:solidFill>
          <a:ln/>
        </p:spPr>
        <p:txBody>
          <a:bodyPr/>
          <a:lstStyle/>
          <a:p>
            <a:endParaRPr lang="it-IT"/>
          </a:p>
        </p:txBody>
      </p:sp>
      <p:sp>
        <p:nvSpPr>
          <p:cNvPr id="10" name="Text 8"/>
          <p:cNvSpPr/>
          <p:nvPr/>
        </p:nvSpPr>
        <p:spPr>
          <a:xfrm>
            <a:off x="2560320" y="3401568"/>
            <a:ext cx="1920240" cy="411480"/>
          </a:xfrm>
          <a:prstGeom prst="rect">
            <a:avLst/>
          </a:prstGeom>
          <a:noFill/>
          <a:ln/>
        </p:spPr>
        <p:txBody>
          <a:bodyPr wrap="square" lIns="0" tIns="0" rIns="0" bIns="0" rtlCol="0" anchor="ctr"/>
          <a:lstStyle/>
          <a:p>
            <a:pPr marL="0" indent="0" algn="ctr">
              <a:buNone/>
            </a:pPr>
            <a:r>
              <a:rPr lang="en-US" sz="2000" b="1" dirty="0">
                <a:solidFill>
                  <a:srgbClr val="F96167"/>
                </a:solidFill>
                <a:latin typeface="Georgia" pitchFamily="34" charset="0"/>
                <a:ea typeface="Georgia" pitchFamily="34" charset="-122"/>
                <a:cs typeface="Georgia" pitchFamily="34" charset="-120"/>
              </a:rPr>
              <a:t>~€5.500</a:t>
            </a:r>
            <a:endParaRPr lang="en-US" sz="2000" dirty="0"/>
          </a:p>
        </p:txBody>
      </p:sp>
      <p:sp>
        <p:nvSpPr>
          <p:cNvPr id="11" name="Text 9"/>
          <p:cNvSpPr/>
          <p:nvPr/>
        </p:nvSpPr>
        <p:spPr>
          <a:xfrm>
            <a:off x="2560320" y="3840480"/>
            <a:ext cx="1920240" cy="32004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Fatturato</a:t>
            </a:r>
            <a:endParaRPr lang="en-US" sz="1000" dirty="0"/>
          </a:p>
        </p:txBody>
      </p:sp>
      <p:sp>
        <p:nvSpPr>
          <p:cNvPr id="12" name="Shape 10"/>
          <p:cNvSpPr/>
          <p:nvPr/>
        </p:nvSpPr>
        <p:spPr>
          <a:xfrm>
            <a:off x="4663440" y="3383280"/>
            <a:ext cx="1920240" cy="822960"/>
          </a:xfrm>
          <a:prstGeom prst="rect">
            <a:avLst/>
          </a:prstGeom>
          <a:solidFill>
            <a:srgbClr val="162536"/>
          </a:solidFill>
          <a:ln/>
        </p:spPr>
        <p:txBody>
          <a:bodyPr/>
          <a:lstStyle/>
          <a:p>
            <a:endParaRPr lang="it-IT"/>
          </a:p>
        </p:txBody>
      </p:sp>
      <p:sp>
        <p:nvSpPr>
          <p:cNvPr id="13" name="Text 11"/>
          <p:cNvSpPr/>
          <p:nvPr/>
        </p:nvSpPr>
        <p:spPr>
          <a:xfrm>
            <a:off x="4663440" y="3401568"/>
            <a:ext cx="1920240" cy="411480"/>
          </a:xfrm>
          <a:prstGeom prst="rect">
            <a:avLst/>
          </a:prstGeom>
          <a:noFill/>
          <a:ln/>
        </p:spPr>
        <p:txBody>
          <a:bodyPr wrap="square" lIns="0" tIns="0" rIns="0" bIns="0" rtlCol="0" anchor="ctr"/>
          <a:lstStyle/>
          <a:p>
            <a:pPr marL="0" indent="0" algn="ctr">
              <a:buNone/>
            </a:pPr>
            <a:r>
              <a:rPr lang="en-US" sz="2000" b="1" dirty="0">
                <a:solidFill>
                  <a:srgbClr val="F96167"/>
                </a:solidFill>
                <a:latin typeface="Georgia" pitchFamily="34" charset="0"/>
                <a:ea typeface="Georgia" pitchFamily="34" charset="-122"/>
                <a:cs typeface="Georgia" pitchFamily="34" charset="-120"/>
              </a:rPr>
              <a:t>~€700</a:t>
            </a:r>
            <a:endParaRPr lang="en-US" sz="2000" dirty="0"/>
          </a:p>
        </p:txBody>
      </p:sp>
      <p:sp>
        <p:nvSpPr>
          <p:cNvPr id="14" name="Text 12"/>
          <p:cNvSpPr/>
          <p:nvPr/>
        </p:nvSpPr>
        <p:spPr>
          <a:xfrm>
            <a:off x="4663440" y="3840480"/>
            <a:ext cx="1920240" cy="32004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Perdita netta</a:t>
            </a:r>
            <a:endParaRPr lang="en-US" sz="1000" dirty="0"/>
          </a:p>
        </p:txBody>
      </p:sp>
      <p:sp>
        <p:nvSpPr>
          <p:cNvPr id="15" name="Shape 13"/>
          <p:cNvSpPr/>
          <p:nvPr/>
        </p:nvSpPr>
        <p:spPr>
          <a:xfrm>
            <a:off x="6766560" y="3383280"/>
            <a:ext cx="1920240" cy="822960"/>
          </a:xfrm>
          <a:prstGeom prst="rect">
            <a:avLst/>
          </a:prstGeom>
          <a:solidFill>
            <a:srgbClr val="162536"/>
          </a:solidFill>
          <a:ln/>
        </p:spPr>
        <p:txBody>
          <a:bodyPr/>
          <a:lstStyle/>
          <a:p>
            <a:endParaRPr lang="it-IT"/>
          </a:p>
        </p:txBody>
      </p:sp>
      <p:sp>
        <p:nvSpPr>
          <p:cNvPr id="16" name="Text 14"/>
          <p:cNvSpPr/>
          <p:nvPr/>
        </p:nvSpPr>
        <p:spPr>
          <a:xfrm>
            <a:off x="6766560" y="3401568"/>
            <a:ext cx="1920240" cy="411480"/>
          </a:xfrm>
          <a:prstGeom prst="rect">
            <a:avLst/>
          </a:prstGeom>
          <a:noFill/>
          <a:ln/>
        </p:spPr>
        <p:txBody>
          <a:bodyPr wrap="square" lIns="0" tIns="0" rIns="0" bIns="0" rtlCol="0" anchor="ctr"/>
          <a:lstStyle/>
          <a:p>
            <a:pPr marL="0" indent="0" algn="ctr">
              <a:buNone/>
            </a:pPr>
            <a:r>
              <a:rPr lang="en-US" sz="2000" b="1" dirty="0">
                <a:solidFill>
                  <a:srgbClr val="F96167"/>
                </a:solidFill>
                <a:latin typeface="Georgia" pitchFamily="34" charset="0"/>
                <a:ea typeface="Georgia" pitchFamily="34" charset="-122"/>
                <a:cs typeface="Georgia" pitchFamily="34" charset="-120"/>
              </a:rPr>
              <a:t>~€2.000</a:t>
            </a:r>
            <a:endParaRPr lang="en-US" sz="2000" dirty="0"/>
          </a:p>
        </p:txBody>
      </p:sp>
      <p:sp>
        <p:nvSpPr>
          <p:cNvPr id="17" name="Text 15"/>
          <p:cNvSpPr/>
          <p:nvPr/>
        </p:nvSpPr>
        <p:spPr>
          <a:xfrm>
            <a:off x="6766560" y="3840480"/>
            <a:ext cx="1920240" cy="32004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Perdita massima cash</a:t>
            </a:r>
            <a:endParaRPr lang="en-US" sz="1000" dirty="0"/>
          </a:p>
        </p:txBody>
      </p:sp>
      <p:sp>
        <p:nvSpPr>
          <p:cNvPr id="18" name="Text 16"/>
          <p:cNvSpPr/>
          <p:nvPr/>
        </p:nvSpPr>
        <p:spPr>
          <a:xfrm>
            <a:off x="457200" y="4343400"/>
            <a:ext cx="8229600" cy="365760"/>
          </a:xfrm>
          <a:prstGeom prst="rect">
            <a:avLst/>
          </a:prstGeom>
          <a:noFill/>
          <a:ln/>
        </p:spPr>
        <p:txBody>
          <a:bodyPr wrap="square" rtlCol="0" anchor="ctr"/>
          <a:lstStyle/>
          <a:p>
            <a:pPr marL="0" indent="0">
              <a:buNone/>
            </a:pPr>
            <a:r>
              <a:rPr lang="en-US" sz="1300" b="1" dirty="0">
                <a:solidFill>
                  <a:srgbClr val="99F6E4"/>
                </a:solidFill>
                <a:latin typeface="Calibri" pitchFamily="34" charset="0"/>
                <a:ea typeface="Calibri" pitchFamily="34" charset="-122"/>
                <a:cs typeface="Calibri" pitchFamily="34" charset="-120"/>
              </a:rPr>
              <a:t>Il business non chiude. Non genera debito. La perdita massima è il costo di un corso di formazione.</a:t>
            </a:r>
            <a:endParaRPr lang="en-US" sz="1300" dirty="0"/>
          </a:p>
        </p:txBody>
      </p:sp>
      <p:sp>
        <p:nvSpPr>
          <p:cNvPr id="19" name="Text 17"/>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38 / 56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11</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Rischi specifici e mitigazioni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051560"/>
            <a:ext cx="54864" cy="777240"/>
          </a:xfrm>
          <a:prstGeom prst="rect">
            <a:avLst/>
          </a:prstGeom>
          <a:solidFill>
            <a:srgbClr val="F96167"/>
          </a:solidFill>
          <a:ln/>
        </p:spPr>
        <p:txBody>
          <a:bodyPr/>
          <a:lstStyle/>
          <a:p>
            <a:endParaRPr lang="it-IT"/>
          </a:p>
        </p:txBody>
      </p:sp>
      <p:sp>
        <p:nvSpPr>
          <p:cNvPr id="7" name="Text 5"/>
          <p:cNvSpPr/>
          <p:nvPr/>
        </p:nvSpPr>
        <p:spPr>
          <a:xfrm>
            <a:off x="731520" y="1097280"/>
            <a:ext cx="7772400" cy="274320"/>
          </a:xfrm>
          <a:prstGeom prst="rect">
            <a:avLst/>
          </a:prstGeom>
          <a:noFill/>
          <a:ln/>
        </p:spPr>
        <p:txBody>
          <a:bodyPr wrap="square" lIns="0" tIns="0" rIns="0" bIns="0" rtlCol="0" anchor="ctr"/>
          <a:lstStyle/>
          <a:p>
            <a:pPr marL="0" indent="0">
              <a:buNone/>
            </a:pPr>
            <a:r>
              <a:rPr lang="en-US" sz="1100" b="1" i="1" dirty="0">
                <a:solidFill>
                  <a:srgbClr val="F96167"/>
                </a:solidFill>
                <a:latin typeface="Calibri" pitchFamily="34" charset="0"/>
                <a:ea typeface="Calibri" pitchFamily="34" charset="-122"/>
                <a:cs typeface="Calibri" pitchFamily="34" charset="-120"/>
              </a:rPr>
              <a:t>"I trainer non vogliono pagare per un software."</a:t>
            </a:r>
            <a:endParaRPr lang="en-US" sz="1100" dirty="0"/>
          </a:p>
        </p:txBody>
      </p:sp>
      <p:sp>
        <p:nvSpPr>
          <p:cNvPr id="8" name="Text 6"/>
          <p:cNvSpPr/>
          <p:nvPr/>
        </p:nvSpPr>
        <p:spPr>
          <a:xfrm>
            <a:off x="731520" y="1389888"/>
            <a:ext cx="7772400" cy="384048"/>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La POC include misurazione WTP prima di rivelare il prezzo. Se il dato esce basso, lo sappiamo con 10 persone.</a:t>
            </a:r>
            <a:endParaRPr lang="en-US" sz="1000" dirty="0"/>
          </a:p>
        </p:txBody>
      </p:sp>
      <p:sp>
        <p:nvSpPr>
          <p:cNvPr id="9" name="Shape 7"/>
          <p:cNvSpPr/>
          <p:nvPr/>
        </p:nvSpPr>
        <p:spPr>
          <a:xfrm>
            <a:off x="457200" y="1938528"/>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0" name="Shape 8"/>
          <p:cNvSpPr/>
          <p:nvPr/>
        </p:nvSpPr>
        <p:spPr>
          <a:xfrm>
            <a:off x="457200" y="1938528"/>
            <a:ext cx="54864" cy="777240"/>
          </a:xfrm>
          <a:prstGeom prst="rect">
            <a:avLst/>
          </a:prstGeom>
          <a:solidFill>
            <a:srgbClr val="F96167"/>
          </a:solidFill>
          <a:ln/>
        </p:spPr>
        <p:txBody>
          <a:bodyPr/>
          <a:lstStyle/>
          <a:p>
            <a:endParaRPr lang="it-IT"/>
          </a:p>
        </p:txBody>
      </p:sp>
      <p:sp>
        <p:nvSpPr>
          <p:cNvPr id="11" name="Text 9"/>
          <p:cNvSpPr/>
          <p:nvPr/>
        </p:nvSpPr>
        <p:spPr>
          <a:xfrm>
            <a:off x="731520" y="1984248"/>
            <a:ext cx="7772400" cy="274320"/>
          </a:xfrm>
          <a:prstGeom prst="rect">
            <a:avLst/>
          </a:prstGeom>
          <a:noFill/>
          <a:ln/>
        </p:spPr>
        <p:txBody>
          <a:bodyPr wrap="square" lIns="0" tIns="0" rIns="0" bIns="0" rtlCol="0" anchor="ctr"/>
          <a:lstStyle/>
          <a:p>
            <a:pPr marL="0" indent="0">
              <a:buNone/>
            </a:pPr>
            <a:r>
              <a:rPr lang="en-US" sz="1100" b="1" i="1" dirty="0">
                <a:solidFill>
                  <a:srgbClr val="F96167"/>
                </a:solidFill>
                <a:latin typeface="Calibri" pitchFamily="34" charset="0"/>
                <a:ea typeface="Calibri" pitchFamily="34" charset="-122"/>
                <a:cs typeface="Calibri" pitchFamily="34" charset="-120"/>
              </a:rPr>
              <a:t>"Il partner si disimpegna."</a:t>
            </a:r>
            <a:endParaRPr lang="en-US" sz="1100" dirty="0"/>
          </a:p>
        </p:txBody>
      </p:sp>
      <p:sp>
        <p:nvSpPr>
          <p:cNvPr id="12" name="Text 10"/>
          <p:cNvSpPr/>
          <p:nvPr/>
        </p:nvSpPr>
        <p:spPr>
          <a:xfrm>
            <a:off x="731520" y="2276856"/>
            <a:ext cx="7772400" cy="384048"/>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Equity con cliff 12 mesi. Il business parte anche senza partner — più lentamente (Config. A).</a:t>
            </a:r>
            <a:endParaRPr lang="en-US" sz="1000" dirty="0"/>
          </a:p>
        </p:txBody>
      </p:sp>
      <p:sp>
        <p:nvSpPr>
          <p:cNvPr id="13" name="Shape 11"/>
          <p:cNvSpPr/>
          <p:nvPr/>
        </p:nvSpPr>
        <p:spPr>
          <a:xfrm>
            <a:off x="457200" y="2825496"/>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4" name="Shape 12"/>
          <p:cNvSpPr/>
          <p:nvPr/>
        </p:nvSpPr>
        <p:spPr>
          <a:xfrm>
            <a:off x="457200" y="2825496"/>
            <a:ext cx="54864" cy="777240"/>
          </a:xfrm>
          <a:prstGeom prst="rect">
            <a:avLst/>
          </a:prstGeom>
          <a:solidFill>
            <a:srgbClr val="F96167"/>
          </a:solidFill>
          <a:ln/>
        </p:spPr>
        <p:txBody>
          <a:bodyPr/>
          <a:lstStyle/>
          <a:p>
            <a:endParaRPr lang="it-IT"/>
          </a:p>
        </p:txBody>
      </p:sp>
      <p:sp>
        <p:nvSpPr>
          <p:cNvPr id="15" name="Text 13"/>
          <p:cNvSpPr/>
          <p:nvPr/>
        </p:nvSpPr>
        <p:spPr>
          <a:xfrm>
            <a:off x="731520" y="2871216"/>
            <a:ext cx="7772400" cy="274320"/>
          </a:xfrm>
          <a:prstGeom prst="rect">
            <a:avLst/>
          </a:prstGeom>
          <a:noFill/>
          <a:ln/>
        </p:spPr>
        <p:txBody>
          <a:bodyPr wrap="square" lIns="0" tIns="0" rIns="0" bIns="0" rtlCol="0" anchor="ctr"/>
          <a:lstStyle/>
          <a:p>
            <a:pPr marL="0" indent="0">
              <a:buNone/>
            </a:pPr>
            <a:r>
              <a:rPr lang="en-US" sz="1100" b="1" i="1" dirty="0">
                <a:solidFill>
                  <a:srgbClr val="F96167"/>
                </a:solidFill>
                <a:latin typeface="Calibri" pitchFamily="34" charset="0"/>
                <a:ea typeface="Calibri" pitchFamily="34" charset="-122"/>
                <a:cs typeface="Calibri" pitchFamily="34" charset="-120"/>
              </a:rPr>
              <a:t>"Un competitor copia."</a:t>
            </a:r>
            <a:endParaRPr lang="en-US" sz="1100" dirty="0"/>
          </a:p>
        </p:txBody>
      </p:sp>
      <p:sp>
        <p:nvSpPr>
          <p:cNvPr id="16" name="Text 14"/>
          <p:cNvSpPr/>
          <p:nvPr/>
        </p:nvSpPr>
        <p:spPr>
          <a:xfrm>
            <a:off x="731520" y="3163824"/>
            <a:ext cx="7772400" cy="384048"/>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DB scientifico (500 esercizi, 940 relazioni, Safety Engine, CREA) = 6+ mesi di lavoro. Architettura locale non replicabile da SaaS.</a:t>
            </a:r>
            <a:endParaRPr lang="en-US" sz="1000" dirty="0"/>
          </a:p>
        </p:txBody>
      </p:sp>
      <p:sp>
        <p:nvSpPr>
          <p:cNvPr id="17" name="Shape 15"/>
          <p:cNvSpPr/>
          <p:nvPr/>
        </p:nvSpPr>
        <p:spPr>
          <a:xfrm>
            <a:off x="457200" y="3712464"/>
            <a:ext cx="8229600" cy="77724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8" name="Shape 16"/>
          <p:cNvSpPr/>
          <p:nvPr/>
        </p:nvSpPr>
        <p:spPr>
          <a:xfrm>
            <a:off x="457200" y="3712464"/>
            <a:ext cx="54864" cy="777240"/>
          </a:xfrm>
          <a:prstGeom prst="rect">
            <a:avLst/>
          </a:prstGeom>
          <a:solidFill>
            <a:srgbClr val="F96167"/>
          </a:solidFill>
          <a:ln/>
        </p:spPr>
        <p:txBody>
          <a:bodyPr/>
          <a:lstStyle/>
          <a:p>
            <a:endParaRPr lang="it-IT"/>
          </a:p>
        </p:txBody>
      </p:sp>
      <p:sp>
        <p:nvSpPr>
          <p:cNvPr id="19" name="Text 17"/>
          <p:cNvSpPr/>
          <p:nvPr/>
        </p:nvSpPr>
        <p:spPr>
          <a:xfrm>
            <a:off x="731520" y="3758184"/>
            <a:ext cx="7772400" cy="274320"/>
          </a:xfrm>
          <a:prstGeom prst="rect">
            <a:avLst/>
          </a:prstGeom>
          <a:noFill/>
          <a:ln/>
        </p:spPr>
        <p:txBody>
          <a:bodyPr wrap="square" lIns="0" tIns="0" rIns="0" bIns="0" rtlCol="0" anchor="ctr"/>
          <a:lstStyle/>
          <a:p>
            <a:pPr marL="0" indent="0">
              <a:buNone/>
            </a:pPr>
            <a:r>
              <a:rPr lang="en-US" sz="1100" b="1" i="1" dirty="0">
                <a:solidFill>
                  <a:srgbClr val="F96167"/>
                </a:solidFill>
                <a:latin typeface="Calibri" pitchFamily="34" charset="0"/>
                <a:ea typeface="Calibri" pitchFamily="34" charset="-122"/>
                <a:cs typeface="Calibri" pitchFamily="34" charset="-120"/>
              </a:rPr>
              <a:t>"I rinnovi assistenza sono bassi."</a:t>
            </a:r>
            <a:endParaRPr lang="en-US" sz="1100" dirty="0"/>
          </a:p>
        </p:txBody>
      </p:sp>
      <p:sp>
        <p:nvSpPr>
          <p:cNvPr id="20" name="Text 18"/>
          <p:cNvSpPr/>
          <p:nvPr/>
        </p:nvSpPr>
        <p:spPr>
          <a:xfrm>
            <a:off x="731520" y="4050792"/>
            <a:ext cx="7772400" cy="384048"/>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Se sotto 40%, il contenuto non ha valore percepito sufficiente. Lo misuriamo e correggiamo. Business non dipende dai rinnovi Anno 1.</a:t>
            </a:r>
            <a:endParaRPr lang="en-US" sz="1000" dirty="0"/>
          </a:p>
        </p:txBody>
      </p:sp>
      <p:sp>
        <p:nvSpPr>
          <p:cNvPr id="21" name="Text 19"/>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39 / 56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12 — TEAM</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Anno 1: founder + Industry Partner</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3931920" cy="2926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6" name="Image 0" descr="preencoded.png"/>
          <p:cNvPicPr>
            <a:picLocks noChangeAspect="1"/>
          </p:cNvPicPr>
          <p:nvPr/>
        </p:nvPicPr>
        <p:blipFill>
          <a:blip r:embed="rId3"/>
          <a:stretch>
            <a:fillRect/>
          </a:stretch>
        </p:blipFill>
        <p:spPr>
          <a:xfrm>
            <a:off x="640080" y="1188720"/>
            <a:ext cx="365760" cy="365760"/>
          </a:xfrm>
          <a:prstGeom prst="rect">
            <a:avLst/>
          </a:prstGeom>
        </p:spPr>
      </p:pic>
      <p:sp>
        <p:nvSpPr>
          <p:cNvPr id="7" name="Text 4"/>
          <p:cNvSpPr/>
          <p:nvPr/>
        </p:nvSpPr>
        <p:spPr>
          <a:xfrm>
            <a:off x="1097280" y="1188720"/>
            <a:ext cx="2743200" cy="365760"/>
          </a:xfrm>
          <a:prstGeom prst="rect">
            <a:avLst/>
          </a:prstGeom>
          <a:noFill/>
          <a:ln/>
        </p:spPr>
        <p:txBody>
          <a:bodyPr wrap="square"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FOUNDER</a:t>
            </a:r>
            <a:endParaRPr lang="en-US" sz="1200" dirty="0"/>
          </a:p>
        </p:txBody>
      </p:sp>
      <p:sp>
        <p:nvSpPr>
          <p:cNvPr id="8" name="Text 5"/>
          <p:cNvSpPr/>
          <p:nvPr/>
        </p:nvSpPr>
        <p:spPr>
          <a:xfrm>
            <a:off x="640080" y="1645920"/>
            <a:ext cx="3474720" cy="32004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Giacomo Verardo</a:t>
            </a:r>
            <a:endParaRPr lang="en-US" sz="1400" dirty="0"/>
          </a:p>
        </p:txBody>
      </p:sp>
      <p:sp>
        <p:nvSpPr>
          <p:cNvPr id="9" name="Text 6"/>
          <p:cNvSpPr/>
          <p:nvPr/>
        </p:nvSpPr>
        <p:spPr>
          <a:xfrm>
            <a:off x="640080" y="2011680"/>
            <a:ext cx="3474720" cy="1645920"/>
          </a:xfrm>
          <a:prstGeom prst="rect">
            <a:avLst/>
          </a:prstGeom>
          <a:noFill/>
          <a:ln/>
        </p:spPr>
        <p:txBody>
          <a:bodyPr wrap="square" rtlCol="0" anchor="ctr"/>
          <a:lstStyle/>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Sviluppo prodotto</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Vendite dirette</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Supporto clienti</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Marketing organico</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Gestione operativa</a:t>
            </a:r>
            <a:endParaRPr lang="en-US" sz="1100" dirty="0"/>
          </a:p>
        </p:txBody>
      </p:sp>
      <p:sp>
        <p:nvSpPr>
          <p:cNvPr id="10" name="Shape 7"/>
          <p:cNvSpPr/>
          <p:nvPr/>
        </p:nvSpPr>
        <p:spPr>
          <a:xfrm>
            <a:off x="4754880" y="1051560"/>
            <a:ext cx="3931920" cy="29260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pic>
        <p:nvPicPr>
          <p:cNvPr id="11" name="Image 1" descr="preencoded.png"/>
          <p:cNvPicPr>
            <a:picLocks noChangeAspect="1"/>
          </p:cNvPicPr>
          <p:nvPr/>
        </p:nvPicPr>
        <p:blipFill>
          <a:blip r:embed="rId4"/>
          <a:stretch>
            <a:fillRect/>
          </a:stretch>
        </p:blipFill>
        <p:spPr>
          <a:xfrm>
            <a:off x="4937760" y="1188720"/>
            <a:ext cx="365760" cy="365760"/>
          </a:xfrm>
          <a:prstGeom prst="rect">
            <a:avLst/>
          </a:prstGeom>
        </p:spPr>
      </p:pic>
      <p:sp>
        <p:nvSpPr>
          <p:cNvPr id="12" name="Text 8"/>
          <p:cNvSpPr/>
          <p:nvPr/>
        </p:nvSpPr>
        <p:spPr>
          <a:xfrm>
            <a:off x="5394960" y="1188720"/>
            <a:ext cx="2743200" cy="365760"/>
          </a:xfrm>
          <a:prstGeom prst="rect">
            <a:avLst/>
          </a:prstGeom>
          <a:noFill/>
          <a:ln/>
        </p:spPr>
        <p:txBody>
          <a:bodyPr wrap="square" rtlCol="0" anchor="ctr"/>
          <a:lstStyle/>
          <a:p>
            <a:pPr marL="0" indent="0">
              <a:buNone/>
            </a:pPr>
            <a:r>
              <a:rPr lang="en-US" sz="1200" b="1" kern="0" spc="200" dirty="0">
                <a:solidFill>
                  <a:srgbClr val="1E3A5F"/>
                </a:solidFill>
                <a:latin typeface="Calibri" pitchFamily="34" charset="0"/>
                <a:ea typeface="Calibri" pitchFamily="34" charset="-122"/>
                <a:cs typeface="Calibri" pitchFamily="34" charset="-120"/>
              </a:rPr>
              <a:t>INDUSTRY PARTNER</a:t>
            </a:r>
            <a:endParaRPr lang="en-US" sz="1200" dirty="0"/>
          </a:p>
        </p:txBody>
      </p:sp>
      <p:sp>
        <p:nvSpPr>
          <p:cNvPr id="13" name="Text 9"/>
          <p:cNvSpPr/>
          <p:nvPr/>
        </p:nvSpPr>
        <p:spPr>
          <a:xfrm>
            <a:off x="4937760" y="1645920"/>
            <a:ext cx="3474720" cy="4572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Professionista fitness con esperienza, credibilità, network attivo. Impegno: 8-10 ore/mese.</a:t>
            </a:r>
            <a:endParaRPr lang="en-US" sz="1000" dirty="0"/>
          </a:p>
        </p:txBody>
      </p:sp>
      <p:sp>
        <p:nvSpPr>
          <p:cNvPr id="14" name="Text 10"/>
          <p:cNvSpPr/>
          <p:nvPr/>
        </p:nvSpPr>
        <p:spPr>
          <a:xfrm>
            <a:off x="4937760" y="2194560"/>
            <a:ext cx="3474720" cy="1371600"/>
          </a:xfrm>
          <a:prstGeom prst="rect">
            <a:avLst/>
          </a:prstGeom>
          <a:noFill/>
          <a:ln/>
        </p:spPr>
        <p:txBody>
          <a:bodyPr wrap="square" rtlCol="0" anchor="ctr"/>
          <a:lstStyle/>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Seleziona i Fondatori POC</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Presenta al proprio network</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Conduce masterclass/webinar</a:t>
            </a:r>
            <a:endParaRPr lang="en-US" sz="1100" dirty="0"/>
          </a:p>
          <a:p>
            <a:pPr marL="342900" indent="-342900">
              <a:buSzPct val="100000"/>
              <a:buChar char="•"/>
            </a:pPr>
            <a:r>
              <a:rPr lang="en-US" sz="1100" dirty="0">
                <a:solidFill>
                  <a:srgbClr val="1E293B"/>
                </a:solidFill>
                <a:latin typeface="Calibri" pitchFamily="34" charset="0"/>
                <a:ea typeface="Calibri" pitchFamily="34" charset="-122"/>
                <a:cs typeface="Calibri" pitchFamily="34" charset="-120"/>
              </a:rPr>
              <a:t>Valida posizionamento PT Evoluto.</a:t>
            </a:r>
            <a:endParaRPr lang="en-US" sz="1100" dirty="0"/>
          </a:p>
          <a:p>
            <a:pPr>
              <a:defRPr sz="1100">
                <a:solidFill>
                  <a:srgbClr val="1E293B"/>
                </a:solidFill>
              </a:defRPr>
            </a:pPr>
            <a:r>
              <a:t>Contribuisce all'arricchimento del database esercizi con varianti e progressioni validate dalla propria esperienza pratica.</a:t>
            </a:r>
          </a:p>
        </p:txBody>
      </p:sp>
      <p:sp>
        <p:nvSpPr>
          <p:cNvPr id="15" name="Shape 11"/>
          <p:cNvSpPr/>
          <p:nvPr/>
        </p:nvSpPr>
        <p:spPr>
          <a:xfrm>
            <a:off x="457200" y="4160520"/>
            <a:ext cx="8229600" cy="502920"/>
          </a:xfrm>
          <a:prstGeom prst="rect">
            <a:avLst/>
          </a:prstGeom>
          <a:solidFill>
            <a:srgbClr val="F1F5F9"/>
          </a:solidFill>
          <a:ln/>
        </p:spPr>
        <p:txBody>
          <a:bodyPr/>
          <a:lstStyle/>
          <a:p>
            <a:endParaRPr lang="it-IT"/>
          </a:p>
        </p:txBody>
      </p:sp>
      <p:sp>
        <p:nvSpPr>
          <p:cNvPr id="16" name="Text 12"/>
          <p:cNvSpPr/>
          <p:nvPr/>
        </p:nvSpPr>
        <p:spPr>
          <a:xfrm>
            <a:off x="640080" y="4160520"/>
            <a:ext cx="7772400" cy="502920"/>
          </a:xfrm>
          <a:prstGeom prst="rect">
            <a:avLst/>
          </a:prstGeom>
          <a:noFill/>
          <a:ln/>
        </p:spPr>
        <p:txBody>
          <a:bodyPr wrap="square" rtlCol="0" anchor="ctr"/>
          <a:lstStyle/>
          <a:p>
            <a:pPr marL="0" indent="0">
              <a:buNone/>
            </a:pPr>
            <a:r>
              <a:rPr lang="en-US" sz="1000" dirty="0">
                <a:solidFill>
                  <a:srgbClr val="475569"/>
                </a:solidFill>
                <a:latin typeface="Calibri" pitchFamily="34" charset="0"/>
                <a:ea typeface="Calibri" pitchFamily="34" charset="-122"/>
                <a:cs typeface="Calibri" pitchFamily="34" charset="-120"/>
              </a:rPr>
              <a:t>Evoluzione: Anno 2 + tirocinante part-time (€4-5K)  |  Anno 3 + junior dev + ufficio (€12-16K)</a:t>
            </a:r>
            <a:endParaRPr lang="en-US" sz="1000" dirty="0"/>
          </a:p>
        </p:txBody>
      </p:sp>
      <p:sp>
        <p:nvSpPr>
          <p:cNvPr id="17" name="Text 1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40 / 56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12</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Struttura di compenso del partner</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05840"/>
            <a:ext cx="8229600" cy="320040"/>
          </a:xfrm>
          <a:prstGeom prst="rect">
            <a:avLst/>
          </a:prstGeom>
          <a:noFill/>
          <a:ln/>
        </p:spPr>
        <p:txBody>
          <a:bodyPr wrap="square"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Il partner non riceve un compenso fisso. Riceve una quota dei ricavi con struttura differenziata:</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1737360"/>
        </p:xfrm>
        <a:graphic>
          <a:graphicData uri="http://schemas.openxmlformats.org/drawingml/2006/table">
            <a:tbl>
              <a:tblPr/>
              <a:tblGrid>
                <a:gridCol w="22860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47472">
                <a:tc>
                  <a:txBody>
                    <a:bodyPr/>
                    <a:lstStyle/>
                    <a:p>
                      <a:pPr marL="0" indent="0">
                        <a:buNone/>
                      </a:pPr>
                      <a:r>
                        <a:rPr lang="en-US" sz="1000" b="1" dirty="0">
                          <a:solidFill>
                            <a:srgbClr val="FFFFFF"/>
                          </a:solidFill>
                        </a:rPr>
                        <a:t>Componente</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rPr>
                        <a:t>%</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buNone/>
                      </a:pPr>
                      <a:r>
                        <a:rPr lang="en-US" sz="1000" b="1" dirty="0">
                          <a:solidFill>
                            <a:srgbClr val="FFFFFF"/>
                          </a:solidFill>
                        </a:rPr>
                        <a:t>Applicata a</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347472">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Ricavi POC</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E3A5F"/>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Licenze e Box Fondatori</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Vendite dal suo network</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E3A5F"/>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Licenze e Box via referral tracciato</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Assistenza PRO e Inner Circle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E3A5F"/>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Tutti i rinnovi e abbonamenti</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Masterclass condotte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E3A5F"/>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Sessioni live e registrate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457200" y="3291840"/>
            <a:ext cx="393192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8" name="Text 5"/>
          <p:cNvSpPr/>
          <p:nvPr/>
        </p:nvSpPr>
        <p:spPr>
          <a:xfrm>
            <a:off x="640080" y="3383280"/>
            <a:ext cx="3474720" cy="228600"/>
          </a:xfrm>
          <a:prstGeom prst="rect">
            <a:avLst/>
          </a:prstGeom>
          <a:noFill/>
          <a:ln/>
        </p:spPr>
        <p:txBody>
          <a:bodyPr wrap="square" rtlCol="0" anchor="ctr"/>
          <a:lstStyle/>
          <a:p>
            <a:pPr marL="0" indent="0">
              <a:buNone/>
            </a:pPr>
            <a:r>
              <a:rPr lang="en-US" sz="900" b="1" kern="0" spc="200" dirty="0">
                <a:solidFill>
                  <a:srgbClr val="0D9488"/>
                </a:solidFill>
                <a:latin typeface="Calibri" pitchFamily="34" charset="0"/>
                <a:ea typeface="Calibri" pitchFamily="34" charset="-122"/>
                <a:cs typeface="Calibri" pitchFamily="34" charset="-120"/>
              </a:rPr>
              <a:t>EQUITY</a:t>
            </a:r>
            <a:endParaRPr lang="en-US" sz="900" dirty="0"/>
          </a:p>
        </p:txBody>
      </p:sp>
      <p:sp>
        <p:nvSpPr>
          <p:cNvPr id="9" name="Text 6"/>
          <p:cNvSpPr/>
          <p:nvPr/>
        </p:nvSpPr>
        <p:spPr>
          <a:xfrm>
            <a:off x="640080" y="3611880"/>
            <a:ext cx="1828800" cy="457200"/>
          </a:xfrm>
          <a:prstGeom prst="rect">
            <a:avLst/>
          </a:prstGeom>
          <a:noFill/>
          <a:ln/>
        </p:spPr>
        <p:txBody>
          <a:bodyPr wrap="square" lIns="0" tIns="0" rIns="0" bIns="0" rtlCol="0" anchor="ctr"/>
          <a:lstStyle/>
          <a:p>
            <a:pPr marL="0" indent="0">
              <a:buNone/>
            </a:pPr>
            <a:r>
              <a:rPr lang="en-US" sz="2800" b="1" dirty="0">
                <a:solidFill>
                  <a:srgbClr val="0D9488"/>
                </a:solidFill>
                <a:latin typeface="Georgia" pitchFamily="34" charset="0"/>
                <a:ea typeface="Georgia" pitchFamily="34" charset="-122"/>
                <a:cs typeface="Georgia" pitchFamily="34" charset="-120"/>
              </a:rPr>
              <a:t>5-8%</a:t>
            </a:r>
            <a:endParaRPr lang="en-US" sz="2800" dirty="0"/>
          </a:p>
        </p:txBody>
      </p:sp>
      <p:sp>
        <p:nvSpPr>
          <p:cNvPr id="10" name="Text 7"/>
          <p:cNvSpPr/>
          <p:nvPr/>
        </p:nvSpPr>
        <p:spPr>
          <a:xfrm>
            <a:off x="2468880" y="3611880"/>
            <a:ext cx="1828800" cy="45720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Maturazione 4 anni</a:t>
            </a:r>
            <a:endParaRPr lang="en-US" sz="1100" dirty="0"/>
          </a:p>
          <a:p>
            <a:pPr marL="0" indent="0">
              <a:buNone/>
            </a:pPr>
            <a:r>
              <a:rPr lang="en-US" sz="1100" dirty="0">
                <a:solidFill>
                  <a:srgbClr val="475569"/>
                </a:solidFill>
                <a:latin typeface="Calibri" pitchFamily="34" charset="0"/>
                <a:ea typeface="Calibri" pitchFamily="34" charset="-122"/>
                <a:cs typeface="Calibri" pitchFamily="34" charset="-120"/>
              </a:rPr>
              <a:t>Cliff 12 mesi</a:t>
            </a:r>
            <a:endParaRPr lang="en-US" sz="1100" dirty="0"/>
          </a:p>
        </p:txBody>
      </p:sp>
      <p:sp>
        <p:nvSpPr>
          <p:cNvPr id="11" name="Text 8"/>
          <p:cNvSpPr/>
          <p:nvPr/>
        </p:nvSpPr>
        <p:spPr>
          <a:xfrm>
            <a:off x="640080" y="4114800"/>
            <a:ext cx="3474720" cy="4572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 proprietà condivisa delle 3 masterclass POC</a:t>
            </a:r>
            <a:endParaRPr lang="en-US" sz="1000" dirty="0"/>
          </a:p>
          <a:p>
            <a:pPr marL="0" indent="0">
              <a:buNone/>
            </a:pPr>
            <a:r>
              <a:rPr lang="en-US" sz="1000" dirty="0">
                <a:solidFill>
                  <a:srgbClr val="475569"/>
                </a:solidFill>
                <a:latin typeface="Calibri" pitchFamily="34" charset="0"/>
                <a:ea typeface="Calibri" pitchFamily="34" charset="-122"/>
                <a:cs typeface="Calibri" pitchFamily="34" charset="-120"/>
              </a:rPr>
              <a:t>(revenue share per ogni futuro membro IC)</a:t>
            </a:r>
            <a:endParaRPr lang="en-US" sz="1000" dirty="0"/>
          </a:p>
        </p:txBody>
      </p:sp>
      <p:sp>
        <p:nvSpPr>
          <p:cNvPr id="12" name="Shape 9"/>
          <p:cNvSpPr/>
          <p:nvPr/>
        </p:nvSpPr>
        <p:spPr>
          <a:xfrm>
            <a:off x="4754880" y="3291840"/>
            <a:ext cx="393192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3" name="Text 10"/>
          <p:cNvSpPr/>
          <p:nvPr/>
        </p:nvSpPr>
        <p:spPr>
          <a:xfrm>
            <a:off x="4937760" y="3383280"/>
            <a:ext cx="3474720" cy="228600"/>
          </a:xfrm>
          <a:prstGeom prst="rect">
            <a:avLst/>
          </a:prstGeom>
          <a:noFill/>
          <a:ln/>
        </p:spPr>
        <p:txBody>
          <a:bodyPr wrap="square" rtlCol="0" anchor="ctr"/>
          <a:lstStyle/>
          <a:p>
            <a:pPr marL="0" indent="0">
              <a:buNone/>
            </a:pPr>
            <a:r>
              <a:rPr lang="en-US" sz="900" b="1" kern="0" spc="200" dirty="0">
                <a:solidFill>
                  <a:srgbClr val="0D9488"/>
                </a:solidFill>
                <a:latin typeface="Calibri" pitchFamily="34" charset="0"/>
                <a:ea typeface="Calibri" pitchFamily="34" charset="-122"/>
                <a:cs typeface="Calibri" pitchFamily="34" charset="-120"/>
              </a:rPr>
              <a:t>ROI PER IL PROGETTO</a:t>
            </a:r>
            <a:endParaRPr lang="en-US" sz="900" dirty="0"/>
          </a:p>
        </p:txBody>
      </p:sp>
      <p:sp>
        <p:nvSpPr>
          <p:cNvPr id="14" name="Text 11"/>
          <p:cNvSpPr/>
          <p:nvPr/>
        </p:nvSpPr>
        <p:spPr>
          <a:xfrm>
            <a:off x="4937760" y="3611880"/>
            <a:ext cx="1828800" cy="457200"/>
          </a:xfrm>
          <a:prstGeom prst="rect">
            <a:avLst/>
          </a:prstGeom>
          <a:noFill/>
          <a:ln/>
        </p:spPr>
        <p:txBody>
          <a:bodyPr wrap="square" lIns="0" tIns="0" rIns="0" bIns="0" rtlCol="0" anchor="ctr"/>
          <a:lstStyle/>
          <a:p>
            <a:pPr marL="0" indent="0">
              <a:buNone/>
            </a:pPr>
            <a:r>
              <a:rPr lang="en-US" sz="2800" b="1" dirty="0">
                <a:solidFill>
                  <a:srgbClr val="0D9488"/>
                </a:solidFill>
                <a:latin typeface="Georgia" pitchFamily="34" charset="0"/>
                <a:ea typeface="Georgia" pitchFamily="34" charset="-122"/>
                <a:cs typeface="Georgia" pitchFamily="34" charset="-120"/>
              </a:rPr>
              <a:t>3,8x</a:t>
            </a:r>
            <a:endParaRPr lang="en-US" sz="2800" dirty="0"/>
          </a:p>
        </p:txBody>
      </p:sp>
      <p:sp>
        <p:nvSpPr>
          <p:cNvPr id="15" name="Text 12"/>
          <p:cNvSpPr/>
          <p:nvPr/>
        </p:nvSpPr>
        <p:spPr>
          <a:xfrm>
            <a:off x="4937760" y="4114800"/>
            <a:ext cx="3474720" cy="4572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Compenso triennio: €14.075</a:t>
            </a:r>
            <a:endParaRPr lang="en-US" sz="1000" dirty="0"/>
          </a:p>
          <a:p>
            <a:pPr marL="0" indent="0">
              <a:buNone/>
            </a:pPr>
            <a:r>
              <a:rPr lang="en-US" sz="1000" dirty="0">
                <a:solidFill>
                  <a:srgbClr val="475569"/>
                </a:solidFill>
                <a:latin typeface="Calibri" pitchFamily="34" charset="0"/>
                <a:ea typeface="Calibri" pitchFamily="34" charset="-122"/>
                <a:cs typeface="Calibri" pitchFamily="34" charset="-120"/>
              </a:rPr>
              <a:t>Fatturato aggiuntivo: €53.750</a:t>
            </a:r>
            <a:endParaRPr lang="en-US" sz="1000" dirty="0"/>
          </a:p>
        </p:txBody>
      </p:sp>
      <p:sp>
        <p:nvSpPr>
          <p:cNvPr id="16" name="Text 1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41 / 56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8229600" cy="274320"/>
          </a:xfrm>
          <a:prstGeom prst="rect">
            <a:avLst/>
          </a:prstGeom>
          <a:noFill/>
          <a:ln/>
        </p:spPr>
        <p:txBody>
          <a:bodyPr wrap="square" rtlCol="0" anchor="ctr"/>
          <a:lstStyle/>
          <a:p>
            <a:pPr marL="0" indent="0">
              <a:buNone/>
            </a:pPr>
            <a:r>
              <a:rPr lang="en-US" sz="1000" b="1" kern="0" spc="400" dirty="0">
                <a:solidFill>
                  <a:srgbClr val="0D9488"/>
                </a:solidFill>
                <a:latin typeface="Calibri" pitchFamily="34" charset="0"/>
                <a:ea typeface="Calibri" pitchFamily="34" charset="-122"/>
                <a:cs typeface="Calibri" pitchFamily="34" charset="-120"/>
              </a:rPr>
              <a:t>CHI È IL FOUNDER</a:t>
            </a:r>
            <a:endParaRPr lang="en-US" sz="1000" dirty="0"/>
          </a:p>
        </p:txBody>
      </p:sp>
      <p:sp>
        <p:nvSpPr>
          <p:cNvPr id="4" name="Text 2"/>
          <p:cNvSpPr/>
          <p:nvPr/>
        </p:nvSpPr>
        <p:spPr>
          <a:xfrm>
            <a:off x="457200" y="822960"/>
            <a:ext cx="8229600" cy="54864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Giacomo Verardo</a:t>
            </a:r>
            <a:endParaRPr lang="en-US" sz="3200" dirty="0"/>
          </a:p>
        </p:txBody>
      </p:sp>
      <p:pic>
        <p:nvPicPr>
          <p:cNvPr id="5" name="Image 0" descr="preencoded.png"/>
          <p:cNvPicPr>
            <a:picLocks noChangeAspect="1"/>
          </p:cNvPicPr>
          <p:nvPr/>
        </p:nvPicPr>
        <p:blipFill>
          <a:blip r:embed="rId3"/>
          <a:stretch>
            <a:fillRect/>
          </a:stretch>
        </p:blipFill>
        <p:spPr>
          <a:xfrm>
            <a:off x="457200" y="1627632"/>
            <a:ext cx="320040" cy="320040"/>
          </a:xfrm>
          <a:prstGeom prst="rect">
            <a:avLst/>
          </a:prstGeom>
        </p:spPr>
      </p:pic>
      <p:sp>
        <p:nvSpPr>
          <p:cNvPr id="6" name="Text 3"/>
          <p:cNvSpPr/>
          <p:nvPr/>
        </p:nvSpPr>
        <p:spPr>
          <a:xfrm>
            <a:off x="1005840" y="1554480"/>
            <a:ext cx="7315200" cy="274320"/>
          </a:xfrm>
          <a:prstGeom prst="rect">
            <a:avLst/>
          </a:prstGeom>
          <a:noFill/>
          <a:ln/>
        </p:spPr>
        <p:txBody>
          <a:bodyPr wrap="square" lIns="0" tIns="0" rIns="0" bIns="0" rtlCol="0" anchor="ctr"/>
          <a:lstStyle/>
          <a:p>
            <a:pPr marL="0" indent="0">
              <a:buNone/>
            </a:pPr>
            <a:r>
              <a:rPr lang="en-US" sz="1300" b="1" dirty="0">
                <a:solidFill>
                  <a:srgbClr val="14B8A6"/>
                </a:solidFill>
                <a:latin typeface="Calibri" pitchFamily="34" charset="0"/>
                <a:ea typeface="Calibri" pitchFamily="34" charset="-122"/>
                <a:cs typeface="Calibri" pitchFamily="34" charset="-120"/>
              </a:rPr>
              <a:t>Gestione sistemi complessi</a:t>
            </a:r>
            <a:endParaRPr lang="en-US" sz="1300" dirty="0"/>
          </a:p>
        </p:txBody>
      </p:sp>
      <p:sp>
        <p:nvSpPr>
          <p:cNvPr id="7" name="Text 4"/>
          <p:cNvSpPr/>
          <p:nvPr/>
        </p:nvSpPr>
        <p:spPr>
          <a:xfrm>
            <a:off x="1005840" y="1828800"/>
            <a:ext cx="7315200" cy="41148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Anni nella cantieristica navale e operazioni offshore (SAIPEM). Navi, cantieri, operazioni in Brasile, Africa, Cina.</a:t>
            </a:r>
            <a:endParaRPr lang="en-US" sz="1000" dirty="0"/>
          </a:p>
        </p:txBody>
      </p:sp>
      <p:pic>
        <p:nvPicPr>
          <p:cNvPr id="8" name="Image 1" descr="preencoded.png"/>
          <p:cNvPicPr>
            <a:picLocks noChangeAspect="1"/>
          </p:cNvPicPr>
          <p:nvPr/>
        </p:nvPicPr>
        <p:blipFill>
          <a:blip r:embed="rId4"/>
          <a:stretch>
            <a:fillRect/>
          </a:stretch>
        </p:blipFill>
        <p:spPr>
          <a:xfrm>
            <a:off x="457200" y="2404872"/>
            <a:ext cx="320040" cy="320040"/>
          </a:xfrm>
          <a:prstGeom prst="rect">
            <a:avLst/>
          </a:prstGeom>
        </p:spPr>
      </p:pic>
      <p:sp>
        <p:nvSpPr>
          <p:cNvPr id="9" name="Text 5"/>
          <p:cNvSpPr/>
          <p:nvPr/>
        </p:nvSpPr>
        <p:spPr>
          <a:xfrm>
            <a:off x="1005840" y="2331720"/>
            <a:ext cx="7315200" cy="274320"/>
          </a:xfrm>
          <a:prstGeom prst="rect">
            <a:avLst/>
          </a:prstGeom>
          <a:noFill/>
          <a:ln/>
        </p:spPr>
        <p:txBody>
          <a:bodyPr wrap="square" lIns="0" tIns="0" rIns="0" bIns="0" rtlCol="0" anchor="ctr"/>
          <a:lstStyle/>
          <a:p>
            <a:pPr marL="0" indent="0">
              <a:buNone/>
            </a:pPr>
            <a:r>
              <a:rPr lang="en-US" sz="1300" b="1" dirty="0">
                <a:solidFill>
                  <a:srgbClr val="14B8A6"/>
                </a:solidFill>
                <a:latin typeface="Calibri" pitchFamily="34" charset="0"/>
                <a:ea typeface="Calibri" pitchFamily="34" charset="-122"/>
                <a:cs typeface="Calibri" pitchFamily="34" charset="-120"/>
              </a:rPr>
              <a:t>Competenza tecnologica ereditata</a:t>
            </a:r>
            <a:endParaRPr lang="en-US" sz="1300" dirty="0"/>
          </a:p>
        </p:txBody>
      </p:sp>
      <p:sp>
        <p:nvSpPr>
          <p:cNvPr id="10" name="Text 6"/>
          <p:cNvSpPr/>
          <p:nvPr/>
        </p:nvSpPr>
        <p:spPr>
          <a:xfrm>
            <a:off x="1005840" y="2606040"/>
            <a:ext cx="7315200" cy="41148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Due anni a fianco del padre, pioniere AI in Italia. Sistemi di visione artificiale per l'industria.</a:t>
            </a:r>
            <a:endParaRPr lang="en-US" sz="1000" dirty="0"/>
          </a:p>
        </p:txBody>
      </p:sp>
      <p:pic>
        <p:nvPicPr>
          <p:cNvPr id="11" name="Image 2" descr="preencoded.png"/>
          <p:cNvPicPr>
            <a:picLocks noChangeAspect="1"/>
          </p:cNvPicPr>
          <p:nvPr/>
        </p:nvPicPr>
        <p:blipFill>
          <a:blip r:embed="rId5"/>
          <a:stretch>
            <a:fillRect/>
          </a:stretch>
        </p:blipFill>
        <p:spPr>
          <a:xfrm>
            <a:off x="457200" y="3182112"/>
            <a:ext cx="320040" cy="320040"/>
          </a:xfrm>
          <a:prstGeom prst="rect">
            <a:avLst/>
          </a:prstGeom>
        </p:spPr>
      </p:pic>
      <p:sp>
        <p:nvSpPr>
          <p:cNvPr id="12" name="Text 7"/>
          <p:cNvSpPr/>
          <p:nvPr/>
        </p:nvSpPr>
        <p:spPr>
          <a:xfrm>
            <a:off x="1005840" y="3108960"/>
            <a:ext cx="7315200" cy="274320"/>
          </a:xfrm>
          <a:prstGeom prst="rect">
            <a:avLst/>
          </a:prstGeom>
          <a:noFill/>
          <a:ln/>
        </p:spPr>
        <p:txBody>
          <a:bodyPr wrap="square" lIns="0" tIns="0" rIns="0" bIns="0" rtlCol="0" anchor="ctr"/>
          <a:lstStyle/>
          <a:p>
            <a:pPr marL="0" indent="0">
              <a:buNone/>
            </a:pPr>
            <a:r>
              <a:rPr lang="en-US" sz="1300" b="1" dirty="0">
                <a:solidFill>
                  <a:srgbClr val="14B8A6"/>
                </a:solidFill>
                <a:latin typeface="Calibri" pitchFamily="34" charset="0"/>
                <a:ea typeface="Calibri" pitchFamily="34" charset="-122"/>
                <a:cs typeface="Calibri" pitchFamily="34" charset="-120"/>
              </a:rPr>
              <a:t>FitManager</a:t>
            </a:r>
            <a:endParaRPr lang="en-US" sz="1300" dirty="0"/>
          </a:p>
        </p:txBody>
      </p:sp>
      <p:sp>
        <p:nvSpPr>
          <p:cNvPr id="13" name="Text 8"/>
          <p:cNvSpPr/>
          <p:nvPr/>
        </p:nvSpPr>
        <p:spPr>
          <a:xfrm>
            <a:off x="1005840" y="3383280"/>
            <a:ext cx="7315200" cy="41148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6 mesi sviluppo full-time. 45.000 LOC, 395 test, 5 motori scientifici. In uso quotidiano da una professionista reale.</a:t>
            </a:r>
            <a:endParaRPr lang="en-US" sz="1000" dirty="0"/>
          </a:p>
        </p:txBody>
      </p:sp>
      <p:pic>
        <p:nvPicPr>
          <p:cNvPr id="14" name="Image 3" descr="preencoded.png"/>
          <p:cNvPicPr>
            <a:picLocks noChangeAspect="1"/>
          </p:cNvPicPr>
          <p:nvPr/>
        </p:nvPicPr>
        <p:blipFill>
          <a:blip r:embed="rId6"/>
          <a:stretch>
            <a:fillRect/>
          </a:stretch>
        </p:blipFill>
        <p:spPr>
          <a:xfrm>
            <a:off x="457200" y="3959352"/>
            <a:ext cx="320040" cy="320040"/>
          </a:xfrm>
          <a:prstGeom prst="rect">
            <a:avLst/>
          </a:prstGeom>
        </p:spPr>
      </p:pic>
      <p:sp>
        <p:nvSpPr>
          <p:cNvPr id="15" name="Text 9"/>
          <p:cNvSpPr/>
          <p:nvPr/>
        </p:nvSpPr>
        <p:spPr>
          <a:xfrm>
            <a:off x="1005840" y="3886200"/>
            <a:ext cx="7315200" cy="274320"/>
          </a:xfrm>
          <a:prstGeom prst="rect">
            <a:avLst/>
          </a:prstGeom>
          <a:noFill/>
          <a:ln/>
        </p:spPr>
        <p:txBody>
          <a:bodyPr wrap="square" lIns="0" tIns="0" rIns="0" bIns="0" rtlCol="0" anchor="ctr"/>
          <a:lstStyle/>
          <a:p>
            <a:pPr marL="0" indent="0">
              <a:buNone/>
            </a:pPr>
            <a:r>
              <a:rPr lang="en-US" sz="1300" b="1" dirty="0">
                <a:solidFill>
                  <a:srgbClr val="14B8A6"/>
                </a:solidFill>
                <a:latin typeface="Calibri" pitchFamily="34" charset="0"/>
                <a:ea typeface="Calibri" pitchFamily="34" charset="-122"/>
                <a:cs typeface="Calibri" pitchFamily="34" charset="-120"/>
              </a:rPr>
              <a:t>Competenza di dominio</a:t>
            </a:r>
            <a:endParaRPr lang="en-US" sz="1300" dirty="0"/>
          </a:p>
        </p:txBody>
      </p:sp>
      <p:sp>
        <p:nvSpPr>
          <p:cNvPr id="16" name="Text 10"/>
          <p:cNvSpPr/>
          <p:nvPr/>
        </p:nvSpPr>
        <p:spPr>
          <a:xfrm>
            <a:off x="1005840" y="4160520"/>
            <a:ext cx="7315200" cy="41148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Conoscenza diretta del fitness come praticante e istruttore. Intersezione tra competenza tecnica e dominio.</a:t>
            </a:r>
            <a:endParaRPr lang="en-US" sz="1000" dirty="0"/>
          </a:p>
        </p:txBody>
      </p:sp>
      <p:sp>
        <p:nvSpPr>
          <p:cNvPr id="17" name="Text 11"/>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42 / 56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SEZIONE 13</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Piano di crescita</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8229600" cy="74980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1051560"/>
            <a:ext cx="73152" cy="749808"/>
          </a:xfrm>
          <a:prstGeom prst="rect">
            <a:avLst/>
          </a:prstGeom>
          <a:solidFill>
            <a:srgbClr val="14B8A6"/>
          </a:solidFill>
          <a:ln/>
        </p:spPr>
        <p:txBody>
          <a:bodyPr/>
          <a:lstStyle/>
          <a:p>
            <a:endParaRPr lang="it-IT"/>
          </a:p>
        </p:txBody>
      </p:sp>
      <p:sp>
        <p:nvSpPr>
          <p:cNvPr id="7" name="Text 5"/>
          <p:cNvSpPr/>
          <p:nvPr/>
        </p:nvSpPr>
        <p:spPr>
          <a:xfrm>
            <a:off x="685800" y="1097280"/>
            <a:ext cx="731520" cy="274320"/>
          </a:xfrm>
          <a:prstGeom prst="rect">
            <a:avLst/>
          </a:prstGeom>
          <a:noFill/>
          <a:ln/>
        </p:spPr>
        <p:txBody>
          <a:bodyPr wrap="square" lIns="0" tIns="0" rIns="0" bIns="0" rtlCol="0" anchor="ctr"/>
          <a:lstStyle/>
          <a:p>
            <a:pPr marL="0" indent="0">
              <a:buNone/>
            </a:pPr>
            <a:r>
              <a:rPr lang="en-US" sz="1100" b="1" dirty="0">
                <a:solidFill>
                  <a:srgbClr val="14B8A6"/>
                </a:solidFill>
                <a:latin typeface="Georgia" pitchFamily="34" charset="0"/>
                <a:ea typeface="Georgia" pitchFamily="34" charset="-122"/>
                <a:cs typeface="Georgia" pitchFamily="34" charset="-120"/>
              </a:rPr>
              <a:t>Fase 1</a:t>
            </a:r>
            <a:endParaRPr lang="en-US" sz="1100" dirty="0"/>
          </a:p>
        </p:txBody>
      </p:sp>
      <p:sp>
        <p:nvSpPr>
          <p:cNvPr id="8" name="Text 6"/>
          <p:cNvSpPr/>
          <p:nvPr/>
        </p:nvSpPr>
        <p:spPr>
          <a:xfrm>
            <a:off x="1371600" y="1097280"/>
            <a:ext cx="1097280" cy="27432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Mesi 1-3</a:t>
            </a:r>
            <a:endParaRPr lang="en-US" sz="1000" dirty="0"/>
          </a:p>
        </p:txBody>
      </p:sp>
      <p:sp>
        <p:nvSpPr>
          <p:cNvPr id="9" name="Text 7"/>
          <p:cNvSpPr/>
          <p:nvPr/>
        </p:nvSpPr>
        <p:spPr>
          <a:xfrm>
            <a:off x="2468880" y="1097280"/>
            <a:ext cx="5943600" cy="27432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POC con percorso completo</a:t>
            </a:r>
            <a:endParaRPr lang="en-US" sz="1200" dirty="0"/>
          </a:p>
        </p:txBody>
      </p:sp>
      <p:sp>
        <p:nvSpPr>
          <p:cNvPr id="10" name="Text 8"/>
          <p:cNvSpPr/>
          <p:nvPr/>
        </p:nvSpPr>
        <p:spPr>
          <a:xfrm>
            <a:off x="2468880" y="1389888"/>
            <a:ext cx="5943600" cy="36576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10 Fondatori, software/Box + IC incluso 12 mesi. 3 masterclass. Validazione simultanea prodotto, percorso, categoria, ruolo partner.</a:t>
            </a:r>
            <a:endParaRPr lang="en-US" sz="900" dirty="0"/>
          </a:p>
        </p:txBody>
      </p:sp>
      <p:sp>
        <p:nvSpPr>
          <p:cNvPr id="11" name="Shape 9"/>
          <p:cNvSpPr/>
          <p:nvPr/>
        </p:nvSpPr>
        <p:spPr>
          <a:xfrm>
            <a:off x="457200" y="1920240"/>
            <a:ext cx="8229600" cy="74980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2" name="Shape 10"/>
          <p:cNvSpPr/>
          <p:nvPr/>
        </p:nvSpPr>
        <p:spPr>
          <a:xfrm>
            <a:off x="457200" y="1920240"/>
            <a:ext cx="73152" cy="749808"/>
          </a:xfrm>
          <a:prstGeom prst="rect">
            <a:avLst/>
          </a:prstGeom>
          <a:solidFill>
            <a:srgbClr val="0D9488"/>
          </a:solidFill>
          <a:ln/>
        </p:spPr>
        <p:txBody>
          <a:bodyPr/>
          <a:lstStyle/>
          <a:p>
            <a:endParaRPr lang="it-IT"/>
          </a:p>
        </p:txBody>
      </p:sp>
      <p:sp>
        <p:nvSpPr>
          <p:cNvPr id="13" name="Text 11"/>
          <p:cNvSpPr/>
          <p:nvPr/>
        </p:nvSpPr>
        <p:spPr>
          <a:xfrm>
            <a:off x="685800" y="1965960"/>
            <a:ext cx="731520" cy="274320"/>
          </a:xfrm>
          <a:prstGeom prst="rect">
            <a:avLst/>
          </a:prstGeom>
          <a:noFill/>
          <a:ln/>
        </p:spPr>
        <p:txBody>
          <a:bodyPr wrap="square" lIns="0" tIns="0" rIns="0" bIns="0" rtlCol="0" anchor="ctr"/>
          <a:lstStyle/>
          <a:p>
            <a:pPr marL="0" indent="0">
              <a:buNone/>
            </a:pPr>
            <a:r>
              <a:rPr lang="en-US" sz="1100" b="1" dirty="0">
                <a:solidFill>
                  <a:srgbClr val="0D9488"/>
                </a:solidFill>
                <a:latin typeface="Georgia" pitchFamily="34" charset="0"/>
                <a:ea typeface="Georgia" pitchFamily="34" charset="-122"/>
                <a:cs typeface="Georgia" pitchFamily="34" charset="-120"/>
              </a:rPr>
              <a:t>Fase 2</a:t>
            </a:r>
            <a:endParaRPr lang="en-US" sz="1100" dirty="0"/>
          </a:p>
        </p:txBody>
      </p:sp>
      <p:sp>
        <p:nvSpPr>
          <p:cNvPr id="14" name="Text 12"/>
          <p:cNvSpPr/>
          <p:nvPr/>
        </p:nvSpPr>
        <p:spPr>
          <a:xfrm>
            <a:off x="1371600" y="1965960"/>
            <a:ext cx="1097280" cy="27432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Mesi 4-6</a:t>
            </a:r>
            <a:endParaRPr lang="en-US" sz="1000" dirty="0"/>
          </a:p>
        </p:txBody>
      </p:sp>
      <p:sp>
        <p:nvSpPr>
          <p:cNvPr id="15" name="Text 13"/>
          <p:cNvSpPr/>
          <p:nvPr/>
        </p:nvSpPr>
        <p:spPr>
          <a:xfrm>
            <a:off x="2468880" y="1965960"/>
            <a:ext cx="5943600" cy="27432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Early Adopter + Inner Circle attivo</a:t>
            </a:r>
            <a:endParaRPr lang="en-US" sz="1200" dirty="0"/>
          </a:p>
        </p:txBody>
      </p:sp>
      <p:sp>
        <p:nvSpPr>
          <p:cNvPr id="16" name="Text 14"/>
          <p:cNvSpPr/>
          <p:nvPr/>
        </p:nvSpPr>
        <p:spPr>
          <a:xfrm>
            <a:off x="2468880" y="2258568"/>
            <a:ext cx="5943600" cy="36576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Testimonial POC come leva. Network del partner. IC disponibile. Webinar gratuito mensile. Target: 15-20 clienti, 30% con IC.</a:t>
            </a:r>
            <a:endParaRPr lang="en-US" sz="900" dirty="0"/>
          </a:p>
          <a:p>
            <a:r>
              <a:rPr sz="900" b="1">
                <a:solidFill>
                  <a:srgbClr val="14B8A6"/>
                </a:solidFill>
              </a:rPr>
              <a:t>Il pitch parte dal tangibile: “un click e il promemoria parte su WhatsApp. Vuoi vedere cosa fa il resto?”</a:t>
            </a:r>
          </a:p>
        </p:txBody>
      </p:sp>
      <p:sp>
        <p:nvSpPr>
          <p:cNvPr id="17" name="Shape 15"/>
          <p:cNvSpPr/>
          <p:nvPr/>
        </p:nvSpPr>
        <p:spPr>
          <a:xfrm>
            <a:off x="457200" y="2788920"/>
            <a:ext cx="8229600" cy="74980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8" name="Shape 16"/>
          <p:cNvSpPr/>
          <p:nvPr/>
        </p:nvSpPr>
        <p:spPr>
          <a:xfrm>
            <a:off x="457200" y="2788920"/>
            <a:ext cx="73152" cy="749808"/>
          </a:xfrm>
          <a:prstGeom prst="rect">
            <a:avLst/>
          </a:prstGeom>
          <a:solidFill>
            <a:srgbClr val="0A7A70"/>
          </a:solidFill>
          <a:ln/>
        </p:spPr>
        <p:txBody>
          <a:bodyPr/>
          <a:lstStyle/>
          <a:p>
            <a:endParaRPr lang="it-IT"/>
          </a:p>
        </p:txBody>
      </p:sp>
      <p:sp>
        <p:nvSpPr>
          <p:cNvPr id="19" name="Text 17"/>
          <p:cNvSpPr/>
          <p:nvPr/>
        </p:nvSpPr>
        <p:spPr>
          <a:xfrm>
            <a:off x="685800" y="2834640"/>
            <a:ext cx="731520" cy="274320"/>
          </a:xfrm>
          <a:prstGeom prst="rect">
            <a:avLst/>
          </a:prstGeom>
          <a:noFill/>
          <a:ln/>
        </p:spPr>
        <p:txBody>
          <a:bodyPr wrap="square" lIns="0" tIns="0" rIns="0" bIns="0" rtlCol="0" anchor="ctr"/>
          <a:lstStyle/>
          <a:p>
            <a:pPr marL="0" indent="0">
              <a:buNone/>
            </a:pPr>
            <a:r>
              <a:rPr lang="en-US" sz="1100" b="1" dirty="0">
                <a:solidFill>
                  <a:srgbClr val="0A7A70"/>
                </a:solidFill>
                <a:latin typeface="Georgia" pitchFamily="34" charset="0"/>
                <a:ea typeface="Georgia" pitchFamily="34" charset="-122"/>
                <a:cs typeface="Georgia" pitchFamily="34" charset="-120"/>
              </a:rPr>
              <a:t>Fase 3</a:t>
            </a:r>
            <a:endParaRPr lang="en-US" sz="1100" dirty="0"/>
          </a:p>
        </p:txBody>
      </p:sp>
      <p:sp>
        <p:nvSpPr>
          <p:cNvPr id="20" name="Text 18"/>
          <p:cNvSpPr/>
          <p:nvPr/>
        </p:nvSpPr>
        <p:spPr>
          <a:xfrm>
            <a:off x="1371600" y="2834640"/>
            <a:ext cx="1097280" cy="27432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Mesi 7-12</a:t>
            </a:r>
            <a:endParaRPr lang="en-US" sz="1000" dirty="0"/>
          </a:p>
        </p:txBody>
      </p:sp>
      <p:sp>
        <p:nvSpPr>
          <p:cNvPr id="21" name="Text 19"/>
          <p:cNvSpPr/>
          <p:nvPr/>
        </p:nvSpPr>
        <p:spPr>
          <a:xfrm>
            <a:off x="2468880" y="2834640"/>
            <a:ext cx="5943600" cy="27432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Prezzo pieno e scala</a:t>
            </a:r>
            <a:endParaRPr lang="en-US" sz="1200" dirty="0"/>
          </a:p>
        </p:txBody>
      </p:sp>
      <p:sp>
        <p:nvSpPr>
          <p:cNvPr id="22" name="Text 20"/>
          <p:cNvSpPr/>
          <p:nvPr/>
        </p:nvSpPr>
        <p:spPr>
          <a:xfrm>
            <a:off x="2468880" y="3127248"/>
            <a:ext cx="5943600" cy="36576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Tutti i canali attivi. IC consolidato con masterclass mensili. PT Evoluto circola nel settore. Target: 3-5 vendite/mese.</a:t>
            </a:r>
            <a:endParaRPr lang="en-US" sz="900" dirty="0"/>
          </a:p>
        </p:txBody>
      </p:sp>
      <p:sp>
        <p:nvSpPr>
          <p:cNvPr id="23" name="Shape 21"/>
          <p:cNvSpPr/>
          <p:nvPr/>
        </p:nvSpPr>
        <p:spPr>
          <a:xfrm>
            <a:off x="457200" y="3657600"/>
            <a:ext cx="8229600" cy="749808"/>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24" name="Shape 22"/>
          <p:cNvSpPr/>
          <p:nvPr/>
        </p:nvSpPr>
        <p:spPr>
          <a:xfrm>
            <a:off x="457200" y="3657600"/>
            <a:ext cx="73152" cy="749808"/>
          </a:xfrm>
          <a:prstGeom prst="rect">
            <a:avLst/>
          </a:prstGeom>
          <a:solidFill>
            <a:srgbClr val="1E3A5F"/>
          </a:solidFill>
          <a:ln/>
        </p:spPr>
        <p:txBody>
          <a:bodyPr/>
          <a:lstStyle/>
          <a:p>
            <a:endParaRPr lang="it-IT"/>
          </a:p>
        </p:txBody>
      </p:sp>
      <p:sp>
        <p:nvSpPr>
          <p:cNvPr id="25" name="Text 23"/>
          <p:cNvSpPr/>
          <p:nvPr/>
        </p:nvSpPr>
        <p:spPr>
          <a:xfrm>
            <a:off x="685800" y="3703320"/>
            <a:ext cx="731520" cy="274320"/>
          </a:xfrm>
          <a:prstGeom prst="rect">
            <a:avLst/>
          </a:prstGeom>
          <a:noFill/>
          <a:ln/>
        </p:spPr>
        <p:txBody>
          <a:bodyPr wrap="square" lIns="0" tIns="0" rIns="0" bIns="0" rtlCol="0" anchor="ctr"/>
          <a:lstStyle/>
          <a:p>
            <a:pPr marL="0" indent="0">
              <a:buNone/>
            </a:pPr>
            <a:r>
              <a:rPr lang="en-US" sz="1100" b="1" dirty="0">
                <a:solidFill>
                  <a:srgbClr val="1E3A5F"/>
                </a:solidFill>
                <a:latin typeface="Georgia" pitchFamily="34" charset="0"/>
                <a:ea typeface="Georgia" pitchFamily="34" charset="-122"/>
                <a:cs typeface="Georgia" pitchFamily="34" charset="-120"/>
              </a:rPr>
              <a:t>Fase 4</a:t>
            </a:r>
            <a:endParaRPr lang="en-US" sz="1100" dirty="0"/>
          </a:p>
        </p:txBody>
      </p:sp>
      <p:sp>
        <p:nvSpPr>
          <p:cNvPr id="26" name="Text 24"/>
          <p:cNvSpPr/>
          <p:nvPr/>
        </p:nvSpPr>
        <p:spPr>
          <a:xfrm>
            <a:off x="1371600" y="3703320"/>
            <a:ext cx="1097280" cy="27432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Anno 2+</a:t>
            </a:r>
            <a:endParaRPr lang="en-US" sz="1000" dirty="0"/>
          </a:p>
        </p:txBody>
      </p:sp>
      <p:sp>
        <p:nvSpPr>
          <p:cNvPr id="27" name="Text 25"/>
          <p:cNvSpPr/>
          <p:nvPr/>
        </p:nvSpPr>
        <p:spPr>
          <a:xfrm>
            <a:off x="2468880" y="3703320"/>
            <a:ext cx="5943600" cy="27432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Espansione</a:t>
            </a:r>
            <a:endParaRPr lang="en-US" sz="1200" dirty="0"/>
          </a:p>
        </p:txBody>
      </p:sp>
      <p:sp>
        <p:nvSpPr>
          <p:cNvPr id="28" name="Text 26"/>
          <p:cNvSpPr/>
          <p:nvPr/>
        </p:nvSpPr>
        <p:spPr>
          <a:xfrm>
            <a:off x="2468880" y="3995928"/>
            <a:ext cx="5943600" cy="36576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IC a pieno regime. Fiere (RiminiWellness). Partnership enti formazione. Bundle Box+Tablet. Primo collaboratore. Certificazione PT Evoluto. Lancio versione inglese (Blocchi 1-2). Primi clienti internazionali.</a:t>
            </a:r>
            <a:endParaRPr lang="en-US" sz="900" dirty="0"/>
          </a:p>
        </p:txBody>
      </p:sp>
      <p:sp>
        <p:nvSpPr>
          <p:cNvPr id="29" name="Text 27"/>
          <p:cNvSpPr/>
          <p:nvPr/>
        </p:nvSpPr>
        <p:spPr>
          <a:xfrm>
            <a:off x="457200" y="4551077"/>
            <a:ext cx="8229600" cy="228600"/>
          </a:xfrm>
          <a:prstGeom prst="rect">
            <a:avLst/>
          </a:prstGeom>
          <a:noFill/>
          <a:ln/>
        </p:spPr>
        <p:txBody>
          <a:bodyPr wrap="square" rtlCol="0" anchor="ctr"/>
          <a:lstStyle/>
          <a:p>
            <a:pPr marL="0" indent="0">
              <a:buNone/>
            </a:pPr>
            <a:r>
              <a:rPr lang="en-US" sz="1200" b="1" i="1" dirty="0">
                <a:solidFill>
                  <a:srgbClr val="0A7A70"/>
                </a:solidFill>
                <a:latin typeface="Calibri" pitchFamily="34" charset="0"/>
                <a:ea typeface="Calibri" pitchFamily="34" charset="-122"/>
                <a:cs typeface="Calibri" pitchFamily="34" charset="-120"/>
              </a:rPr>
              <a:t>Il volano parte dalla POC: masterclass → PT Evoluto → clienti notano differenza → colleghi chiedono → passaparola → nuovi membri IC → community cresce → contenuto → ciclo. I costi acquisizione scendono, il ricorrente sale.</a:t>
            </a:r>
            <a:endParaRPr lang="en-US" sz="1200" b="1" dirty="0"/>
          </a:p>
        </p:txBody>
      </p:sp>
      <p:sp>
        <p:nvSpPr>
          <p:cNvPr id="30" name="Text 28"/>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43 / 56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txBody>
          <a:bodyPr/>
          <a:lstStyle/>
          <a:p>
            <a:endParaRPr lang="it-IT"/>
          </a:p>
        </p:txBody>
      </p:sp>
      <p:sp>
        <p:nvSpPr>
          <p:cNvPr id="3" name="Text 1"/>
          <p:cNvSpPr/>
          <p:nvPr/>
        </p:nvSpPr>
        <p:spPr>
          <a:xfrm>
            <a:off x="457200" y="365760"/>
            <a:ext cx="4572000" cy="274320"/>
          </a:xfrm>
          <a:prstGeom prst="rect">
            <a:avLst/>
          </a:prstGeom>
          <a:noFill/>
          <a:ln/>
        </p:spPr>
        <p:txBody>
          <a:bodyPr wrap="square" rtlCol="0" anchor="ctr"/>
          <a:lstStyle/>
          <a:p>
            <a:pPr marL="0" indent="0">
              <a:buNone/>
            </a:pPr>
            <a:r>
              <a:rPr lang="en-US" sz="900" b="1" kern="0" spc="400" dirty="0">
                <a:solidFill>
                  <a:srgbClr val="14B8A6"/>
                </a:solidFill>
                <a:latin typeface="Calibri" pitchFamily="34" charset="0"/>
                <a:ea typeface="Calibri" pitchFamily="34" charset="-122"/>
                <a:cs typeface="Calibri" pitchFamily="34" charset="-120"/>
              </a:rPr>
              <a:t>SEZIONE 14</a:t>
            </a:r>
            <a:endParaRPr lang="en-US" sz="900" dirty="0"/>
          </a:p>
        </p:txBody>
      </p:sp>
      <p:sp>
        <p:nvSpPr>
          <p:cNvPr id="4" name="Text 2"/>
          <p:cNvSpPr/>
          <p:nvPr/>
        </p:nvSpPr>
        <p:spPr>
          <a:xfrm>
            <a:off x="457200" y="1371600"/>
            <a:ext cx="822960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Cosa cerchiamo</a:t>
            </a:r>
            <a:endParaRPr lang="en-US" sz="4000" dirty="0"/>
          </a:p>
        </p:txBody>
      </p:sp>
      <p:sp>
        <p:nvSpPr>
          <p:cNvPr id="5" name="Shape 3"/>
          <p:cNvSpPr/>
          <p:nvPr/>
        </p:nvSpPr>
        <p:spPr>
          <a:xfrm>
            <a:off x="457200" y="2743200"/>
            <a:ext cx="3931920" cy="1828800"/>
          </a:xfrm>
          <a:prstGeom prst="rect">
            <a:avLst/>
          </a:prstGeom>
          <a:solidFill>
            <a:srgbClr val="162536"/>
          </a:solidFill>
          <a:ln/>
        </p:spPr>
        <p:txBody>
          <a:bodyPr/>
          <a:lstStyle/>
          <a:p>
            <a:endParaRPr lang="it-IT"/>
          </a:p>
        </p:txBody>
      </p:sp>
      <p:sp>
        <p:nvSpPr>
          <p:cNvPr id="6" name="Shape 4"/>
          <p:cNvSpPr/>
          <p:nvPr/>
        </p:nvSpPr>
        <p:spPr>
          <a:xfrm>
            <a:off x="457200" y="2743200"/>
            <a:ext cx="3931920" cy="54864"/>
          </a:xfrm>
          <a:prstGeom prst="rect">
            <a:avLst/>
          </a:prstGeom>
          <a:solidFill>
            <a:srgbClr val="0D9488"/>
          </a:solidFill>
          <a:ln/>
        </p:spPr>
        <p:txBody>
          <a:bodyPr/>
          <a:lstStyle/>
          <a:p>
            <a:endParaRPr lang="it-IT"/>
          </a:p>
        </p:txBody>
      </p:sp>
      <p:sp>
        <p:nvSpPr>
          <p:cNvPr id="7" name="Text 5"/>
          <p:cNvSpPr/>
          <p:nvPr/>
        </p:nvSpPr>
        <p:spPr>
          <a:xfrm>
            <a:off x="640080" y="2926080"/>
            <a:ext cx="3474720" cy="274320"/>
          </a:xfrm>
          <a:prstGeom prst="rect">
            <a:avLst/>
          </a:prstGeom>
          <a:noFill/>
          <a:ln/>
        </p:spPr>
        <p:txBody>
          <a:bodyPr wrap="square" rtlCol="0" anchor="ctr"/>
          <a:lstStyle/>
          <a:p>
            <a:pPr marL="0" indent="0">
              <a:buNone/>
            </a:pPr>
            <a:r>
              <a:rPr lang="en-US" sz="1100" b="1" kern="0" spc="200" dirty="0">
                <a:solidFill>
                  <a:srgbClr val="0D9488"/>
                </a:solidFill>
                <a:latin typeface="Calibri" pitchFamily="34" charset="0"/>
                <a:ea typeface="Calibri" pitchFamily="34" charset="-122"/>
                <a:cs typeface="Calibri" pitchFamily="34" charset="-120"/>
              </a:rPr>
              <a:t>INDUSTRY PARTNER</a:t>
            </a:r>
            <a:endParaRPr lang="en-US" sz="1100" dirty="0"/>
          </a:p>
        </p:txBody>
      </p:sp>
      <p:sp>
        <p:nvSpPr>
          <p:cNvPr id="8" name="Text 6"/>
          <p:cNvSpPr/>
          <p:nvPr/>
        </p:nvSpPr>
        <p:spPr>
          <a:xfrm>
            <a:off x="640080" y="3291840"/>
            <a:ext cx="3474720" cy="1097280"/>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Un professionista fitness con esperienza, credibilità e network attivo. Non un dipendente — un partner con incentivi allineati (equity + rev share, zero costi fissi).</a:t>
            </a:r>
            <a:endParaRPr lang="en-US" sz="1100" dirty="0"/>
          </a:p>
        </p:txBody>
      </p:sp>
      <p:sp>
        <p:nvSpPr>
          <p:cNvPr id="9" name="Shape 7"/>
          <p:cNvSpPr/>
          <p:nvPr/>
        </p:nvSpPr>
        <p:spPr>
          <a:xfrm>
            <a:off x="4754880" y="2743200"/>
            <a:ext cx="3931920" cy="1828800"/>
          </a:xfrm>
          <a:prstGeom prst="rect">
            <a:avLst/>
          </a:prstGeom>
          <a:solidFill>
            <a:srgbClr val="162536"/>
          </a:solidFill>
          <a:ln/>
        </p:spPr>
        <p:txBody>
          <a:bodyPr/>
          <a:lstStyle/>
          <a:p>
            <a:endParaRPr lang="it-IT"/>
          </a:p>
        </p:txBody>
      </p:sp>
      <p:sp>
        <p:nvSpPr>
          <p:cNvPr id="10" name="Shape 8"/>
          <p:cNvSpPr/>
          <p:nvPr/>
        </p:nvSpPr>
        <p:spPr>
          <a:xfrm>
            <a:off x="4754880" y="2743200"/>
            <a:ext cx="3931920" cy="54864"/>
          </a:xfrm>
          <a:prstGeom prst="rect">
            <a:avLst/>
          </a:prstGeom>
          <a:solidFill>
            <a:srgbClr val="F59E0B"/>
          </a:solidFill>
          <a:ln/>
        </p:spPr>
        <p:txBody>
          <a:bodyPr/>
          <a:lstStyle/>
          <a:p>
            <a:endParaRPr lang="it-IT"/>
          </a:p>
        </p:txBody>
      </p:sp>
      <p:sp>
        <p:nvSpPr>
          <p:cNvPr id="11" name="Text 9"/>
          <p:cNvSpPr/>
          <p:nvPr/>
        </p:nvSpPr>
        <p:spPr>
          <a:xfrm>
            <a:off x="4937760" y="2926080"/>
            <a:ext cx="3474720" cy="274320"/>
          </a:xfrm>
          <a:prstGeom prst="rect">
            <a:avLst/>
          </a:prstGeom>
          <a:noFill/>
          <a:ln/>
        </p:spPr>
        <p:txBody>
          <a:bodyPr wrap="square" rtlCol="0" anchor="ctr"/>
          <a:lstStyle/>
          <a:p>
            <a:pPr marL="0" indent="0">
              <a:buNone/>
            </a:pPr>
            <a:r>
              <a:rPr lang="en-US" sz="1100" b="1" kern="0" spc="200" dirty="0">
                <a:solidFill>
                  <a:srgbClr val="F59E0B"/>
                </a:solidFill>
                <a:latin typeface="Calibri" pitchFamily="34" charset="0"/>
                <a:ea typeface="Calibri" pitchFamily="34" charset="-122"/>
                <a:cs typeface="Calibri" pitchFamily="34" charset="-120"/>
              </a:rPr>
              <a:t>FINANZIAMENTO (post-POC)</a:t>
            </a:r>
            <a:endParaRPr lang="en-US" sz="1100" dirty="0"/>
          </a:p>
        </p:txBody>
      </p:sp>
      <p:sp>
        <p:nvSpPr>
          <p:cNvPr id="12" name="Text 10"/>
          <p:cNvSpPr/>
          <p:nvPr/>
        </p:nvSpPr>
        <p:spPr>
          <a:xfrm>
            <a:off x="4937760" y="3291840"/>
            <a:ext cx="3474720" cy="457200"/>
          </a:xfrm>
          <a:prstGeom prst="rect">
            <a:avLst/>
          </a:prstGeom>
          <a:noFill/>
          <a:ln/>
        </p:spPr>
        <p:txBody>
          <a:bodyPr wrap="square" lIns="0" tIns="0" rIns="0" bIns="0" rtlCol="0" anchor="ctr"/>
          <a:lstStyle/>
          <a:p>
            <a:pPr marL="0" indent="0">
              <a:buNone/>
            </a:pPr>
            <a:r>
              <a:rPr lang="en-US" sz="2400" b="1" dirty="0">
                <a:solidFill>
                  <a:srgbClr val="F59E0B"/>
                </a:solidFill>
                <a:latin typeface="Georgia" pitchFamily="34" charset="0"/>
                <a:ea typeface="Georgia" pitchFamily="34" charset="-122"/>
                <a:cs typeface="Georgia" pitchFamily="34" charset="-120"/>
              </a:rPr>
              <a:t>€20.000-40.000</a:t>
            </a:r>
            <a:endParaRPr lang="en-US" sz="2400" dirty="0"/>
          </a:p>
        </p:txBody>
      </p:sp>
      <p:sp>
        <p:nvSpPr>
          <p:cNvPr id="13" name="Text 11"/>
          <p:cNvSpPr/>
          <p:nvPr/>
        </p:nvSpPr>
        <p:spPr>
          <a:xfrm>
            <a:off x="4937760" y="3749040"/>
            <a:ext cx="3474720" cy="731520"/>
          </a:xfrm>
          <a:prstGeom prst="rect">
            <a:avLst/>
          </a:prstGeom>
          <a:noFill/>
          <a:ln/>
        </p:spPr>
        <p:txBody>
          <a:bodyPr wrap="square" rtlCol="0" anchor="ctr"/>
          <a:lstStyle/>
          <a:p>
            <a:pPr marL="0" indent="0">
              <a:buNone/>
            </a:pPr>
            <a:r>
              <a:rPr lang="en-US" sz="1000" dirty="0">
                <a:solidFill>
                  <a:srgbClr val="94A3B8"/>
                </a:solidFill>
                <a:latin typeface="Calibri" pitchFamily="34" charset="0"/>
                <a:ea typeface="Calibri" pitchFamily="34" charset="-122"/>
                <a:cs typeface="Calibri" pitchFamily="34" charset="-120"/>
              </a:rPr>
              <a:t>Dopo validazione POC (NPS, WTP, adozione). Per marketing strutturato, fiere, primo collaboratore. Con 46+ clienti e dati reali.</a:t>
            </a:r>
            <a:endParaRPr lang="en-US" sz="1000" dirty="0"/>
          </a:p>
        </p:txBody>
      </p:sp>
      <p:sp>
        <p:nvSpPr>
          <p:cNvPr id="14" name="Text 12"/>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44 / 56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A1</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Dettaglio prodotto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44" name="Table 0"/>
          <p:cNvGraphicFramePr>
            <a:graphicFrameLocks noGrp="1"/>
          </p:cNvGraphicFramePr>
          <p:nvPr>
            <p:extLst>
              <p:ext uri="{D42A27DB-BD31-4B8C-83A1-F6EECF244321}">
                <p14:modId xmlns:p14="http://schemas.microsoft.com/office/powerpoint/2010/main" val="3662635391"/>
              </p:ext>
            </p:extLst>
          </p:nvPr>
        </p:nvGraphicFramePr>
        <p:xfrm>
          <a:off x="457200" y="1005838"/>
          <a:ext cx="8229600" cy="3496416"/>
        </p:xfrm>
        <a:graphic>
          <a:graphicData uri="http://schemas.openxmlformats.org/drawingml/2006/table">
            <a:tbl>
              <a:tblPr/>
              <a:tblGrid>
                <a:gridCol w="13716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37052">
                <a:tc>
                  <a:txBody>
                    <a:bodyPr/>
                    <a:lstStyle/>
                    <a:p>
                      <a:pPr marL="0" indent="0">
                        <a:buNone/>
                      </a:pPr>
                      <a:r>
                        <a:rPr lang="en-US" sz="1100" b="1" dirty="0">
                          <a:solidFill>
                            <a:srgbClr val="FFFFFF"/>
                          </a:solidFill>
                        </a:rPr>
                        <a:t>Area</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100" b="1" dirty="0">
                          <a:solidFill>
                            <a:srgbClr val="FFFFFF"/>
                          </a:solidFill>
                        </a:rPr>
                        <a:t>Cosa fa</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100" b="1" dirty="0">
                          <a:solidFill>
                            <a:srgbClr val="FFFFFF"/>
                          </a:solidFill>
                        </a:rPr>
                        <a:t>Stato</a:t>
                      </a:r>
                      <a:endParaRPr lang="en-US" sz="11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CRM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Clienti, contratti, pagamenti, agenda, cassa — tutto in un profilo unico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Clinico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Anamnesi guidata 6 step, misurazioni, avatar 6 viste, prontezza</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Allenamento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Workout builder 3 modalità, drag &amp; drop, blocchi, export PDF Database progettato per arricchimento continuo con professionisti certificati.</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Nutrizione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880 alimenti CREA, 210 ricette, 12 template LARN, piano settimanale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Operativo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Setup guidato, licenza HW-bound, backup/ripristino, diagnostica</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7052">
                <a:tc>
                  <a:txBody>
                    <a:bodyPr/>
                    <a:lstStyle/>
                    <a:p>
                      <a:pPr marL="0" indent="0" algn="l">
                        <a:buNone/>
                      </a:pPr>
                      <a:r>
                        <a:rPr lang="en-US" sz="1000" b="1" dirty="0">
                          <a:solidFill>
                            <a:srgbClr val="1E293B"/>
                          </a:solidFill>
                          <a:latin typeface="Calibri" pitchFamily="34" charset="0"/>
                          <a:ea typeface="Calibri" pitchFamily="34" charset="-122"/>
                          <a:cs typeface="Calibri" pitchFamily="34" charset="-120"/>
                        </a:rPr>
                        <a:t>Accesso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E293B"/>
                          </a:solidFill>
                          <a:latin typeface="Calibri" pitchFamily="34" charset="0"/>
                          <a:ea typeface="Calibri" pitchFamily="34" charset="-122"/>
                          <a:cs typeface="Calibri" pitchFamily="34" charset="-120"/>
                        </a:rPr>
                        <a:t>Portale anamnesi self-service, accesso remoto Tailscale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22C55E"/>
                          </a:solidFill>
                          <a:latin typeface="Calibri" pitchFamily="34" charset="0"/>
                          <a:ea typeface="Calibri" pitchFamily="34" charset="-122"/>
                          <a:cs typeface="Calibri" pitchFamily="34" charset="-120"/>
                        </a:rPr>
                        <a:t>Completo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37052">
                <a:tc>
                  <a:txBody>
                    <a:bodyPr/>
                    <a:lstStyle/>
                    <a:p>
                      <a:r>
                        <a:rPr sz="1000" b="1">
                          <a:solidFill>
                            <a:srgbClr val="1E293B"/>
                          </a:solidFill>
                        </a:rPr>
                        <a:t>Comunicazione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dirty="0">
                          <a:solidFill>
                            <a:srgbClr val="1E293B"/>
                          </a:solidFill>
                        </a:rPr>
                        <a:t>WhatsApp semi-auto (wa.me), email SMTP auto, template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1000" b="1" dirty="0" err="1">
                          <a:solidFill>
                            <a:srgbClr val="0D9488"/>
                          </a:solidFill>
                        </a:rPr>
                        <a:t>Completo</a:t>
                      </a:r>
                      <a:endParaRPr sz="1000" b="1" dirty="0">
                        <a:solidFill>
                          <a:srgbClr val="0D9488"/>
                        </a:solidFill>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3861218466"/>
                  </a:ext>
                </a:extLst>
              </a:tr>
            </a:tbl>
          </a:graphicData>
        </a:graphic>
      </p:graphicFrame>
      <p:sp>
        <p:nvSpPr>
          <p:cNvPr id="6" name="Text 3"/>
          <p:cNvSpPr/>
          <p:nvPr/>
        </p:nvSpPr>
        <p:spPr>
          <a:xfrm>
            <a:off x="457200" y="3824207"/>
            <a:ext cx="8229600" cy="365760"/>
          </a:xfrm>
          <a:prstGeom prst="rect">
            <a:avLst/>
          </a:prstGeom>
          <a:noFill/>
          <a:ln/>
        </p:spPr>
        <p:txBody>
          <a:bodyPr wrap="square" rtlCol="0" anchor="ctr"/>
          <a:lstStyle/>
          <a:p>
            <a:pPr marL="0" indent="0">
              <a:buNone/>
            </a:pPr>
            <a:endParaRPr lang="en-US" sz="1100" dirty="0"/>
          </a:p>
        </p:txBody>
      </p:sp>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45 / 56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A3</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P&amp;L triennale dettagliato (scenario base)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960120"/>
            <a:ext cx="1828800" cy="228600"/>
          </a:xfrm>
          <a:prstGeom prst="rect">
            <a:avLst/>
          </a:prstGeom>
          <a:noFill/>
          <a:ln/>
        </p:spPr>
        <p:txBody>
          <a:bodyPr wrap="square" rtlCol="0" anchor="ctr"/>
          <a:lstStyle/>
          <a:p>
            <a:pPr marL="0" indent="0">
              <a:buNone/>
            </a:pPr>
            <a:r>
              <a:rPr lang="en-US" sz="900" b="1" kern="0" spc="200" dirty="0">
                <a:solidFill>
                  <a:srgbClr val="0D9488"/>
                </a:solidFill>
                <a:latin typeface="Calibri" pitchFamily="34" charset="0"/>
                <a:ea typeface="Calibri" pitchFamily="34" charset="-122"/>
                <a:cs typeface="Calibri" pitchFamily="34" charset="-120"/>
              </a:rPr>
              <a:t>RICAVI</a:t>
            </a:r>
            <a:endParaRPr lang="en-US" sz="9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8595360" cy="1481328"/>
        </p:xfrm>
        <a:graphic>
          <a:graphicData uri="http://schemas.openxmlformats.org/drawingml/2006/table">
            <a:tbl>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46888">
                <a:tc>
                  <a:txBody>
                    <a:bodyPr/>
                    <a:lstStyle/>
                    <a:p>
                      <a:pPr marL="0" indent="0">
                        <a:buNone/>
                      </a:pP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Licenze software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€4.278</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€5.727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€7.719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Box</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€9.672</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€15.723</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€25.131</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Assistenza PRO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€3.700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€7.300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Inner Circle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€2.250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€9.500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0A7A70"/>
                          </a:solidFill>
                          <a:latin typeface="Calibri" pitchFamily="34" charset="0"/>
                          <a:ea typeface="Calibri" pitchFamily="34" charset="-122"/>
                          <a:cs typeface="Calibri" pitchFamily="34" charset="-120"/>
                        </a:rPr>
                        <a:t>Fatturato totale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€17.150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€29.650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€49.650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5"/>
                  </a:ext>
                </a:extLst>
              </a:tr>
            </a:tbl>
          </a:graphicData>
        </a:graphic>
      </p:graphicFrame>
      <p:sp>
        <p:nvSpPr>
          <p:cNvPr id="7" name="Text 4"/>
          <p:cNvSpPr/>
          <p:nvPr/>
        </p:nvSpPr>
        <p:spPr>
          <a:xfrm>
            <a:off x="457200" y="2697480"/>
            <a:ext cx="1828800" cy="228600"/>
          </a:xfrm>
          <a:prstGeom prst="rect">
            <a:avLst/>
          </a:prstGeom>
          <a:noFill/>
          <a:ln/>
        </p:spPr>
        <p:txBody>
          <a:bodyPr wrap="square" rtlCol="0" anchor="ctr"/>
          <a:lstStyle/>
          <a:p>
            <a:pPr marL="0" indent="0">
              <a:buNone/>
            </a:pPr>
            <a:r>
              <a:rPr lang="en-US" sz="900" b="1" kern="0" spc="200" dirty="0">
                <a:solidFill>
                  <a:srgbClr val="0D9488"/>
                </a:solidFill>
                <a:latin typeface="Calibri" pitchFamily="34" charset="0"/>
                <a:ea typeface="Calibri" pitchFamily="34" charset="-122"/>
                <a:cs typeface="Calibri" pitchFamily="34" charset="-120"/>
              </a:rPr>
              <a:t>RIEPILOGO</a:t>
            </a:r>
            <a:endParaRPr lang="en-US" sz="900" dirty="0"/>
          </a:p>
        </p:txBody>
      </p:sp>
      <p:graphicFrame>
        <p:nvGraphicFramePr>
          <p:cNvPr id="89" name="Table 1"/>
          <p:cNvGraphicFramePr>
            <a:graphicFrameLocks noGrp="1"/>
          </p:cNvGraphicFramePr>
          <p:nvPr>
            <p:extLst>
              <p:ext uri="{D42A27DB-BD31-4B8C-83A1-F6EECF244321}">
                <p14:modId xmlns:p14="http://schemas.microsoft.com/office/powerpoint/2010/main" val="4083425043"/>
              </p:ext>
            </p:extLst>
          </p:nvPr>
        </p:nvGraphicFramePr>
        <p:xfrm>
          <a:off x="274320" y="2926080"/>
          <a:ext cx="8595360" cy="1828800"/>
        </p:xfrm>
        <a:graphic>
          <a:graphicData uri="http://schemas.openxmlformats.org/drawingml/2006/table">
            <a:tbl>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19456">
                <a:tc>
                  <a:txBody>
                    <a:bodyPr/>
                    <a:lstStyle/>
                    <a:p>
                      <a:pPr marL="0" indent="0">
                        <a:buNone/>
                      </a:pP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Anno 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1945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Fatturato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€17.150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€49.650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945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Margine lordo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€12.890 (75%)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€23.825 (80%)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€40.785 (82%)</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945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Costi operativi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€4.300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€8.500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€20.000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1945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Compenso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€2.375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€4.200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€7.500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9456">
                <a:tc>
                  <a:txBody>
                    <a:bodyPr/>
                    <a:lstStyle/>
                    <a:p>
                      <a:pPr marL="0" indent="0" algn="l">
                        <a:buNone/>
                      </a:pPr>
                      <a:r>
                        <a:rPr lang="en-US" sz="900" b="1" dirty="0">
                          <a:solidFill>
                            <a:srgbClr val="1E3A5F"/>
                          </a:solidFill>
                          <a:latin typeface="Calibri" pitchFamily="34" charset="0"/>
                          <a:ea typeface="Calibri" pitchFamily="34" charset="-122"/>
                          <a:cs typeface="Calibri" pitchFamily="34" charset="-120"/>
                        </a:rPr>
                        <a:t>EBITDA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€6.215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€11.125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b="1" dirty="0">
                          <a:solidFill>
                            <a:srgbClr val="1E3A5F"/>
                          </a:solidFill>
                          <a:latin typeface="Calibri" pitchFamily="34" charset="0"/>
                          <a:ea typeface="Calibri" pitchFamily="34" charset="-122"/>
                          <a:cs typeface="Calibri" pitchFamily="34" charset="-120"/>
                        </a:rPr>
                        <a:t>€13.285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19456">
                <a:tc>
                  <a:txBody>
                    <a:bodyPr/>
                    <a:lstStyle/>
                    <a:p>
                      <a:pPr marL="0" indent="0" algn="l">
                        <a:buNone/>
                      </a:pPr>
                      <a:r>
                        <a:rPr lang="en-US" sz="900" b="1" dirty="0">
                          <a:solidFill>
                            <a:srgbClr val="1E293B"/>
                          </a:solidFill>
                          <a:latin typeface="Calibri" pitchFamily="34" charset="0"/>
                          <a:ea typeface="Calibri" pitchFamily="34" charset="-122"/>
                          <a:cs typeface="Calibri" pitchFamily="34" charset="-120"/>
                        </a:rPr>
                        <a:t>Tasse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€3.600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€6.230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E293B"/>
                          </a:solidFill>
                          <a:latin typeface="Calibri" pitchFamily="34" charset="0"/>
                          <a:ea typeface="Calibri" pitchFamily="34" charset="-122"/>
                          <a:cs typeface="Calibri" pitchFamily="34" charset="-120"/>
                        </a:rPr>
                        <a:t>€6.750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9456">
                <a:tc>
                  <a:txBody>
                    <a:bodyPr/>
                    <a:lstStyle/>
                    <a:p>
                      <a:pPr marL="0" indent="0" algn="l">
                        <a:buNone/>
                      </a:pPr>
                      <a:r>
                        <a:rPr lang="en-US" sz="900" b="1" dirty="0">
                          <a:solidFill>
                            <a:srgbClr val="0A7A70"/>
                          </a:solidFill>
                          <a:latin typeface="Calibri" pitchFamily="34" charset="0"/>
                          <a:ea typeface="Calibri" pitchFamily="34" charset="-122"/>
                          <a:cs typeface="Calibri" pitchFamily="34" charset="-120"/>
                        </a:rPr>
                        <a:t>Netto founder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€2.615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€4.895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tc>
                  <a:txBody>
                    <a:bodyPr/>
                    <a:lstStyle/>
                    <a:p>
                      <a:pPr marL="0" indent="0" algn="ctr">
                        <a:buNone/>
                      </a:pPr>
                      <a:r>
                        <a:rPr lang="en-US" sz="900" b="1" dirty="0">
                          <a:solidFill>
                            <a:srgbClr val="0A7A70"/>
                          </a:solidFill>
                          <a:latin typeface="Calibri" pitchFamily="34" charset="0"/>
                          <a:ea typeface="Calibri" pitchFamily="34" charset="-122"/>
                          <a:cs typeface="Calibri" pitchFamily="34" charset="-120"/>
                        </a:rPr>
                        <a:t>€12.535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6FAF5"/>
                    </a:solidFill>
                  </a:tcPr>
                </a:tc>
                <a:extLst>
                  <a:ext uri="{0D108BD9-81ED-4DB2-BD59-A6C34878D82A}">
                    <a16:rowId xmlns:a16="http://schemas.microsoft.com/office/drawing/2014/main" val="10007"/>
                  </a:ext>
                </a:extLst>
              </a:tr>
            </a:tbl>
          </a:graphicData>
        </a:graphic>
      </p:graphicFrame>
      <p:sp>
        <p:nvSpPr>
          <p:cNvPr id="9" name="Text 5"/>
          <p:cNvSpPr/>
          <p:nvPr/>
        </p:nvSpPr>
        <p:spPr>
          <a:xfrm>
            <a:off x="220076" y="4800600"/>
            <a:ext cx="8595360" cy="182880"/>
          </a:xfrm>
          <a:prstGeom prst="rect">
            <a:avLst/>
          </a:prstGeom>
          <a:noFill/>
          <a:ln/>
        </p:spPr>
        <p:txBody>
          <a:bodyPr wrap="square" rtlCol="0" anchor="ctr"/>
          <a:lstStyle/>
          <a:p>
            <a:pPr marL="0" indent="0">
              <a:buNone/>
            </a:pPr>
            <a:r>
              <a:rPr lang="en-US" sz="750" i="1" dirty="0">
                <a:solidFill>
                  <a:srgbClr val="475569"/>
                </a:solidFill>
                <a:latin typeface="Calibri" pitchFamily="34" charset="0"/>
                <a:ea typeface="Calibri" pitchFamily="34" charset="-122"/>
                <a:cs typeface="Calibri" pitchFamily="34" charset="-120"/>
              </a:rPr>
              <a:t>Il margine lordo migliora nel tempo: il ricavo ricorrente (PRO + IC) ha margine 100% e cresce in % del fatturato.</a:t>
            </a:r>
            <a:endParaRPr lang="en-US" sz="750" dirty="0"/>
          </a:p>
        </p:txBody>
      </p:sp>
      <p:sp>
        <p:nvSpPr>
          <p:cNvPr id="10" name="Text 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46 / 56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A4</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Le assunzioni chiave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3511296"/>
        </p:xfrm>
        <a:graphic>
          <a:graphicData uri="http://schemas.openxmlformats.org/drawingml/2006/table">
            <a:tbl>
              <a:tblPr/>
              <a:tblGrid>
                <a:gridCol w="6400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292608">
                <a:tc>
                  <a:txBody>
                    <a:bodyPr/>
                    <a:lstStyle/>
                    <a:p>
                      <a:pPr marL="0" indent="0" algn="ctr">
                        <a:buNone/>
                      </a:pPr>
                      <a:r>
                        <a:rPr lang="en-US" sz="900" b="1" dirty="0">
                          <a:solidFill>
                            <a:srgbClr val="FFFFFF"/>
                          </a:solidFill>
                        </a:rPr>
                        <a:t>Cod.</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900" b="1" dirty="0">
                          <a:solidFill>
                            <a:srgbClr val="FFFFFF"/>
                          </a:solidFill>
                        </a:rPr>
                        <a:t>Assunzione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900" b="1" dirty="0">
                          <a:solidFill>
                            <a:srgbClr val="FFFFFF"/>
                          </a:solidFill>
                        </a:rPr>
                        <a:t>Stato</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900" b="1" dirty="0">
                          <a:solidFill>
                            <a:srgbClr val="FFFFFF"/>
                          </a:solidFill>
                        </a:rPr>
                        <a:t>Validazione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P4</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PT perde 3-5h/sett in admin</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Ipotesi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Questionario baseline POC</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B7</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PT disposto a pagare €249-449</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850" b="1" dirty="0">
                          <a:solidFill>
                            <a:srgbClr val="F96167"/>
                          </a:solidFill>
                          <a:latin typeface="Calibri" pitchFamily="34" charset="0"/>
                          <a:ea typeface="Calibri" pitchFamily="34" charset="-122"/>
                          <a:cs typeface="Calibri" pitchFamily="34" charset="-120"/>
                        </a:rPr>
                        <a:t>Ipotesi critica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Willingness-to-pay POC</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S4</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La Box risolve il problema mobile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F59E0B"/>
                          </a:solidFill>
                          <a:latin typeface="Calibri" pitchFamily="34" charset="0"/>
                          <a:ea typeface="Calibri" pitchFamily="34" charset="-122"/>
                          <a:cs typeface="Calibri" pitchFamily="34" charset="-120"/>
                        </a:rPr>
                        <a:t>Ipotesi forte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Test 2 Fondatori POC</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G3</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Partner genera 8-12 lead/mese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Ipotesi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Primo trim. partnership</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G4</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Conversione demo-acquisto 20-25%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Ipotesi conserv.</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Dati reali mesi 4-6</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B5</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Rinnovo assistenza 55-60%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Ipotesi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Dato reale Anno 2</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M2</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Segmento target 10-15K PT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Stima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Primi 6 mesi vendita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IC1</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IC raggiunge 20% base (base)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850" dirty="0">
                          <a:solidFill>
                            <a:srgbClr val="1E293B"/>
                          </a:solidFill>
                          <a:latin typeface="Calibri" pitchFamily="34" charset="0"/>
                          <a:ea typeface="Calibri" pitchFamily="34" charset="-122"/>
                          <a:cs typeface="Calibri" pitchFamily="34" charset="-120"/>
                        </a:rPr>
                        <a:t>Ipotesi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Dato reale mesi 7-12</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8"/>
                  </a:ext>
                </a:extLst>
              </a:tr>
              <a:tr h="292608">
                <a:tc>
                  <a:txBody>
                    <a:bodyPr/>
                    <a:lstStyle/>
                    <a:p>
                      <a:pPr marL="0" indent="0" algn="ctr">
                        <a:buNone/>
                      </a:pPr>
                      <a:r>
                        <a:rPr lang="en-US" sz="850" b="1" dirty="0">
                          <a:solidFill>
                            <a:srgbClr val="1E293B"/>
                          </a:solidFill>
                          <a:latin typeface="Calibri" pitchFamily="34" charset="0"/>
                          <a:ea typeface="Calibri" pitchFamily="34" charset="-122"/>
                          <a:cs typeface="Calibri" pitchFamily="34" charset="-120"/>
                        </a:rPr>
                        <a:t>IC2</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Masterclass generano adozione cat.</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F59E0B"/>
                          </a:solidFill>
                          <a:latin typeface="Calibri" pitchFamily="34" charset="0"/>
                          <a:ea typeface="Calibri" pitchFamily="34" charset="-122"/>
                          <a:cs typeface="Calibri" pitchFamily="34" charset="-120"/>
                        </a:rPr>
                        <a:t>Ipotesi forte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850" dirty="0">
                          <a:solidFill>
                            <a:srgbClr val="1E293B"/>
                          </a:solidFill>
                          <a:latin typeface="Calibri" pitchFamily="34" charset="0"/>
                          <a:ea typeface="Calibri" pitchFamily="34" charset="-122"/>
                          <a:cs typeface="Calibri" pitchFamily="34" charset="-120"/>
                        </a:rPr>
                        <a:t>Metriche POC</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92608">
                <a:tc>
                  <a:txBody>
                    <a:bodyPr/>
                    <a:lstStyle/>
                    <a:p>
                      <a:r>
                        <a:rPr sz="850" b="1">
                          <a:solidFill>
                            <a:srgbClr val="1E293B"/>
                          </a:solidFill>
                        </a:rPr>
                        <a:t>WA1</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850">
                          <a:solidFill>
                            <a:srgbClr val="1E293B"/>
                          </a:solidFill>
                        </a:rPr>
                        <a:t>WhatsApp semi-auto riduce frizione iniziale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850">
                          <a:solidFill>
                            <a:srgbClr val="1E293B"/>
                          </a:solidFill>
                        </a:rPr>
                        <a:t>Ipotesi forte</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r>
                        <a:rPr sz="850">
                          <a:solidFill>
                            <a:srgbClr val="1E293B"/>
                          </a:solidFill>
                        </a:rPr>
                        <a:t>KPI attivazione POC</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2702999952"/>
                  </a:ext>
                </a:extLst>
              </a:tr>
              <a:tr h="292608">
                <a:tc>
                  <a:txBody>
                    <a:bodyPr/>
                    <a:lstStyle/>
                    <a:p>
                      <a:r>
                        <a:rPr sz="850" b="1">
                          <a:solidFill>
                            <a:srgbClr val="1E293B"/>
                          </a:solidFill>
                        </a:rPr>
                        <a:t>WA2</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Trainer usano 15+ msg pre-compilati/sett</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Ipotesi</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Dato reale POC gg 15-75</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766331863"/>
                  </a:ext>
                </a:extLst>
              </a:tr>
              <a:tr h="292608">
                <a:tc>
                  <a:txBody>
                    <a:bodyPr/>
                    <a:lstStyle/>
                    <a:p>
                      <a:r>
                        <a:rPr sz="850" b="1">
                          <a:solidFill>
                            <a:srgbClr val="1E293B"/>
                          </a:solidFill>
                        </a:rPr>
                        <a:t>WA2</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Trainer usano 15+ msg pre-compilati/sett</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Ipotesi</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Dato reale POC gg 15-75</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766331863"/>
                  </a:ext>
                </a:extLst>
              </a:tr>
              <a:tr h="292608">
                <a:tc>
                  <a:txBody>
                    <a:bodyPr/>
                    <a:lstStyle/>
                    <a:p>
                      <a:r>
                        <a:rPr sz="850" b="1">
                          <a:solidFill>
                            <a:srgbClr val="1E293B"/>
                          </a:solidFill>
                        </a:rPr>
                        <a:t>WA2</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Trainer usano 15+ msg pre-compilati/sett</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Ipotesi</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850">
                          <a:solidFill>
                            <a:srgbClr val="1E293B"/>
                          </a:solidFill>
                        </a:rPr>
                        <a:t>Dato reale POC gg 15-75</a:t>
                      </a: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766331863"/>
                  </a:ext>
                </a:extLst>
              </a:tr>
            </a:tbl>
          </a:graphicData>
        </a:graphic>
      </p:graphicFrame>
      <p:sp>
        <p:nvSpPr>
          <p:cNvPr id="6" name="Text 3"/>
          <p:cNvSpPr/>
          <p:nvPr/>
        </p:nvSpPr>
        <p:spPr>
          <a:xfrm>
            <a:off x="274320" y="4548133"/>
            <a:ext cx="8595360" cy="274320"/>
          </a:xfrm>
          <a:prstGeom prst="rect">
            <a:avLst/>
          </a:prstGeom>
          <a:noFill/>
          <a:ln/>
        </p:spPr>
        <p:txBody>
          <a:bodyPr wrap="square"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Ogni proiezione è conservativa. I ricavi Inner Circle inclusi dal mese 4 (post-POC) nelle config. con partner.</a:t>
            </a:r>
            <a:endParaRPr lang="en-US" sz="900" dirty="0"/>
          </a:p>
        </p:txBody>
      </p:sp>
      <p:sp>
        <p:nvSpPr>
          <p:cNvPr id="7"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47 / 56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A5</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Ecosistema community</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960120"/>
            <a:ext cx="8229600" cy="365760"/>
          </a:xfrm>
          <a:prstGeom prst="rect">
            <a:avLst/>
          </a:prstGeom>
          <a:noFill/>
          <a:ln/>
        </p:spPr>
        <p:txBody>
          <a:bodyPr wrap="square" lIns="0" tIns="0" rIns="0" bIns="0" rtlCol="0" anchor="ctr"/>
          <a:lstStyle/>
          <a:p>
            <a:pPr marL="0" indent="0">
              <a:buNone/>
            </a:pPr>
            <a:r>
              <a:rPr lang="en-US" sz="1000" i="1" dirty="0">
                <a:solidFill>
                  <a:srgbClr val="475569"/>
                </a:solidFill>
                <a:latin typeface="Calibri" pitchFamily="34" charset="0"/>
                <a:ea typeface="Calibri" pitchFamily="34" charset="-122"/>
                <a:cs typeface="Calibri" pitchFamily="34" charset="-120"/>
              </a:rPr>
              <a:t>PRO mantiene il software vivo. Inner Circle fa crescere il professionista.</a:t>
            </a:r>
            <a:endParaRPr lang="en-US" sz="1000" dirty="0"/>
          </a:p>
          <a:p>
            <a:pPr marL="0" indent="0">
              <a:buNone/>
            </a:pPr>
            <a:r>
              <a:rPr lang="en-US" sz="1000" i="1" dirty="0">
                <a:solidFill>
                  <a:srgbClr val="475569"/>
                </a:solidFill>
                <a:latin typeface="Calibri" pitchFamily="34" charset="0"/>
                <a:ea typeface="Calibri" pitchFamily="34" charset="-122"/>
                <a:cs typeface="Calibri" pitchFamily="34" charset="-120"/>
              </a:rPr>
              <a:t>Le masterclass e i webinar del partner sono esclusivi Inner Circle, non PRO.</a:t>
            </a:r>
            <a:endParaRPr lang="en-US" sz="1000" dirty="0"/>
          </a:p>
        </p:txBody>
      </p:sp>
      <p:sp>
        <p:nvSpPr>
          <p:cNvPr id="6" name="Shape 4"/>
          <p:cNvSpPr/>
          <p:nvPr/>
        </p:nvSpPr>
        <p:spPr>
          <a:xfrm>
            <a:off x="457200" y="1417320"/>
            <a:ext cx="8229600" cy="6858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7" name="Shape 5"/>
          <p:cNvSpPr/>
          <p:nvPr/>
        </p:nvSpPr>
        <p:spPr>
          <a:xfrm>
            <a:off x="457200" y="1417320"/>
            <a:ext cx="73152" cy="685800"/>
          </a:xfrm>
          <a:prstGeom prst="rect">
            <a:avLst/>
          </a:prstGeom>
          <a:solidFill>
            <a:srgbClr val="475569"/>
          </a:solidFill>
          <a:ln/>
        </p:spPr>
        <p:txBody>
          <a:bodyPr/>
          <a:lstStyle/>
          <a:p>
            <a:endParaRPr lang="it-IT"/>
          </a:p>
        </p:txBody>
      </p:sp>
      <p:sp>
        <p:nvSpPr>
          <p:cNvPr id="8" name="Text 6"/>
          <p:cNvSpPr/>
          <p:nvPr/>
        </p:nvSpPr>
        <p:spPr>
          <a:xfrm>
            <a:off x="731520" y="1444752"/>
            <a:ext cx="5486400" cy="274320"/>
          </a:xfrm>
          <a:prstGeom prst="rect">
            <a:avLst/>
          </a:prstGeom>
          <a:noFill/>
          <a:ln/>
        </p:spPr>
        <p:txBody>
          <a:bodyPr wrap="square" lIns="0" tIns="0" rIns="0" bIns="0" rtlCol="0" anchor="ctr"/>
          <a:lstStyle/>
          <a:p>
            <a:pPr marL="0" indent="0">
              <a:buNone/>
            </a:pPr>
            <a:r>
              <a:rPr lang="en-US" sz="1300" b="1" dirty="0">
                <a:solidFill>
                  <a:srgbClr val="475569"/>
                </a:solidFill>
                <a:latin typeface="Calibri" pitchFamily="34" charset="0"/>
                <a:ea typeface="Calibri" pitchFamily="34" charset="-122"/>
                <a:cs typeface="Calibri" pitchFamily="34" charset="-120"/>
              </a:rPr>
              <a:t>Livello 1 — Base (gratuita, inclusa nella licenza)</a:t>
            </a:r>
            <a:endParaRPr lang="en-US" sz="1300" dirty="0"/>
          </a:p>
        </p:txBody>
      </p:sp>
      <p:sp>
        <p:nvSpPr>
          <p:cNvPr id="9" name="Text 7"/>
          <p:cNvSpPr/>
          <p:nvPr/>
        </p:nvSpPr>
        <p:spPr>
          <a:xfrm>
            <a:off x="6858000" y="1444752"/>
            <a:ext cx="1645920" cy="274320"/>
          </a:xfrm>
          <a:prstGeom prst="rect">
            <a:avLst/>
          </a:prstGeom>
          <a:noFill/>
          <a:ln/>
        </p:spPr>
        <p:txBody>
          <a:bodyPr wrap="square" lIns="0" tIns="0" rIns="0" bIns="0" rtlCol="0" anchor="ctr"/>
          <a:lstStyle/>
          <a:p>
            <a:pPr marL="0" indent="0" algn="r">
              <a:buNone/>
            </a:pPr>
            <a:r>
              <a:rPr lang="en-US" sz="1600" b="1" dirty="0">
                <a:solidFill>
                  <a:srgbClr val="475569"/>
                </a:solidFill>
                <a:latin typeface="Georgia" pitchFamily="34" charset="0"/>
                <a:ea typeface="Georgia" pitchFamily="34" charset="-122"/>
                <a:cs typeface="Georgia" pitchFamily="34" charset="-120"/>
              </a:rPr>
              <a:t>€0</a:t>
            </a:r>
            <a:endParaRPr lang="en-US" sz="1600" dirty="0"/>
          </a:p>
        </p:txBody>
      </p:sp>
      <p:sp>
        <p:nvSpPr>
          <p:cNvPr id="10" name="Text 8"/>
          <p:cNvSpPr/>
          <p:nvPr/>
        </p:nvSpPr>
        <p:spPr>
          <a:xfrm>
            <a:off x="731520" y="1764792"/>
            <a:ext cx="7772400" cy="27432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Forum, knowledge base, annunci versioni, networking tra PT, onboarding guidato in 5 passi.</a:t>
            </a:r>
            <a:endParaRPr lang="en-US" sz="900" dirty="0"/>
          </a:p>
        </p:txBody>
      </p:sp>
      <p:sp>
        <p:nvSpPr>
          <p:cNvPr id="11" name="Shape 9"/>
          <p:cNvSpPr/>
          <p:nvPr/>
        </p:nvSpPr>
        <p:spPr>
          <a:xfrm>
            <a:off x="457200" y="2286000"/>
            <a:ext cx="8229600" cy="246888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2" name="Shape 10"/>
          <p:cNvSpPr/>
          <p:nvPr/>
        </p:nvSpPr>
        <p:spPr>
          <a:xfrm>
            <a:off x="457200" y="2286000"/>
            <a:ext cx="73152" cy="2331720"/>
          </a:xfrm>
          <a:prstGeom prst="rect">
            <a:avLst/>
          </a:prstGeom>
          <a:solidFill>
            <a:srgbClr val="0D9488"/>
          </a:solidFill>
          <a:ln/>
        </p:spPr>
        <p:txBody>
          <a:bodyPr/>
          <a:lstStyle/>
          <a:p>
            <a:endParaRPr lang="it-IT"/>
          </a:p>
        </p:txBody>
      </p:sp>
      <p:sp>
        <p:nvSpPr>
          <p:cNvPr id="13" name="Text 11"/>
          <p:cNvSpPr/>
          <p:nvPr/>
        </p:nvSpPr>
        <p:spPr>
          <a:xfrm>
            <a:off x="731520" y="2331720"/>
            <a:ext cx="54864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Livello 2 — PRO  "Il tuo software resta vivo"</a:t>
            </a:r>
            <a:endParaRPr lang="en-US" sz="1300" dirty="0"/>
          </a:p>
        </p:txBody>
      </p:sp>
      <p:sp>
        <p:nvSpPr>
          <p:cNvPr id="14" name="Text 12"/>
          <p:cNvSpPr/>
          <p:nvPr/>
        </p:nvSpPr>
        <p:spPr>
          <a:xfrm>
            <a:off x="6858000" y="2331720"/>
            <a:ext cx="1645920" cy="274320"/>
          </a:xfrm>
          <a:prstGeom prst="rect">
            <a:avLst/>
          </a:prstGeom>
          <a:noFill/>
          <a:ln/>
        </p:spPr>
        <p:txBody>
          <a:bodyPr wrap="square" lIns="0" tIns="0" rIns="0" bIns="0" rtlCol="0" anchor="ctr"/>
          <a:lstStyle/>
          <a:p>
            <a:pPr marL="0" indent="0" algn="r">
              <a:buNone/>
            </a:pPr>
            <a:r>
              <a:rPr lang="en-US" sz="1600" b="1" dirty="0">
                <a:solidFill>
                  <a:srgbClr val="0D9488"/>
                </a:solidFill>
                <a:latin typeface="Georgia" pitchFamily="34" charset="0"/>
                <a:ea typeface="Georgia" pitchFamily="34" charset="-122"/>
                <a:cs typeface="Georgia" pitchFamily="34" charset="-120"/>
              </a:rPr>
              <a:t>€79/anno</a:t>
            </a:r>
            <a:endParaRPr lang="en-US" sz="1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31520" y="2670048"/>
          <a:ext cx="7772400" cy="1554480"/>
        </p:xfrm>
        <a:graphic>
          <a:graphicData uri="http://schemas.openxmlformats.org/drawingml/2006/table">
            <a:tbl>
              <a:tblPr/>
              <a:tblGrid>
                <a:gridCol w="5029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01168">
                <a:tc>
                  <a:txBody>
                    <a:bodyPr/>
                    <a:lstStyle/>
                    <a:p>
                      <a:pPr marL="0" indent="0">
                        <a:buNone/>
                      </a:pPr>
                      <a:r>
                        <a:rPr lang="en-US" sz="900" b="1" dirty="0">
                          <a:solidFill>
                            <a:srgbClr val="FFFFFF"/>
                          </a:solidFill>
                        </a:rPr>
                        <a:t>Contenuto</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900" b="1" dirty="0">
                          <a:solidFill>
                            <a:srgbClr val="FFFFFF"/>
                          </a:solidFill>
                        </a:rPr>
                        <a:t>Frequenza</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Aggiornamenti software (bugfix, miglioramenti)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Continui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Nuovi esercizi nel catalogo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Trimestrale (30-50 nuovi)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Nuovi alimenti nel database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Semestrale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Template schede scaricabili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Mensile (1-2 template)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Supporto prioritario (risposta &lt;24h)</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Sempre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Badge PRO nella community</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Permanente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bl>
          </a:graphicData>
        </a:graphic>
      </p:graphicFrame>
      <p:sp>
        <p:nvSpPr>
          <p:cNvPr id="16" name="Text 13"/>
          <p:cNvSpPr/>
          <p:nvPr/>
        </p:nvSpPr>
        <p:spPr>
          <a:xfrm>
            <a:off x="731520" y="4160520"/>
            <a:ext cx="7772400" cy="594360"/>
          </a:xfrm>
          <a:prstGeom prst="rect">
            <a:avLst/>
          </a:prstGeom>
          <a:noFill/>
          <a:ln/>
        </p:spPr>
        <p:txBody>
          <a:bodyPr wrap="square" lIns="0" tIns="0" rIns="0" bIns="0" rtlCol="0" anchor="ctr"/>
          <a:lstStyle/>
          <a:p>
            <a:pPr marL="0" indent="0">
              <a:buNone/>
            </a:pPr>
            <a:r>
              <a:rPr lang="en-US" sz="850" b="1" dirty="0">
                <a:solidFill>
                  <a:srgbClr val="475569"/>
                </a:solidFill>
                <a:latin typeface="Calibri" pitchFamily="34" charset="0"/>
                <a:ea typeface="Calibri" pitchFamily="34" charset="-122"/>
                <a:cs typeface="Calibri" pitchFamily="34" charset="-120"/>
              </a:rPr>
              <a:t>Valore percepito: ~€300/anno per €79 (rapporto 3,8:1).</a:t>
            </a:r>
            <a:endParaRPr lang="en-US" sz="850" dirty="0"/>
          </a:p>
          <a:p>
            <a:pPr marL="0" indent="0">
              <a:buNone/>
            </a:pPr>
            <a:r>
              <a:rPr lang="en-US" sz="850" dirty="0">
                <a:solidFill>
                  <a:srgbClr val="475569"/>
                </a:solidFill>
                <a:latin typeface="Calibri" pitchFamily="34" charset="0"/>
                <a:ea typeface="Calibri" pitchFamily="34" charset="-122"/>
                <a:cs typeface="Calibri" pitchFamily="34" charset="-120"/>
              </a:rPr>
              <a:t>Non rinnovi? Il software funziona ma smette di aggiornarsi.</a:t>
            </a:r>
            <a:endParaRPr lang="en-US" sz="850" dirty="0"/>
          </a:p>
          <a:p>
            <a:pPr marL="0" indent="0">
              <a:buNone/>
            </a:pPr>
            <a:r>
              <a:rPr lang="en-US" sz="850" dirty="0">
                <a:solidFill>
                  <a:srgbClr val="475569"/>
                </a:solidFill>
                <a:latin typeface="Calibri" pitchFamily="34" charset="0"/>
                <a:ea typeface="Calibri" pitchFamily="34" charset="-122"/>
                <a:cs typeface="Calibri" pitchFamily="34" charset="-120"/>
              </a:rPr>
              <a:t>Primi 30 clienti: 12 mesi inclusi. Dal 31°: €79 parte all'acquisto. Primi rinnovi: mese 13.</a:t>
            </a:r>
            <a:endParaRPr lang="en-US" sz="850" dirty="0"/>
          </a:p>
        </p:txBody>
      </p:sp>
      <p:sp>
        <p:nvSpPr>
          <p:cNvPr id="17" name="Text 1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48 / 56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1000" b="1" kern="0" spc="300" dirty="0">
                <a:solidFill>
                  <a:srgbClr val="0D9488"/>
                </a:solidFill>
                <a:latin typeface="Calibri" pitchFamily="34" charset="0"/>
                <a:ea typeface="Calibri" pitchFamily="34" charset="-122"/>
                <a:cs typeface="Calibri" pitchFamily="34" charset="-120"/>
              </a:rPr>
              <a:t>APPENDICE A5</a:t>
            </a:r>
            <a:endParaRPr lang="en-US" sz="1000" dirty="0"/>
          </a:p>
        </p:txBody>
      </p:sp>
      <p:sp>
        <p:nvSpPr>
          <p:cNvPr id="3" name="Text 1"/>
          <p:cNvSpPr/>
          <p:nvPr/>
        </p:nvSpPr>
        <p:spPr>
          <a:xfrm>
            <a:off x="457200" y="433079"/>
            <a:ext cx="8229600" cy="502920"/>
          </a:xfrm>
          <a:prstGeom prst="rect">
            <a:avLst/>
          </a:prstGeom>
          <a:noFill/>
          <a:ln/>
        </p:spPr>
        <p:txBody>
          <a:bodyPr wrap="square" lIns="0" tIns="0" rIns="0" bIns="0" rtlCol="0" anchor="ctr"/>
          <a:lstStyle/>
          <a:p>
            <a:pPr marL="0" indent="0">
              <a:buNone/>
            </a:pPr>
            <a:r>
              <a:rPr lang="en-US" sz="2400" b="1" dirty="0">
                <a:solidFill>
                  <a:srgbClr val="1E293B"/>
                </a:solidFill>
                <a:latin typeface="Georgia" pitchFamily="34" charset="0"/>
                <a:ea typeface="Georgia" pitchFamily="34" charset="-122"/>
                <a:cs typeface="Georgia" pitchFamily="34" charset="-120"/>
              </a:rPr>
              <a:t>Ecosistema community — Inner Circle &amp; Mentorship</a:t>
            </a:r>
            <a:endParaRPr lang="en-US" sz="24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00007"/>
            <a:ext cx="8229600" cy="27889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Shape 4"/>
          <p:cNvSpPr/>
          <p:nvPr/>
        </p:nvSpPr>
        <p:spPr>
          <a:xfrm>
            <a:off x="457200" y="914400"/>
            <a:ext cx="73152" cy="2788920"/>
          </a:xfrm>
          <a:prstGeom prst="rect">
            <a:avLst/>
          </a:prstGeom>
          <a:solidFill>
            <a:srgbClr val="F59E0B"/>
          </a:solidFill>
          <a:ln/>
        </p:spPr>
        <p:txBody>
          <a:bodyPr/>
          <a:lstStyle/>
          <a:p>
            <a:endParaRPr lang="it-IT"/>
          </a:p>
        </p:txBody>
      </p:sp>
      <p:sp>
        <p:nvSpPr>
          <p:cNvPr id="7" name="Text 5"/>
          <p:cNvSpPr/>
          <p:nvPr/>
        </p:nvSpPr>
        <p:spPr>
          <a:xfrm>
            <a:off x="731520" y="960120"/>
            <a:ext cx="5486400" cy="274320"/>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Livello 3 — Inner Circle  "Diventa un PT Evoluto"</a:t>
            </a:r>
            <a:endParaRPr lang="en-US" sz="1300" dirty="0"/>
          </a:p>
        </p:txBody>
      </p:sp>
      <p:sp>
        <p:nvSpPr>
          <p:cNvPr id="8" name="Text 6"/>
          <p:cNvSpPr/>
          <p:nvPr/>
        </p:nvSpPr>
        <p:spPr>
          <a:xfrm>
            <a:off x="6858000" y="960120"/>
            <a:ext cx="1645920" cy="274320"/>
          </a:xfrm>
          <a:prstGeom prst="rect">
            <a:avLst/>
          </a:prstGeom>
          <a:noFill/>
          <a:ln/>
        </p:spPr>
        <p:txBody>
          <a:bodyPr wrap="square" lIns="0" tIns="0" rIns="0" bIns="0" rtlCol="0" anchor="ctr"/>
          <a:lstStyle/>
          <a:p>
            <a:pPr marL="0" indent="0" algn="r">
              <a:buNone/>
            </a:pPr>
            <a:r>
              <a:rPr lang="en-US" sz="1600" b="1" dirty="0">
                <a:solidFill>
                  <a:srgbClr val="F59E0B"/>
                </a:solidFill>
                <a:latin typeface="Georgia" pitchFamily="34" charset="0"/>
                <a:ea typeface="Georgia" pitchFamily="34" charset="-122"/>
                <a:cs typeface="Georgia" pitchFamily="34" charset="-120"/>
              </a:rPr>
              <a:t>€249/anno</a:t>
            </a:r>
            <a:endParaRPr lang="en-US" sz="1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31520" y="1298448"/>
          <a:ext cx="7772400" cy="1554480"/>
        </p:xfrm>
        <a:graphic>
          <a:graphicData uri="http://schemas.openxmlformats.org/drawingml/2006/table">
            <a:tbl>
              <a:tblPr/>
              <a:tblGrid>
                <a:gridCol w="38404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01168">
                <a:tc>
                  <a:txBody>
                    <a:bodyPr/>
                    <a:lstStyle/>
                    <a:p>
                      <a:pPr marL="0" indent="0">
                        <a:buNone/>
                      </a:pPr>
                      <a:r>
                        <a:rPr lang="en-US" sz="900" b="1" dirty="0">
                          <a:solidFill>
                            <a:srgbClr val="FFFFFF"/>
                          </a:solidFill>
                        </a:rPr>
                        <a:t>Contenuto</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buNone/>
                      </a:pPr>
                      <a:r>
                        <a:rPr lang="en-US" sz="900" b="1" dirty="0">
                          <a:solidFill>
                            <a:srgbClr val="FFFFFF"/>
                          </a:solidFill>
                        </a:rPr>
                        <a:t>Frequenza</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buNone/>
                      </a:pPr>
                      <a:r>
                        <a:rPr lang="en-US" sz="900" b="1" dirty="0">
                          <a:solidFill>
                            <a:srgbClr val="FFFFFF"/>
                          </a:solidFill>
                        </a:rPr>
                        <a:t>Conduce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extLst>
                  <a:ext uri="{0D108BD9-81ED-4DB2-BD59-A6C34878D82A}">
                    <a16:rowId xmlns:a16="http://schemas.microsoft.com/office/drawing/2014/main" val="10000"/>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Masterclass tematiche (45-60 min + Q&amp;A)</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Mensile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Industry Partner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Webinar "Chiedi all'esperto"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Mensile (alternato)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Partner + ospiti</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Mastermind group (max 30-50)</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Mensile (60-90 min)</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Industry Partner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Casi studio dalla community</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Mensile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Peer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Early access nuove feature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Ad ogni major release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Founder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Certificazione PT Evoluto</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Annuale</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850" dirty="0">
                          <a:solidFill>
                            <a:srgbClr val="1E293B"/>
                          </a:solidFill>
                          <a:latin typeface="Calibri" pitchFamily="34" charset="0"/>
                          <a:ea typeface="Calibri" pitchFamily="34" charset="-122"/>
                          <a:cs typeface="Calibri" pitchFamily="34" charset="-120"/>
                        </a:rPr>
                        <a:t>Industry Partner</a:t>
                      </a:r>
                      <a:endParaRPr lang="en-US" sz="8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bl>
          </a:graphicData>
        </a:graphic>
      </p:graphicFrame>
      <p:sp>
        <p:nvSpPr>
          <p:cNvPr id="10" name="Text 7"/>
          <p:cNvSpPr/>
          <p:nvPr/>
        </p:nvSpPr>
        <p:spPr>
          <a:xfrm>
            <a:off x="731520" y="2834640"/>
            <a:ext cx="7772400" cy="411480"/>
          </a:xfrm>
          <a:prstGeom prst="rect">
            <a:avLst/>
          </a:prstGeom>
          <a:noFill/>
          <a:ln/>
        </p:spPr>
        <p:txBody>
          <a:bodyPr wrap="square" lIns="0" tIns="0" rIns="0" bIns="0" rtlCol="0" anchor="ctr"/>
          <a:lstStyle/>
          <a:p>
            <a:pPr marL="0" indent="0">
              <a:buNone/>
            </a:pPr>
            <a:r>
              <a:rPr lang="en-US" sz="850" b="1" dirty="0">
                <a:solidFill>
                  <a:srgbClr val="475569"/>
                </a:solidFill>
                <a:latin typeface="Calibri" pitchFamily="34" charset="0"/>
                <a:ea typeface="Calibri" pitchFamily="34" charset="-122"/>
                <a:cs typeface="Calibri" pitchFamily="34" charset="-120"/>
              </a:rPr>
              <a:t>Valore percepito: ~€800-900/anno per €249 (rapporto 3,4:1).</a:t>
            </a:r>
            <a:endParaRPr lang="en-US" sz="850" dirty="0"/>
          </a:p>
          <a:p>
            <a:pPr marL="0" indent="0">
              <a:buNone/>
            </a:pPr>
            <a:r>
              <a:rPr lang="en-US" sz="850" dirty="0">
                <a:solidFill>
                  <a:srgbClr val="475569"/>
                </a:solidFill>
                <a:latin typeface="Calibri" pitchFamily="34" charset="0"/>
                <a:ea typeface="Calibri" pitchFamily="34" charset="-122"/>
                <a:cs typeface="Calibri" pitchFamily="34" charset="-120"/>
              </a:rPr>
              <a:t>Attivo dal mese 4. Masterclass partono durante POC per i 10 Fondatori.</a:t>
            </a:r>
            <a:endParaRPr lang="en-US" sz="850" dirty="0"/>
          </a:p>
        </p:txBody>
      </p:sp>
      <p:sp>
        <p:nvSpPr>
          <p:cNvPr id="11" name="Text 8"/>
          <p:cNvSpPr/>
          <p:nvPr/>
        </p:nvSpPr>
        <p:spPr>
          <a:xfrm>
            <a:off x="731520" y="3246120"/>
            <a:ext cx="7772400" cy="274320"/>
          </a:xfrm>
          <a:prstGeom prst="rect">
            <a:avLst/>
          </a:prstGeom>
          <a:noFill/>
          <a:ln/>
        </p:spPr>
        <p:txBody>
          <a:bodyPr wrap="square" lIns="0" tIns="0" rIns="0" bIns="0" rtlCol="0" anchor="ctr"/>
          <a:lstStyle/>
          <a:p>
            <a:pPr marL="0" indent="0">
              <a:buNone/>
            </a:pPr>
            <a:r>
              <a:rPr lang="en-US" sz="850" b="1" dirty="0">
                <a:solidFill>
                  <a:srgbClr val="0A7A70"/>
                </a:solidFill>
                <a:latin typeface="Calibri" pitchFamily="34" charset="0"/>
                <a:ea typeface="Calibri" pitchFamily="34" charset="-122"/>
                <a:cs typeface="Calibri" pitchFamily="34" charset="-120"/>
              </a:rPr>
              <a:t>Webinar gratuito mensile: </a:t>
            </a:r>
            <a:r>
              <a:rPr lang="en-US" sz="850" dirty="0">
                <a:solidFill>
                  <a:srgbClr val="0A7A70"/>
                </a:solidFill>
                <a:latin typeface="Calibri" pitchFamily="34" charset="0"/>
                <a:ea typeface="Calibri" pitchFamily="34" charset="-122"/>
                <a:cs typeface="Calibri" pitchFamily="34" charset="-120"/>
              </a:rPr>
              <a:t>strumento di acquisizione (Touch 5 del funnel). Non compete con IC — lo alimenta.</a:t>
            </a:r>
            <a:endParaRPr lang="en-US" sz="850" dirty="0"/>
          </a:p>
        </p:txBody>
      </p:sp>
      <p:sp>
        <p:nvSpPr>
          <p:cNvPr id="12" name="Shape 9"/>
          <p:cNvSpPr/>
          <p:nvPr/>
        </p:nvSpPr>
        <p:spPr>
          <a:xfrm>
            <a:off x="457200" y="3886200"/>
            <a:ext cx="8229600" cy="6858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13" name="Shape 10"/>
          <p:cNvSpPr/>
          <p:nvPr/>
        </p:nvSpPr>
        <p:spPr>
          <a:xfrm>
            <a:off x="457200" y="3886200"/>
            <a:ext cx="73152" cy="685800"/>
          </a:xfrm>
          <a:prstGeom prst="rect">
            <a:avLst/>
          </a:prstGeom>
          <a:solidFill>
            <a:srgbClr val="F96167"/>
          </a:solidFill>
          <a:ln/>
        </p:spPr>
        <p:txBody>
          <a:bodyPr/>
          <a:lstStyle/>
          <a:p>
            <a:endParaRPr lang="it-IT"/>
          </a:p>
        </p:txBody>
      </p:sp>
      <p:sp>
        <p:nvSpPr>
          <p:cNvPr id="14" name="Text 11"/>
          <p:cNvSpPr/>
          <p:nvPr/>
        </p:nvSpPr>
        <p:spPr>
          <a:xfrm>
            <a:off x="731520" y="3913632"/>
            <a:ext cx="5486400" cy="274320"/>
          </a:xfrm>
          <a:prstGeom prst="rect">
            <a:avLst/>
          </a:prstGeom>
          <a:noFill/>
          <a:ln/>
        </p:spPr>
        <p:txBody>
          <a:bodyPr wrap="square" lIns="0" tIns="0" rIns="0" bIns="0" rtlCol="0" anchor="ctr"/>
          <a:lstStyle/>
          <a:p>
            <a:pPr marL="0" indent="0">
              <a:buNone/>
            </a:pPr>
            <a:r>
              <a:rPr lang="en-US" sz="1300" b="1" dirty="0">
                <a:solidFill>
                  <a:srgbClr val="F96167"/>
                </a:solidFill>
                <a:latin typeface="Calibri" pitchFamily="34" charset="0"/>
                <a:ea typeface="Calibri" pitchFamily="34" charset="-122"/>
                <a:cs typeface="Calibri" pitchFamily="34" charset="-120"/>
              </a:rPr>
              <a:t>Livello 4 — Mentorship (futuro, Anno 3+, max 15-20)</a:t>
            </a:r>
            <a:endParaRPr lang="en-US" sz="1300" dirty="0"/>
          </a:p>
        </p:txBody>
      </p:sp>
      <p:sp>
        <p:nvSpPr>
          <p:cNvPr id="15" name="Text 12"/>
          <p:cNvSpPr/>
          <p:nvPr/>
        </p:nvSpPr>
        <p:spPr>
          <a:xfrm>
            <a:off x="6400800" y="3913632"/>
            <a:ext cx="2103120" cy="274320"/>
          </a:xfrm>
          <a:prstGeom prst="rect">
            <a:avLst/>
          </a:prstGeom>
          <a:noFill/>
          <a:ln/>
        </p:spPr>
        <p:txBody>
          <a:bodyPr wrap="square" lIns="0" tIns="0" rIns="0" bIns="0" rtlCol="0" anchor="ctr"/>
          <a:lstStyle/>
          <a:p>
            <a:pPr marL="0" indent="0" algn="r">
              <a:buNone/>
            </a:pPr>
            <a:r>
              <a:rPr lang="en-US" sz="1600" b="1" dirty="0">
                <a:solidFill>
                  <a:srgbClr val="F96167"/>
                </a:solidFill>
                <a:latin typeface="Georgia" pitchFamily="34" charset="0"/>
                <a:ea typeface="Georgia" pitchFamily="34" charset="-122"/>
                <a:cs typeface="Georgia" pitchFamily="34" charset="-120"/>
              </a:rPr>
              <a:t>€499-599/anno</a:t>
            </a:r>
            <a:endParaRPr lang="en-US" sz="1600" dirty="0"/>
          </a:p>
        </p:txBody>
      </p:sp>
      <p:sp>
        <p:nvSpPr>
          <p:cNvPr id="16" name="Text 13"/>
          <p:cNvSpPr/>
          <p:nvPr/>
        </p:nvSpPr>
        <p:spPr>
          <a:xfrm>
            <a:off x="731520" y="4233672"/>
            <a:ext cx="7772400" cy="27432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Mentorship 1:1, co-creazione roadmap, eventi in presenza. Da definire con base IC &gt;30 membri.</a:t>
            </a:r>
            <a:endParaRPr lang="en-US" sz="900" dirty="0"/>
          </a:p>
        </p:txBody>
      </p:sp>
      <p:sp>
        <p:nvSpPr>
          <p:cNvPr id="17" name="Text 1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49 / 56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22516" y="165538"/>
            <a:ext cx="3657600" cy="274320"/>
          </a:xfrm>
          <a:prstGeom prst="rect">
            <a:avLst/>
          </a:prstGeom>
          <a:noFill/>
          <a:ln/>
        </p:spPr>
        <p:txBody>
          <a:bodyPr wrap="square" rtlCol="0" anchor="ctr"/>
          <a:lstStyle/>
          <a:p>
            <a:pPr marL="0" indent="0">
              <a:buNone/>
            </a:pPr>
            <a:r>
              <a:rPr lang="en-US" sz="1000" b="1" kern="0" spc="300" dirty="0">
                <a:solidFill>
                  <a:srgbClr val="0D9488"/>
                </a:solidFill>
                <a:latin typeface="Calibri" pitchFamily="34" charset="0"/>
                <a:ea typeface="Calibri" pitchFamily="34" charset="-122"/>
                <a:cs typeface="Calibri" pitchFamily="34" charset="-120"/>
              </a:rPr>
              <a:t>APPENDICE A5</a:t>
            </a:r>
            <a:endParaRPr lang="en-US" sz="1000" dirty="0"/>
          </a:p>
        </p:txBody>
      </p:sp>
      <p:sp>
        <p:nvSpPr>
          <p:cNvPr id="3" name="Text 1"/>
          <p:cNvSpPr/>
          <p:nvPr/>
        </p:nvSpPr>
        <p:spPr>
          <a:xfrm>
            <a:off x="457200" y="41148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Community — Proiezione ricavi (</a:t>
            </a:r>
            <a:r>
              <a:rPr lang="en-US" sz="2800" b="1" dirty="0" err="1">
                <a:solidFill>
                  <a:srgbClr val="1E293B"/>
                </a:solidFill>
                <a:latin typeface="Georgia" pitchFamily="34" charset="0"/>
                <a:ea typeface="Georgia" pitchFamily="34" charset="-122"/>
                <a:cs typeface="Georgia" pitchFamily="34" charset="-120"/>
              </a:rPr>
              <a:t>scen.base</a:t>
            </a:r>
            <a:r>
              <a:rPr lang="en-US" sz="2800" b="1" dirty="0">
                <a:solidFill>
                  <a:srgbClr val="1E293B"/>
                </a:solidFill>
                <a:latin typeface="Georgia" pitchFamily="34" charset="0"/>
                <a:ea typeface="Georgia" pitchFamily="34" charset="-122"/>
                <a:cs typeface="Georgia" pitchFamily="34" charset="-120"/>
              </a:rPr>
              <a:t>)</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914400" y="1097280"/>
          <a:ext cx="6858000" cy="2240280"/>
        </p:xfrm>
        <a:graphic>
          <a:graphicData uri="http://schemas.openxmlformats.org/drawingml/2006/table">
            <a:tbl>
              <a:tblPr/>
              <a:tblGrid>
                <a:gridCol w="2743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marL="0" indent="0">
                        <a:buNone/>
                      </a:pP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r">
                        <a:buNone/>
                      </a:pPr>
                      <a:r>
                        <a:rPr lang="en-US" sz="1000" b="1" dirty="0">
                          <a:solidFill>
                            <a:srgbClr val="FFFFFF"/>
                          </a:solidFill>
                        </a:rPr>
                        <a:t>Anno 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r">
                        <a:buNone/>
                      </a:pPr>
                      <a:r>
                        <a:rPr lang="en-US" sz="1000" b="1" dirty="0">
                          <a:solidFill>
                            <a:srgbClr val="FFFFFF"/>
                          </a:solidFill>
                        </a:rPr>
                        <a:t>Anno 2</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lgn="r">
                        <a:buNone/>
                      </a:pPr>
                      <a:r>
                        <a:rPr lang="en-US" sz="1000" b="1" dirty="0">
                          <a:solidFill>
                            <a:srgbClr val="FFFFFF"/>
                          </a:solidFill>
                        </a:rPr>
                        <a:t>Anno 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320040">
                <a:tc>
                  <a:txBody>
                    <a:bodyPr/>
                    <a:lstStyle/>
                    <a:p>
                      <a:pPr marL="0" indent="0">
                        <a:buNone/>
                      </a:pPr>
                      <a:r>
                        <a:rPr lang="en-US" sz="1000" dirty="0">
                          <a:solidFill>
                            <a:srgbClr val="1E293B"/>
                          </a:solidFill>
                          <a:latin typeface="Calibri" pitchFamily="34" charset="0"/>
                          <a:ea typeface="Calibri" pitchFamily="34" charset="-122"/>
                          <a:cs typeface="Calibri" pitchFamily="34" charset="-120"/>
                        </a:rPr>
                        <a:t>Membri PRO (paganti)</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12</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47</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92</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1000" dirty="0">
                          <a:solidFill>
                            <a:srgbClr val="1E293B"/>
                          </a:solidFill>
                          <a:latin typeface="Calibri" pitchFamily="34" charset="0"/>
                          <a:ea typeface="Calibri" pitchFamily="34" charset="-122"/>
                          <a:cs typeface="Calibri" pitchFamily="34" charset="-120"/>
                        </a:rPr>
                        <a:t>Membri Inner Circle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9</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18</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38</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320040">
                <a:tc>
                  <a:txBody>
                    <a:bodyPr/>
                    <a:lstStyle/>
                    <a:p>
                      <a:pPr marL="0" indent="0">
                        <a:buNone/>
                      </a:pPr>
                      <a:r>
                        <a:rPr lang="en-US" sz="1000" dirty="0">
                          <a:solidFill>
                            <a:srgbClr val="1E293B"/>
                          </a:solidFill>
                          <a:latin typeface="Calibri" pitchFamily="34" charset="0"/>
                          <a:ea typeface="Calibri" pitchFamily="34" charset="-122"/>
                          <a:cs typeface="Calibri" pitchFamily="34" charset="-120"/>
                        </a:rPr>
                        <a:t>Ricavo PRO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€950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€3.700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€7.300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0040">
                <a:tc>
                  <a:txBody>
                    <a:bodyPr/>
                    <a:lstStyle/>
                    <a:p>
                      <a:pPr marL="0" indent="0">
                        <a:buNone/>
                      </a:pPr>
                      <a:r>
                        <a:rPr lang="en-US" sz="1000" dirty="0">
                          <a:solidFill>
                            <a:srgbClr val="1E293B"/>
                          </a:solidFill>
                          <a:latin typeface="Calibri" pitchFamily="34" charset="0"/>
                          <a:ea typeface="Calibri" pitchFamily="34" charset="-122"/>
                          <a:cs typeface="Calibri" pitchFamily="34" charset="-120"/>
                        </a:rPr>
                        <a:t>Ricavo Inner Circle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€2.250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€4.500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r">
                        <a:buNone/>
                      </a:pPr>
                      <a:r>
                        <a:rPr lang="en-US" sz="1000" dirty="0">
                          <a:solidFill>
                            <a:srgbClr val="1E293B"/>
                          </a:solidFill>
                          <a:latin typeface="Georgia" pitchFamily="34" charset="0"/>
                          <a:ea typeface="Georgia" pitchFamily="34" charset="-122"/>
                          <a:cs typeface="Georgia" pitchFamily="34" charset="-120"/>
                        </a:rPr>
                        <a:t>€9.500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320040">
                <a:tc>
                  <a:txBody>
                    <a:bodyPr/>
                    <a:lstStyle/>
                    <a:p>
                      <a:pPr marL="0" indent="0">
                        <a:buNone/>
                      </a:pPr>
                      <a:r>
                        <a:rPr lang="en-US" sz="1000" b="1" dirty="0">
                          <a:solidFill>
                            <a:srgbClr val="0A7A70"/>
                          </a:solidFill>
                          <a:latin typeface="Calibri" pitchFamily="34" charset="0"/>
                          <a:ea typeface="Calibri" pitchFamily="34" charset="-122"/>
                          <a:cs typeface="Calibri" pitchFamily="34" charset="-120"/>
                        </a:rPr>
                        <a:t>Totale ricorrente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€3.200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€8.200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€16.800</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extLst>
                  <a:ext uri="{0D108BD9-81ED-4DB2-BD59-A6C34878D82A}">
                    <a16:rowId xmlns:a16="http://schemas.microsoft.com/office/drawing/2014/main" val="10005"/>
                  </a:ext>
                </a:extLst>
              </a:tr>
              <a:tr h="320040">
                <a:tc>
                  <a:txBody>
                    <a:bodyPr/>
                    <a:lstStyle/>
                    <a:p>
                      <a:pPr marL="0" indent="0">
                        <a:buNone/>
                      </a:pPr>
                      <a:r>
                        <a:rPr lang="en-US" sz="1000" b="1" dirty="0">
                          <a:solidFill>
                            <a:srgbClr val="0A7A70"/>
                          </a:solidFill>
                          <a:latin typeface="Calibri" pitchFamily="34" charset="0"/>
                          <a:ea typeface="Calibri" pitchFamily="34" charset="-122"/>
                          <a:cs typeface="Calibri" pitchFamily="34" charset="-120"/>
                        </a:rPr>
                        <a:t>% del fatturato totale</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19%</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28%</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tc>
                  <a:txBody>
                    <a:bodyPr/>
                    <a:lstStyle/>
                    <a:p>
                      <a:pPr marL="0" indent="0" algn="r">
                        <a:buNone/>
                      </a:pPr>
                      <a:r>
                        <a:rPr lang="en-US" sz="1000" b="1" dirty="0">
                          <a:solidFill>
                            <a:srgbClr val="0A7A70"/>
                          </a:solidFill>
                          <a:latin typeface="Georgia" pitchFamily="34" charset="0"/>
                          <a:ea typeface="Georgia" pitchFamily="34" charset="-122"/>
                          <a:cs typeface="Georgia" pitchFamily="34" charset="-120"/>
                        </a:rPr>
                        <a:t>34%</a:t>
                      </a:r>
                      <a:endParaRPr lang="en-US" sz="1000" dirty="0">
                        <a:latin typeface="Georgia" charset="0"/>
                        <a:ea typeface="Georgia" charset="0"/>
                        <a:cs typeface="Georgia"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99F6E4"/>
                    </a:solidFill>
                  </a:tcPr>
                </a:tc>
                <a:extLst>
                  <a:ext uri="{0D108BD9-81ED-4DB2-BD59-A6C34878D82A}">
                    <a16:rowId xmlns:a16="http://schemas.microsoft.com/office/drawing/2014/main" val="10006"/>
                  </a:ext>
                </a:extLst>
              </a:tr>
            </a:tbl>
          </a:graphicData>
        </a:graphic>
      </p:graphicFrame>
      <p:sp>
        <p:nvSpPr>
          <p:cNvPr id="6" name="Shape 3"/>
          <p:cNvSpPr/>
          <p:nvPr/>
        </p:nvSpPr>
        <p:spPr>
          <a:xfrm>
            <a:off x="914400" y="3566160"/>
            <a:ext cx="7315200" cy="8229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7" name="Shape 4"/>
          <p:cNvSpPr/>
          <p:nvPr/>
        </p:nvSpPr>
        <p:spPr>
          <a:xfrm>
            <a:off x="914400" y="3566160"/>
            <a:ext cx="73152" cy="822960"/>
          </a:xfrm>
          <a:prstGeom prst="rect">
            <a:avLst/>
          </a:prstGeom>
          <a:solidFill>
            <a:srgbClr val="0D9488"/>
          </a:solidFill>
          <a:ln/>
        </p:spPr>
        <p:txBody>
          <a:bodyPr/>
          <a:lstStyle/>
          <a:p>
            <a:endParaRPr lang="it-IT"/>
          </a:p>
        </p:txBody>
      </p:sp>
      <p:sp>
        <p:nvSpPr>
          <p:cNvPr id="8" name="Text 5"/>
          <p:cNvSpPr/>
          <p:nvPr/>
        </p:nvSpPr>
        <p:spPr>
          <a:xfrm>
            <a:off x="1188720" y="3611880"/>
            <a:ext cx="6858000" cy="7315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Il ricorrente cresce dal 19% al 34% del fatturato in 3 anni.</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Questo è il pavimento che copre i costi operativi e rende il business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progressivamente indipendente dalle nuove vendite.</a:t>
            </a:r>
            <a:endParaRPr lang="en-US" sz="1100" dirty="0"/>
          </a:p>
        </p:txBody>
      </p:sp>
      <p:sp>
        <p:nvSpPr>
          <p:cNvPr id="9" name="Text 6"/>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50 / 56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A6</a:t>
            </a:r>
            <a:endParaRPr lang="en-US" sz="800" dirty="0"/>
          </a:p>
        </p:txBody>
      </p:sp>
      <p:sp>
        <p:nvSpPr>
          <p:cNvPr id="3" name="Text 1"/>
          <p:cNvSpPr/>
          <p:nvPr/>
        </p:nvSpPr>
        <p:spPr>
          <a:xfrm>
            <a:off x="457200" y="402336"/>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Piano B senza partner</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Text 3"/>
          <p:cNvSpPr/>
          <p:nvPr/>
        </p:nvSpPr>
        <p:spPr>
          <a:xfrm>
            <a:off x="457200" y="1097280"/>
            <a:ext cx="8229600" cy="3200400"/>
          </a:xfrm>
          <a:prstGeom prst="rect">
            <a:avLst/>
          </a:prstGeom>
          <a:noFill/>
          <a:ln/>
        </p:spPr>
        <p:txBody>
          <a:bodyPr wrap="square"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POC ridotta a 5 Fondatori</a:t>
            </a:r>
            <a:endParaRPr lang="en-US" sz="1400" dirty="0"/>
          </a:p>
          <a:p>
            <a:pPr marL="0" indent="0">
              <a:buNone/>
            </a:pPr>
            <a:r>
              <a:rPr lang="en-US" sz="1400" dirty="0">
                <a:solidFill>
                  <a:srgbClr val="1E293B"/>
                </a:solidFill>
                <a:latin typeface="Calibri" pitchFamily="34" charset="0"/>
                <a:ea typeface="Calibri" pitchFamily="34" charset="-122"/>
                <a:cs typeface="Calibri" pitchFamily="34" charset="-120"/>
              </a:rPr>
              <a:t>Reclutati via LinkedIn e community fitness online</a:t>
            </a:r>
            <a:endParaRPr lang="en-US" sz="1400" dirty="0"/>
          </a:p>
          <a:p>
            <a:pPr marL="0" indent="0">
              <a:buNone/>
            </a:pPr>
            <a:endParaRPr lang="en-US" sz="1400" dirty="0"/>
          </a:p>
          <a:p>
            <a:pPr marL="0" indent="0">
              <a:buNone/>
            </a:pPr>
            <a:r>
              <a:rPr lang="en-US" sz="1400" b="1" dirty="0">
                <a:solidFill>
                  <a:srgbClr val="1E293B"/>
                </a:solidFill>
                <a:latin typeface="Calibri" pitchFamily="34" charset="0"/>
                <a:ea typeface="Calibri" pitchFamily="34" charset="-122"/>
                <a:cs typeface="Calibri" pitchFamily="34" charset="-120"/>
              </a:rPr>
              <a:t>Go-to-market organico</a:t>
            </a:r>
            <a:endParaRPr lang="en-US" sz="1400" dirty="0"/>
          </a:p>
          <a:p>
            <a:pPr marL="0" indent="0">
              <a:buNone/>
            </a:pPr>
            <a:r>
              <a:rPr lang="en-US" sz="1400" dirty="0">
                <a:solidFill>
                  <a:srgbClr val="1E293B"/>
                </a:solidFill>
                <a:latin typeface="Calibri" pitchFamily="34" charset="0"/>
                <a:ea typeface="Calibri" pitchFamily="34" charset="-122"/>
                <a:cs typeface="Calibri" pitchFamily="34" charset="-120"/>
              </a:rPr>
              <a:t>Impatto: -40% volume vendite rispetto allo scenario base</a:t>
            </a:r>
            <a:endParaRPr lang="en-US" sz="1400" dirty="0"/>
          </a:p>
          <a:p>
            <a:pPr marL="0" indent="0">
              <a:buNone/>
            </a:pPr>
            <a:endParaRPr lang="en-US" sz="1400" dirty="0"/>
          </a:p>
          <a:p>
            <a:pPr marL="0" indent="0">
              <a:buNone/>
            </a:pPr>
            <a:r>
              <a:rPr lang="en-US" sz="1400" b="1" dirty="0">
                <a:solidFill>
                  <a:srgbClr val="1E293B"/>
                </a:solidFill>
                <a:latin typeface="Calibri" pitchFamily="34" charset="0"/>
                <a:ea typeface="Calibri" pitchFamily="34" charset="-122"/>
                <a:cs typeface="Calibri" pitchFamily="34" charset="-120"/>
              </a:rPr>
              <a:t>~24 clienti Anno 1  —  Fatturato ~€7.200</a:t>
            </a:r>
            <a:endParaRPr lang="en-US" sz="1400" dirty="0"/>
          </a:p>
          <a:p>
            <a:pPr marL="0" indent="0">
              <a:buNone/>
            </a:pPr>
            <a:endParaRPr lang="en-US" sz="1400" dirty="0"/>
          </a:p>
          <a:p>
            <a:pPr marL="0" indent="0">
              <a:buNone/>
            </a:pPr>
            <a:r>
              <a:rPr lang="en-US" sz="1400" b="1" dirty="0">
                <a:solidFill>
                  <a:srgbClr val="0A7A70"/>
                </a:solidFill>
                <a:latin typeface="Calibri" pitchFamily="34" charset="0"/>
                <a:ea typeface="Calibri" pitchFamily="34" charset="-122"/>
                <a:cs typeface="Calibri" pitchFamily="34" charset="-120"/>
              </a:rPr>
              <a:t>Il business non genera debito.</a:t>
            </a:r>
            <a:endParaRPr lang="en-US" sz="1400" dirty="0"/>
          </a:p>
          <a:p>
            <a:pPr marL="0" indent="0">
              <a:buNone/>
            </a:pPr>
            <a:r>
              <a:rPr lang="en-US" sz="1400" b="1" dirty="0">
                <a:solidFill>
                  <a:srgbClr val="0A7A70"/>
                </a:solidFill>
                <a:latin typeface="Calibri" pitchFamily="34" charset="0"/>
                <a:ea typeface="Calibri" pitchFamily="34" charset="-122"/>
                <a:cs typeface="Calibri" pitchFamily="34" charset="-120"/>
              </a:rPr>
              <a:t>Il partner accelera, non abilita.</a:t>
            </a:r>
            <a:endParaRPr lang="en-US" sz="1400" dirty="0"/>
          </a:p>
        </p:txBody>
      </p:sp>
      <p:sp>
        <p:nvSpPr>
          <p:cNvPr id="6" name="Text 4"/>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51 / 56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A7</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Struttura fiscale</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sp>
        <p:nvSpPr>
          <p:cNvPr id="5" name="Shape 3"/>
          <p:cNvSpPr/>
          <p:nvPr/>
        </p:nvSpPr>
        <p:spPr>
          <a:xfrm>
            <a:off x="457200" y="1051560"/>
            <a:ext cx="3931920" cy="25603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6" name="Text 4"/>
          <p:cNvSpPr/>
          <p:nvPr/>
        </p:nvSpPr>
        <p:spPr>
          <a:xfrm>
            <a:off x="640080" y="1188720"/>
            <a:ext cx="3474720" cy="228600"/>
          </a:xfrm>
          <a:prstGeom prst="rect">
            <a:avLst/>
          </a:prstGeom>
          <a:noFill/>
          <a:ln/>
        </p:spPr>
        <p:txBody>
          <a:bodyPr wrap="square" rtlCol="0" anchor="ctr"/>
          <a:lstStyle/>
          <a:p>
            <a:pPr marL="0" indent="0">
              <a:buNone/>
            </a:pPr>
            <a:r>
              <a:rPr lang="en-US" sz="1000" b="1" kern="0" spc="200" dirty="0">
                <a:solidFill>
                  <a:srgbClr val="0D9488"/>
                </a:solidFill>
                <a:latin typeface="Calibri" pitchFamily="34" charset="0"/>
                <a:ea typeface="Calibri" pitchFamily="34" charset="-122"/>
                <a:cs typeface="Calibri" pitchFamily="34" charset="-120"/>
              </a:rPr>
              <a:t>ANNI 1-2: FORFETTARIO</a:t>
            </a:r>
            <a:endParaRPr lang="en-US" sz="1000" dirty="0"/>
          </a:p>
        </p:txBody>
      </p:sp>
      <p:sp>
        <p:nvSpPr>
          <p:cNvPr id="7" name="Text 5"/>
          <p:cNvSpPr/>
          <p:nvPr/>
        </p:nvSpPr>
        <p:spPr>
          <a:xfrm>
            <a:off x="640080" y="1508760"/>
            <a:ext cx="3474720" cy="2011680"/>
          </a:xfrm>
          <a:prstGeom prst="rect">
            <a:avLst/>
          </a:prstGeom>
          <a:noFill/>
          <a:ln/>
        </p:spPr>
        <p:txBody>
          <a:bodyPr wrap="square"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ATECO 62.10.00</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Coefficiente redditività: 67%</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IRPEF: 5%  |  INPS: 26%</a:t>
            </a:r>
            <a:endParaRPr lang="en-US" sz="1000" dirty="0"/>
          </a:p>
          <a:p>
            <a:pPr marL="0" indent="0">
              <a:buNone/>
            </a:pPr>
            <a:r>
              <a:rPr lang="en-US" sz="1000" b="1" dirty="0">
                <a:solidFill>
                  <a:srgbClr val="1E293B"/>
                </a:solidFill>
                <a:latin typeface="Calibri" pitchFamily="34" charset="0"/>
                <a:ea typeface="Calibri" pitchFamily="34" charset="-122"/>
                <a:cs typeface="Calibri" pitchFamily="34" charset="-120"/>
              </a:rPr>
              <a:t>Carico effettivo: ~21% del fatturato</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Limite: €85.000</a:t>
            </a:r>
            <a:endParaRPr lang="en-US" sz="1000" dirty="0"/>
          </a:p>
          <a:p>
            <a:pPr marL="0" indent="0">
              <a:buNone/>
            </a:pPr>
            <a:endParaRPr lang="en-US" sz="1000" dirty="0"/>
          </a:p>
          <a:p>
            <a:pPr marL="0" indent="0">
              <a:buNone/>
            </a:pPr>
            <a:r>
              <a:rPr lang="en-US" sz="1000" i="1" dirty="0">
                <a:solidFill>
                  <a:srgbClr val="1E293B"/>
                </a:solidFill>
                <a:latin typeface="Calibri" pitchFamily="34" charset="0"/>
                <a:ea typeface="Calibri" pitchFamily="34" charset="-122"/>
                <a:cs typeface="Calibri" pitchFamily="34" charset="-120"/>
              </a:rPr>
              <a:t>Nota: costi hardware Box non deducibili nel forfettario. Aliquota effettiva Box ~31% vs licenza ~24%.</a:t>
            </a:r>
            <a:endParaRPr lang="en-US" sz="1000" dirty="0"/>
          </a:p>
        </p:txBody>
      </p:sp>
      <p:sp>
        <p:nvSpPr>
          <p:cNvPr id="8" name="Shape 6"/>
          <p:cNvSpPr/>
          <p:nvPr/>
        </p:nvSpPr>
        <p:spPr>
          <a:xfrm>
            <a:off x="4754880" y="1051560"/>
            <a:ext cx="3931920" cy="256032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it-IT"/>
          </a:p>
        </p:txBody>
      </p:sp>
      <p:sp>
        <p:nvSpPr>
          <p:cNvPr id="9" name="Text 7"/>
          <p:cNvSpPr/>
          <p:nvPr/>
        </p:nvSpPr>
        <p:spPr>
          <a:xfrm>
            <a:off x="4937760" y="1188720"/>
            <a:ext cx="3474720" cy="228600"/>
          </a:xfrm>
          <a:prstGeom prst="rect">
            <a:avLst/>
          </a:prstGeom>
          <a:noFill/>
          <a:ln/>
        </p:spPr>
        <p:txBody>
          <a:bodyPr wrap="square" rtlCol="0" anchor="ctr"/>
          <a:lstStyle/>
          <a:p>
            <a:pPr marL="0" indent="0">
              <a:buNone/>
            </a:pPr>
            <a:r>
              <a:rPr lang="en-US" sz="1000" b="1" kern="0" spc="200" dirty="0">
                <a:solidFill>
                  <a:srgbClr val="1E3A5F"/>
                </a:solidFill>
                <a:latin typeface="Calibri" pitchFamily="34" charset="0"/>
                <a:ea typeface="Calibri" pitchFamily="34" charset="-122"/>
                <a:cs typeface="Calibri" pitchFamily="34" charset="-120"/>
              </a:rPr>
              <a:t>ANNO 3+: ORDINARIO / SRL</a:t>
            </a:r>
            <a:endParaRPr lang="en-US" sz="1000" dirty="0"/>
          </a:p>
        </p:txBody>
      </p:sp>
      <p:sp>
        <p:nvSpPr>
          <p:cNvPr id="10" name="Text 8"/>
          <p:cNvSpPr/>
          <p:nvPr/>
        </p:nvSpPr>
        <p:spPr>
          <a:xfrm>
            <a:off x="4937760" y="1508760"/>
            <a:ext cx="3474720" cy="2011680"/>
          </a:xfrm>
          <a:prstGeom prst="rect">
            <a:avLst/>
          </a:prstGeom>
          <a:noFill/>
          <a:ln/>
        </p:spPr>
        <p:txBody>
          <a:bodyPr wrap="square" rtlCol="0" anchor="ctr"/>
          <a:lstStyle/>
          <a:p>
            <a:pPr marL="0" indent="0">
              <a:buNone/>
            </a:pPr>
            <a:r>
              <a:rPr lang="en-US" sz="1000" b="1" dirty="0">
                <a:solidFill>
                  <a:srgbClr val="1E293B"/>
                </a:solidFill>
                <a:latin typeface="Calibri" pitchFamily="34" charset="0"/>
                <a:ea typeface="Calibri" pitchFamily="34" charset="-122"/>
                <a:cs typeface="Calibri" pitchFamily="34" charset="-120"/>
              </a:rPr>
              <a:t>Transizione se fatturato &gt;€30-40K</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Costi deducibili</a:t>
            </a:r>
            <a:endParaRPr lang="en-US" sz="1000" dirty="0"/>
          </a:p>
          <a:p>
            <a:pPr marL="0" indent="0">
              <a:buNone/>
            </a:pPr>
            <a:r>
              <a:rPr lang="en-US" sz="1000" dirty="0">
                <a:solidFill>
                  <a:srgbClr val="1E293B"/>
                </a:solidFill>
                <a:latin typeface="Calibri" pitchFamily="34" charset="0"/>
                <a:ea typeface="Calibri" pitchFamily="34" charset="-122"/>
                <a:cs typeface="Calibri" pitchFamily="34" charset="-120"/>
              </a:rPr>
              <a:t>Aliquota effettiva: ~35%</a:t>
            </a:r>
            <a:endParaRPr lang="en-US" sz="1000" dirty="0"/>
          </a:p>
          <a:p>
            <a:pPr marL="0" indent="0">
              <a:buNone/>
            </a:pPr>
            <a:endParaRPr lang="en-US" sz="1000" dirty="0"/>
          </a:p>
          <a:p>
            <a:pPr marL="0" indent="0">
              <a:buNone/>
            </a:pPr>
            <a:r>
              <a:rPr lang="en-US" sz="1000" b="1" dirty="0">
                <a:solidFill>
                  <a:srgbClr val="1E293B"/>
                </a:solidFill>
                <a:latin typeface="Calibri" pitchFamily="34" charset="0"/>
                <a:ea typeface="Calibri" pitchFamily="34" charset="-122"/>
                <a:cs typeface="Calibri" pitchFamily="34" charset="-120"/>
              </a:rPr>
              <a:t>Vantaggi:</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Hardware deducibile</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Costi operativi deducibili</a:t>
            </a:r>
            <a:endParaRPr lang="en-US" sz="1000" dirty="0"/>
          </a:p>
          <a:p>
            <a:pPr marL="342900" indent="-342900">
              <a:buSzPct val="100000"/>
              <a:buChar char="•"/>
            </a:pPr>
            <a:r>
              <a:rPr lang="en-US" sz="1000" dirty="0">
                <a:solidFill>
                  <a:srgbClr val="1E293B"/>
                </a:solidFill>
                <a:latin typeface="Calibri" pitchFamily="34" charset="0"/>
                <a:ea typeface="Calibri" pitchFamily="34" charset="-122"/>
                <a:cs typeface="Calibri" pitchFamily="34" charset="-120"/>
              </a:rPr>
              <a:t>Struttura per collaboratori</a:t>
            </a:r>
            <a:endParaRPr lang="en-US" sz="1000" dirty="0"/>
          </a:p>
        </p:txBody>
      </p:sp>
      <p:sp>
        <p:nvSpPr>
          <p:cNvPr id="11" name="Text 9"/>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52 / 56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A8</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Glossario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4130040"/>
        </p:xfrm>
        <a:graphic>
          <a:graphicData uri="http://schemas.openxmlformats.org/drawingml/2006/table">
            <a:tbl>
              <a:tblPr/>
              <a:tblGrid>
                <a:gridCol w="18288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tblGrid>
              <a:tr h="219456">
                <a:tc>
                  <a:txBody>
                    <a:bodyPr/>
                    <a:lstStyle/>
                    <a:p>
                      <a:pPr marL="0" indent="0">
                        <a:buNone/>
                      </a:pPr>
                      <a:r>
                        <a:rPr lang="en-US" sz="1000" b="1" dirty="0">
                          <a:solidFill>
                            <a:srgbClr val="FFFFFF"/>
                          </a:solidFill>
                        </a:rPr>
                        <a:t>Termine</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000" b="1" dirty="0">
                          <a:solidFill>
                            <a:srgbClr val="FFFFFF"/>
                          </a:solidFill>
                        </a:rPr>
                        <a:t>Significato</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ATECO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Classificazione attività economiche italiane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Box</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Dispositivo dedicato basato su Raspberry Pi 5</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CONI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Comitato Olimpico Nazionale Italiano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CREA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Ente tabelle nutrizionali ufficiali italiane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Cliff</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Periodo minimo prima che l'equity maturi (12 mesi)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EBITDA</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Utile prima di interessi, tasse e ammortamenti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Forfettario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Regime fiscale agevolato per P.IVA sotto €85K</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LARN</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Livelli di Assunzione Riferimento Nutrienti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08"/>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NPS</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Net Promoter Score (-100/+100)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POC</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Proof of Concept — test con 10 utenti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10"/>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PT Evoluto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Categoria: trainer con scienza + dati + strumenti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Revenue share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 ricavi condivisa con il partner</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12"/>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Safety Engine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Motore 47 condizioni cliniche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SaaS</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Software as a Service (abbonamento + cloud)</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14"/>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Tailscale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Connessione sicura per accesso remoto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Vesting</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Maturazione progressiva dell'equity</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extLst>
                  <a:ext uri="{0D108BD9-81ED-4DB2-BD59-A6C34878D82A}">
                    <a16:rowId xmlns:a16="http://schemas.microsoft.com/office/drawing/2014/main" val="10016"/>
                  </a:ext>
                </a:extLst>
              </a:tr>
              <a:tr h="219456">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WTP</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Willingness to Pay</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6" name="Text 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53 / 56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 GRAFICI</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Fatturato triennale — 3 scenari</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5" name="Chart 0"/>
          <p:cNvGraphicFramePr/>
          <p:nvPr/>
        </p:nvGraphicFramePr>
        <p:xfrm>
          <a:off x="457200" y="1097280"/>
          <a:ext cx="82296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54 / 56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457200" y="228600"/>
            <a:ext cx="3657600" cy="274320"/>
          </a:xfrm>
          <a:prstGeom prst="rect">
            <a:avLst/>
          </a:prstGeom>
          <a:noFill/>
          <a:ln/>
        </p:spPr>
        <p:txBody>
          <a:bodyPr wrap="square" rtlCol="0" anchor="ctr"/>
          <a:lstStyle/>
          <a:p>
            <a:pPr marL="0" indent="0">
              <a:buNone/>
            </a:pPr>
            <a:r>
              <a:rPr lang="en-US" sz="800" b="1" kern="0" spc="300" dirty="0">
                <a:solidFill>
                  <a:srgbClr val="0D9488"/>
                </a:solidFill>
                <a:latin typeface="Calibri" pitchFamily="34" charset="0"/>
                <a:ea typeface="Calibri" pitchFamily="34" charset="-122"/>
                <a:cs typeface="Calibri" pitchFamily="34" charset="-120"/>
              </a:rPr>
              <a:t>APPENDICE — GRAFICI</a:t>
            </a:r>
            <a:endParaRPr lang="en-US" sz="800" dirty="0"/>
          </a:p>
        </p:txBody>
      </p:sp>
      <p:sp>
        <p:nvSpPr>
          <p:cNvPr id="3" name="Text 1"/>
          <p:cNvSpPr/>
          <p:nvPr/>
        </p:nvSpPr>
        <p:spPr>
          <a:xfrm>
            <a:off x="457200" y="320040"/>
            <a:ext cx="8229600" cy="50292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Netto founder triennale — confronto</a:t>
            </a:r>
            <a:endParaRPr lang="en-US" sz="2800" dirty="0"/>
          </a:p>
        </p:txBody>
      </p:sp>
      <p:sp>
        <p:nvSpPr>
          <p:cNvPr id="4" name="Shape 2"/>
          <p:cNvSpPr/>
          <p:nvPr/>
        </p:nvSpPr>
        <p:spPr>
          <a:xfrm>
            <a:off x="457200" y="868680"/>
            <a:ext cx="1097280" cy="36576"/>
          </a:xfrm>
          <a:prstGeom prst="rect">
            <a:avLst/>
          </a:prstGeom>
          <a:solidFill>
            <a:srgbClr val="0D9488"/>
          </a:solidFill>
          <a:ln/>
        </p:spPr>
        <p:txBody>
          <a:bodyPr/>
          <a:lstStyle/>
          <a:p>
            <a:endParaRPr lang="it-IT"/>
          </a:p>
        </p:txBody>
      </p:sp>
      <p:graphicFrame>
        <p:nvGraphicFramePr>
          <p:cNvPr id="5" name="Chart 0"/>
          <p:cNvGraphicFramePr/>
          <p:nvPr/>
        </p:nvGraphicFramePr>
        <p:xfrm>
          <a:off x="457200" y="1097280"/>
          <a:ext cx="82296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55 / 56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it-IT"/>
          </a:p>
        </p:txBody>
      </p:sp>
      <p:sp>
        <p:nvSpPr>
          <p:cNvPr id="3" name="Shape 1"/>
          <p:cNvSpPr/>
          <p:nvPr/>
        </p:nvSpPr>
        <p:spPr>
          <a:xfrm>
            <a:off x="0" y="5088636"/>
            <a:ext cx="9144000" cy="54864"/>
          </a:xfrm>
          <a:prstGeom prst="rect">
            <a:avLst/>
          </a:prstGeom>
          <a:solidFill>
            <a:srgbClr val="0D9488"/>
          </a:solidFill>
          <a:ln/>
        </p:spPr>
        <p:txBody>
          <a:bodyPr/>
          <a:lstStyle/>
          <a:p>
            <a:endParaRPr lang="it-IT"/>
          </a:p>
        </p:txBody>
      </p:sp>
      <p:sp>
        <p:nvSpPr>
          <p:cNvPr id="4" name="Text 2"/>
          <p:cNvSpPr/>
          <p:nvPr/>
        </p:nvSpPr>
        <p:spPr>
          <a:xfrm>
            <a:off x="457200" y="1097280"/>
            <a:ext cx="8229600" cy="731520"/>
          </a:xfrm>
          <a:prstGeom prst="rect">
            <a:avLst/>
          </a:prstGeom>
          <a:noFill/>
          <a:ln/>
        </p:spPr>
        <p:txBody>
          <a:bodyPr wrap="square" lIns="0" tIns="0" rIns="0" bIns="0"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FitManager Studio+</a:t>
            </a:r>
            <a:endParaRPr lang="en-US" sz="4000" dirty="0"/>
          </a:p>
        </p:txBody>
      </p:sp>
      <p:sp>
        <p:nvSpPr>
          <p:cNvPr id="5" name="Text 3"/>
          <p:cNvSpPr/>
          <p:nvPr/>
        </p:nvSpPr>
        <p:spPr>
          <a:xfrm>
            <a:off x="457200" y="1920240"/>
            <a:ext cx="8229600" cy="457200"/>
          </a:xfrm>
          <a:prstGeom prst="rect">
            <a:avLst/>
          </a:prstGeom>
          <a:noFill/>
          <a:ln/>
        </p:spPr>
        <p:txBody>
          <a:bodyPr wrap="square" rtlCol="0" anchor="ctr"/>
          <a:lstStyle/>
          <a:p>
            <a:pPr marL="0" indent="0" algn="ctr">
              <a:buNone/>
            </a:pPr>
            <a:r>
              <a:rPr lang="en-US" sz="1600" i="1" dirty="0">
                <a:solidFill>
                  <a:srgbClr val="14B8A6"/>
                </a:solidFill>
                <a:latin typeface="Calibri" pitchFamily="34" charset="0"/>
                <a:ea typeface="Calibri" pitchFamily="34" charset="-122"/>
                <a:cs typeface="Calibri" pitchFamily="34" charset="-120"/>
              </a:rPr>
              <a:t>Il sistema completo per il Personal Trainer Evoluto</a:t>
            </a:r>
            <a:endParaRPr lang="en-US" sz="1600" dirty="0"/>
          </a:p>
        </p:txBody>
      </p:sp>
      <p:sp>
        <p:nvSpPr>
          <p:cNvPr id="6" name="Shape 4"/>
          <p:cNvSpPr/>
          <p:nvPr/>
        </p:nvSpPr>
        <p:spPr>
          <a:xfrm>
            <a:off x="3200400" y="2560320"/>
            <a:ext cx="2743200" cy="36576"/>
          </a:xfrm>
          <a:prstGeom prst="rect">
            <a:avLst/>
          </a:prstGeom>
          <a:solidFill>
            <a:srgbClr val="0D9488"/>
          </a:solidFill>
          <a:ln/>
        </p:spPr>
        <p:txBody>
          <a:bodyPr/>
          <a:lstStyle/>
          <a:p>
            <a:endParaRPr lang="it-IT"/>
          </a:p>
        </p:txBody>
      </p:sp>
      <p:sp>
        <p:nvSpPr>
          <p:cNvPr id="7" name="Text 5"/>
          <p:cNvSpPr/>
          <p:nvPr/>
        </p:nvSpPr>
        <p:spPr>
          <a:xfrm>
            <a:off x="457200" y="2926080"/>
            <a:ext cx="8229600" cy="3657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Giacomo Verardo</a:t>
            </a:r>
            <a:endParaRPr lang="en-US" sz="1600" dirty="0"/>
          </a:p>
        </p:txBody>
      </p:sp>
      <p:sp>
        <p:nvSpPr>
          <p:cNvPr id="8" name="Text 6"/>
          <p:cNvSpPr/>
          <p:nvPr/>
        </p:nvSpPr>
        <p:spPr>
          <a:xfrm>
            <a:off x="457200" y="3383280"/>
            <a:ext cx="8229600" cy="548640"/>
          </a:xfrm>
          <a:prstGeom prst="rect">
            <a:avLst/>
          </a:prstGeom>
          <a:noFill/>
          <a:ln/>
        </p:spPr>
        <p:txBody>
          <a:bodyPr wrap="square" rtlCol="0" anchor="ctr"/>
          <a:lstStyle/>
          <a:p>
            <a:pPr marL="0" indent="0" algn="ctr">
              <a:buNone/>
            </a:pPr>
            <a:r>
              <a:rPr lang="en-US" sz="1200" dirty="0">
                <a:solidFill>
                  <a:srgbClr val="94A3B8"/>
                </a:solidFill>
                <a:latin typeface="Calibri" pitchFamily="34" charset="0"/>
                <a:ea typeface="Calibri" pitchFamily="34" charset="-122"/>
                <a:cs typeface="Calibri" pitchFamily="34" charset="-120"/>
              </a:rPr>
              <a:t>Business Plan v4.3 — 27 marzo 2026</a:t>
            </a:r>
            <a:endParaRPr lang="en-US" sz="1200" dirty="0"/>
          </a:p>
          <a:p>
            <a:pPr marL="0" indent="0" algn="ctr">
              <a:buNone/>
            </a:pPr>
            <a:r>
              <a:rPr lang="en-US" sz="1200" dirty="0">
                <a:solidFill>
                  <a:srgbClr val="94A3B8"/>
                </a:solidFill>
                <a:latin typeface="Calibri" pitchFamily="34" charset="0"/>
                <a:ea typeface="Calibri" pitchFamily="34" charset="-122"/>
                <a:cs typeface="Calibri" pitchFamily="34" charset="-120"/>
              </a:rPr>
              <a:t>Confidenziale</a:t>
            </a:r>
            <a:endParaRPr lang="en-US" sz="1200" dirty="0"/>
          </a:p>
        </p:txBody>
      </p:sp>
      <p:sp>
        <p:nvSpPr>
          <p:cNvPr id="9" name="Text 7"/>
          <p:cNvSpPr/>
          <p:nvPr/>
        </p:nvSpPr>
        <p:spPr>
          <a:xfrm>
            <a:off x="914400" y="4023360"/>
            <a:ext cx="7315200" cy="731520"/>
          </a:xfrm>
          <a:prstGeom prst="rect">
            <a:avLst/>
          </a:prstGeom>
          <a:noFill/>
          <a:ln/>
        </p:spPr>
        <p:txBody>
          <a:bodyPr wrap="square" rtlCol="0" anchor="ctr"/>
          <a:lstStyle/>
          <a:p>
            <a:pPr marL="0" indent="0" algn="ctr">
              <a:buNone/>
            </a:pPr>
            <a:r>
              <a:rPr lang="en-US" sz="1300" i="1" dirty="0">
                <a:solidFill>
                  <a:srgbClr val="99F6E4"/>
                </a:solidFill>
                <a:latin typeface="Calibri" pitchFamily="34" charset="0"/>
                <a:ea typeface="Calibri" pitchFamily="34" charset="-122"/>
                <a:cs typeface="Calibri" pitchFamily="34" charset="-120"/>
              </a:rPr>
              <a:t>Il prodotto è completo. La prima utilizzatrice reale lo usa ogni giorno.</a:t>
            </a:r>
            <a:endParaRPr lang="en-US" sz="1300" dirty="0"/>
          </a:p>
          <a:p>
            <a:pPr marL="0" indent="0" algn="ctr">
              <a:buNone/>
            </a:pPr>
            <a:r>
              <a:rPr lang="en-US" sz="1300" i="1" dirty="0">
                <a:solidFill>
                  <a:srgbClr val="99F6E4"/>
                </a:solidFill>
                <a:latin typeface="Calibri" pitchFamily="34" charset="0"/>
                <a:ea typeface="Calibri" pitchFamily="34" charset="-122"/>
                <a:cs typeface="Calibri" pitchFamily="34" charset="-120"/>
              </a:rPr>
              <a:t>Cerchiamo un partner per accelerare — il business parte anche senza.</a:t>
            </a:r>
            <a:endParaRPr lang="en-US" sz="1300" dirty="0"/>
          </a:p>
        </p:txBody>
      </p:sp>
      <p:sp>
        <p:nvSpPr>
          <p:cNvPr id="10" name="Text 8"/>
          <p:cNvSpPr/>
          <p:nvPr/>
        </p:nvSpPr>
        <p:spPr>
          <a:xfrm>
            <a:off x="7772400" y="4754880"/>
            <a:ext cx="109728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56 / 56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5659</Words>
  <Application>Microsoft Office PowerPoint</Application>
  <PresentationFormat>Presentazione su schermo (16:9)</PresentationFormat>
  <Paragraphs>1280</Paragraphs>
  <Slides>55</Slides>
  <Notes>54</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55</vt:i4>
      </vt:variant>
    </vt:vector>
  </HeadingPairs>
  <TitlesOfParts>
    <vt:vector size="59" baseType="lpstr">
      <vt:lpstr>Arial</vt:lpstr>
      <vt:lpstr>Calibri</vt:lpstr>
      <vt:lpstr>Georgia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FitManager Studio+ — Business Plan v4.2</dc:title>
  <dc:subject>PptxGenJS Presentation</dc:subject>
  <dc:creator>Giacomo Verardo</dc:creator>
  <cp:lastModifiedBy>Giacomo Verardo</cp:lastModifiedBy>
  <cp:revision>27</cp:revision>
  <dcterms:created xsi:type="dcterms:W3CDTF">2026-03-27T00:50:24Z</dcterms:created>
  <dcterms:modified xsi:type="dcterms:W3CDTF">2026-03-27T13:54:59Z</dcterms:modified>
</cp:coreProperties>
</file>