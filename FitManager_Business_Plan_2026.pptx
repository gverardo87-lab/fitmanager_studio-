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charts/chart1.xml" ContentType="application/vnd.openxmlformats-officedocument.drawingml.chart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charts/chart2.xml" ContentType="application/vnd.openxmlformats-officedocument.drawingml.chart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notesMasterIdLst>
    <p:notesMasterId r:id="rId6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Conservativo</c:v>
                </c:pt>
              </c:strCache>
            </c:strRef>
          </c:tx>
          <c:spPr>
            <a:solidFill>
              <a:srgbClr val="F4A2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10715</c:v>
                </c:pt>
                <c:pt idx="1">
                  <c:v>17086</c:v>
                </c:pt>
                <c:pt idx="2">
                  <c:v>27441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00B4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17150</c:v>
                </c:pt>
                <c:pt idx="1">
                  <c:v>29650</c:v>
                </c:pt>
                <c:pt idx="2">
                  <c:v>49650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Ottimistico</c:v>
                </c:pt>
              </c:strCache>
            </c:strRef>
          </c:tx>
          <c:spPr>
            <a:solidFill>
              <a:srgbClr val="06D6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27973</c:v>
                </c:pt>
                <c:pt idx="1">
                  <c:v>49140</c:v>
                </c:pt>
                <c:pt idx="2">
                  <c:v>81500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0AEC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D3E5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0AEC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1A233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Senza partner</c:v>
                </c:pt>
              </c:strCache>
            </c:strRef>
          </c:tx>
          <c:spPr>
            <a:solidFill>
              <a:srgbClr val="F4A2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-112</c:v>
                </c:pt>
                <c:pt idx="1">
                  <c:v>2165</c:v>
                </c:pt>
                <c:pt idx="2">
                  <c:v>3600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 partner (base)</c:v>
                </c:pt>
              </c:strCache>
            </c:strRef>
          </c:tx>
          <c:spPr>
            <a:solidFill>
              <a:srgbClr val="00B4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1080</c:v>
                </c:pt>
                <c:pt idx="1">
                  <c:v>1935</c:v>
                </c:pt>
                <c:pt idx="2">
                  <c:v>7585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 partner (ottim.)</c:v>
                </c:pt>
              </c:strCache>
            </c:strRef>
          </c:tx>
          <c:spPr>
            <a:solidFill>
              <a:srgbClr val="06D6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4765</c:v>
                </c:pt>
                <c:pt idx="1">
                  <c:v>8790</c:v>
                </c:pt>
                <c:pt idx="2">
                  <c:v>13107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0AEC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D3E5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0AEC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1A233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image" Target="../media/image-5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0"/>
            <a:ext cx="2286000" cy="10972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Shape 1"/>
          <p:cNvSpPr/>
          <p:nvPr/>
        </p:nvSpPr>
        <p:spPr>
          <a:xfrm>
            <a:off x="9034272" y="0"/>
            <a:ext cx="109728" cy="22860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29200"/>
            <a:ext cx="2286000" cy="10972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2852928"/>
            <a:ext cx="109728" cy="22860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8229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37160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FitManager</a:t>
            </a:r>
            <a:pPr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pPr indent="0" marL="0">
              <a:buNone/>
            </a:pPr>
            <a:r>
              <a:rPr lang="en-US" sz="42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Studio+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sistema completo per il Personal Trainer Evoluto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2971800"/>
            <a:ext cx="3200400" cy="2743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200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 4.3 — 27 marzo 2026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349300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Giacomo Verardo  |  Confidenziale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Guida alla lettura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leggere questo documento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58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005840"/>
            <a:ext cx="8046720" cy="65836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05840"/>
            <a:ext cx="54864" cy="65836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06070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di verità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133502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i numeri qui. Ogni altro documento (Strategy Plan, Financial Model, Partner Deck) deriva da questo.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1755648"/>
            <a:ext cx="8046720" cy="65836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755648"/>
            <a:ext cx="54864" cy="658368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181051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 tracciabili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20848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numero tracciabile a un'assunzione dichiarata (Appendice A4). Zero magie, zero gonfiature.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505456"/>
            <a:ext cx="8046720" cy="65836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505456"/>
            <a:ext cx="54864" cy="658368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256032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Bottom-up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28346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Proiezioni costruite dalla capacità reale di generare vendite, non da TAM top-down.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255264"/>
            <a:ext cx="8046720" cy="65836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3255264"/>
            <a:ext cx="54864" cy="658368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31012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scenari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77240" y="358444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Conservativo, base, ottimistico — la gamma completa. Non solo il caso felice.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005072"/>
            <a:ext cx="8046720" cy="65836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4005072"/>
            <a:ext cx="54864" cy="658368"/>
          </a:xfrm>
          <a:prstGeom prst="rect">
            <a:avLst/>
          </a:prstGeom>
          <a:solidFill>
            <a:srgbClr val="EF476F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405993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configurazioni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77240" y="433425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 senza Industry Partner — il business sta in piedi in entrambi i casi.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463040" cy="29260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58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280160"/>
            <a:ext cx="8046720" cy="914400"/>
          </a:xfrm>
          <a:prstGeom prst="rect">
            <a:avLst/>
          </a:prstGeom>
          <a:solidFill>
            <a:srgbClr val="232F4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353312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è un sistema completo — software e dispositivo dedicato — che permette al personal trainer di gestire clienti, schede, pagamenti e anamnesi, con la scienza integrata e i dati locali. Si compra una volta. Non si paga ogni mese.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331720"/>
            <a:ext cx="3886200" cy="96012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2331720"/>
            <a:ext cx="3886200" cy="457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4231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Prodotto completo v1.0.5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" y="2807208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uso quotidiano da una chinesiologia di Genova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9160" y="2331720"/>
            <a:ext cx="3886200" cy="96012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9160" y="2331720"/>
            <a:ext cx="3886200" cy="45720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24231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D6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100K+ professionisti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46320" y="2807208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trainer e chinesiologi in Italia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429000"/>
            <a:ext cx="3886200" cy="96012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3429000"/>
            <a:ext cx="3886200" cy="4572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5204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1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POC strutturata 10/90gg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5800" y="3904488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Fondatori selezionati, validazione 90 giorni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09160" y="3429000"/>
            <a:ext cx="3886200" cy="96012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3429000"/>
            <a:ext cx="3886200" cy="4572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23" name="Text 21"/>
          <p:cNvSpPr/>
          <p:nvPr/>
        </p:nvSpPr>
        <p:spPr>
          <a:xfrm>
            <a:off x="4846320" y="35204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2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 debito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846320" y="3904488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Bootstrap. Nessun capitale bruciato. Prodotto già vendibile.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4480560"/>
            <a:ext cx="8046720" cy="384048"/>
          </a:xfrm>
          <a:prstGeom prst="rect">
            <a:avLst/>
          </a:prstGeom>
          <a:solidFill>
            <a:srgbClr val="1E2D45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31520" y="452628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compra una volta, non si paga ogni mese. Stiamo cercando un Industry Partner per accelerare il go-to-market.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17320"/>
            <a:ext cx="1828800" cy="3657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problema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personal trainer in Italia conosce questa storia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58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storia di Marco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storia vera — con variazioni di nome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58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8046720" cy="2377440"/>
          </a:xfrm>
          <a:prstGeom prst="rect">
            <a:avLst/>
          </a:prstGeom>
          <a:solidFill>
            <a:srgbClr val="232F4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51560"/>
            <a:ext cx="54864" cy="2377440"/>
          </a:xfrm>
          <a:prstGeom prst="rect">
            <a:avLst/>
          </a:prstGeom>
          <a:solidFill>
            <a:srgbClr val="718096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170432"/>
            <a:ext cx="7589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“Marco ha 32 clienti. Gestisce le anamnesi su fogli Word, le schede su PDF, i pagamenti su un foglio Excel. Ogni lunedì perde due ore a ricostruire chi ha pagato e chi no. Un mese fa ha dimenticato che un cliente aveva un’ernia lombare e gli ha assegnato stacchi da terra. Il cliente non è tornato.”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611880"/>
            <a:ext cx="8046720" cy="685800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3611880"/>
            <a:ext cx="8046720" cy="45720"/>
          </a:xfrm>
          <a:prstGeom prst="rect">
            <a:avLst/>
          </a:prstGeom>
          <a:solidFill>
            <a:srgbClr val="EF476F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703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47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Marco non è un caso isolato. È la norma.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6 problemi strutturali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il professionista fitness fatica a scalare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58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097280"/>
            <a:ext cx="2651760" cy="118872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97280"/>
            <a:ext cx="2651760" cy="45720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225296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97280" y="118872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Ore perse in admin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85800" y="1600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 ore/settimana in lavoro che non genera valore diretto.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383280" y="1097280"/>
            <a:ext cx="2651760" cy="118872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1097280"/>
            <a:ext cx="2651760" cy="45720"/>
          </a:xfrm>
          <a:prstGeom prst="rect">
            <a:avLst/>
          </a:prstGeom>
          <a:solidFill>
            <a:srgbClr val="EF476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225296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931920" y="118872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Tetto ai clienti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3520440" y="1600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Oltre 25-30 clienti il sistema informale crolla.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217920" y="1097280"/>
            <a:ext cx="2651760" cy="118872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17920" y="1097280"/>
            <a:ext cx="2651760" cy="45720"/>
          </a:xfrm>
          <a:prstGeom prst="rect">
            <a:avLst/>
          </a:prstGeom>
          <a:solidFill>
            <a:srgbClr val="FFD166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25296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766560" y="118872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Nessuna visione unificata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355080" y="1600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Anamnesi, schede, pagamenti sparsi in strumenti diversi.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548640" y="2450592"/>
            <a:ext cx="2651760" cy="118872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548640" y="2450592"/>
            <a:ext cx="2651760" cy="45720"/>
          </a:xfrm>
          <a:prstGeom prst="rect">
            <a:avLst/>
          </a:prstGeom>
          <a:solidFill>
            <a:srgbClr val="06D6A0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578608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097280" y="254203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Contabilità dispersa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685800" y="295351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dimenticate, nessun report finanziario, zero previsioni.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3383280" y="2450592"/>
            <a:ext cx="2651760" cy="118872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3383280" y="2450592"/>
            <a:ext cx="2651760" cy="45720"/>
          </a:xfrm>
          <a:prstGeom prst="rect">
            <a:avLst/>
          </a:prstGeom>
          <a:solidFill>
            <a:srgbClr val="F4A261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2578608"/>
            <a:ext cx="329184" cy="329184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3931920" y="254203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Rischio errori clinici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3520440" y="295351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Condizioni patologiche dimenticate o ignorate nelle schede.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6217920" y="2450592"/>
            <a:ext cx="2651760" cy="118872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6217920" y="2450592"/>
            <a:ext cx="2651760" cy="45720"/>
          </a:xfrm>
          <a:prstGeom prst="rect">
            <a:avLst/>
          </a:prstGeom>
          <a:solidFill>
            <a:srgbClr val="718096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2578608"/>
            <a:ext cx="329184" cy="32918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6766560" y="254203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Impossibilità di differenziarsi</a:t>
            </a:r>
            <a:endParaRPr lang="en-US" sz="1200" dirty="0"/>
          </a:p>
        </p:txBody>
      </p:sp>
      <p:sp>
        <p:nvSpPr>
          <p:cNvPr id="35" name="Text 27"/>
          <p:cNvSpPr/>
          <p:nvPr/>
        </p:nvSpPr>
        <p:spPr>
          <a:xfrm>
            <a:off x="6355080" y="295351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Senza dati strutturati, tutti offrono lo stesso servizio.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competitor vero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è un altro software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58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8046720" cy="1371600"/>
          </a:xfrm>
          <a:prstGeom prst="rect">
            <a:avLst/>
          </a:prstGeom>
          <a:solidFill>
            <a:srgbClr val="232F4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51560"/>
            <a:ext cx="54864" cy="1371600"/>
          </a:xfrm>
          <a:prstGeom prst="rect">
            <a:avLst/>
          </a:prstGeom>
          <a:solidFill>
            <a:srgbClr val="718096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14300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“Non è un altro software. È l’abitudine.”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77240" y="1810512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trainer usa WhatsApp ed Excel perché ‘ha sempre fatto così’ e perché nessuno gli ha dimostrato che esiste un’alternativa migliore — senza costare un abbonamento mensile.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868680"/>
          </a:xfrm>
          <a:prstGeom prst="rect">
            <a:avLst/>
          </a:prstGeom>
          <a:solidFill>
            <a:srgbClr val="1E2D45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651760"/>
            <a:ext cx="8046720" cy="45720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724912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D6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soluzione giusta non sostituisce WhatsApp — lo potenzia.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31520" y="3657600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funzionalità WhatsApp semi-automatico è il punto di conversione emotiva nella demo.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3931920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primo cliente non deve “cambiare tutto” — parte dai contratti o dai pagamenti.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4206240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cambio di abitudine è graduale e guidato — non imposto.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17320"/>
            <a:ext cx="1828800" cy="3657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soluzione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sistema completo: software + dispositivo dedicato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compra una volta, non si paga ogni mese.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58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2194560" cy="29260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3 — IL SOFTWARE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software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CRM operativo costruito per la professione fitness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58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115568"/>
            <a:ext cx="2633472" cy="1170432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1115568"/>
            <a:ext cx="2633472" cy="45720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243584"/>
            <a:ext cx="310896" cy="31089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097280" y="1207008"/>
            <a:ext cx="1947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 clienti e contratti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85800" y="1609344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Anagrafica, contratti, scadenze, storico completo. Profilo cliente operativo.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346704" y="1115568"/>
            <a:ext cx="2633472" cy="1170432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346704" y="1115568"/>
            <a:ext cx="2633472" cy="45720"/>
          </a:xfrm>
          <a:prstGeom prst="rect">
            <a:avLst/>
          </a:prstGeom>
          <a:solidFill>
            <a:srgbClr val="06D6A0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3864" y="1243584"/>
            <a:ext cx="310896" cy="31089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895344" y="1207008"/>
            <a:ext cx="1947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Schede di allenamento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3483864" y="1609344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esercizi con progressioni, regressioni e varianti. Builder drag-and-drop.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144768" y="1115568"/>
            <a:ext cx="2633472" cy="1170432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144768" y="1115568"/>
            <a:ext cx="2633472" cy="45720"/>
          </a:xfrm>
          <a:prstGeom prst="rect">
            <a:avLst/>
          </a:prstGeom>
          <a:solidFill>
            <a:srgbClr val="FFD166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1243584"/>
            <a:ext cx="310896" cy="31089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693408" y="1207008"/>
            <a:ext cx="1947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Protezione errori clinici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281928" y="1609344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Engine: 47 condizioni, 80 regole automatiche. Alert in tempo reale.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548640" y="2432304"/>
            <a:ext cx="2633472" cy="1170432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548640" y="2432304"/>
            <a:ext cx="2633472" cy="45720"/>
          </a:xfrm>
          <a:prstGeom prst="rect">
            <a:avLst/>
          </a:prstGeom>
          <a:solidFill>
            <a:srgbClr val="F4A261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56032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097280" y="2523744"/>
            <a:ext cx="1947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Nutrizione italiana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685800" y="2926080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880 alimenti CREA 2019. Piani alimentari LARN settimanali con scoring 3 assi.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3346704" y="2432304"/>
            <a:ext cx="2633472" cy="1170432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3346704" y="2432304"/>
            <a:ext cx="2633472" cy="45720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3864" y="2560320"/>
            <a:ext cx="310896" cy="310896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3895344" y="2523744"/>
            <a:ext cx="1947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Anamnesi strutturata</a:t>
            </a:r>
            <a:endParaRPr lang="en-US" sz="1150" dirty="0"/>
          </a:p>
        </p:txBody>
      </p:sp>
      <p:sp>
        <p:nvSpPr>
          <p:cNvPr id="32" name="Text 25"/>
          <p:cNvSpPr/>
          <p:nvPr/>
        </p:nvSpPr>
        <p:spPr>
          <a:xfrm>
            <a:off x="3483864" y="2926080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passaggi guidati. Compilazione dal telefono del cliente — zero app.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6144768" y="2432304"/>
            <a:ext cx="2633472" cy="1170432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6144768" y="2432304"/>
            <a:ext cx="2633472" cy="45720"/>
          </a:xfrm>
          <a:prstGeom prst="rect">
            <a:avLst/>
          </a:prstGeom>
          <a:solidFill>
            <a:srgbClr val="EF476F"/>
          </a:solidFill>
          <a:ln/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1928" y="2560320"/>
            <a:ext cx="310896" cy="310896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6693408" y="2523744"/>
            <a:ext cx="1947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Pagamenti e cassa</a:t>
            </a:r>
            <a:endParaRPr lang="en-US" sz="1150" dirty="0"/>
          </a:p>
        </p:txBody>
      </p:sp>
      <p:sp>
        <p:nvSpPr>
          <p:cNvPr id="37" name="Text 29"/>
          <p:cNvSpPr/>
          <p:nvPr/>
        </p:nvSpPr>
        <p:spPr>
          <a:xfrm>
            <a:off x="6281928" y="2926080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pagamenti, stato finanziario real-time. Break-even sempre sotto controllo.</a:t>
            </a:r>
            <a:endParaRPr lang="en-US" sz="950" dirty="0"/>
          </a:p>
        </p:txBody>
      </p:sp>
      <p:sp>
        <p:nvSpPr>
          <p:cNvPr id="38" name="Text 30"/>
          <p:cNvSpPr/>
          <p:nvPr/>
        </p:nvSpPr>
        <p:spPr>
          <a:xfrm>
            <a:off x="548640" y="455371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database è progettato per crescere con il contributo di professionisti del settore.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2194560" cy="29260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3 — IL SOFTWARE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Comunicazione integrata con i clienti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58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115568"/>
            <a:ext cx="8046720" cy="896112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115568"/>
            <a:ext cx="54864" cy="896112"/>
          </a:xfrm>
          <a:prstGeom prst="rect">
            <a:avLst/>
          </a:prstGeom>
          <a:solidFill>
            <a:srgbClr val="06D6A0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62456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80160" y="120700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semi-automatico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280160" y="1536192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template pre-compilati in italiano. Un click → WhatsApp si apre con il messaggio pronto. Fire-and-forget: ogni invio si logga automaticamente nel CRM.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48640" y="2121408"/>
            <a:ext cx="8046720" cy="896112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2121408"/>
            <a:ext cx="54864" cy="896112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68296"/>
            <a:ext cx="347472" cy="34747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280160" y="221284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automatiche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1280160" y="2542032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integrato. Conferme appuntamento, promemoria scadenze, invio schede PDF. Il trainer configura una volta sola.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48640" y="3127248"/>
            <a:ext cx="8046720" cy="896112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48640" y="3127248"/>
            <a:ext cx="54864" cy="896112"/>
          </a:xfrm>
          <a:prstGeom prst="rect">
            <a:avLst/>
          </a:prstGeom>
          <a:solidFill>
            <a:srgbClr val="FFD16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74136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280160" y="321868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Comunicazioni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280160" y="3547872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tab: Invia (rubrica filtrata + invio multiplo sequenziale con stepper) + Registro (timeline completa). Alert compleanni dedicato sopra la dashboard.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trainer non deve cambiare il modo in cui comunica con i clienti. Il sistema si adatta a lui.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2194560" cy="29260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3 — IL SOFTWARE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Portale Allenamento Clienti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cliente del trainer accede dal proprio telefono — nessuna app da scaricare.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58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170432"/>
            <a:ext cx="1984248" cy="25146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1170432"/>
            <a:ext cx="1984248" cy="45720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4732" y="1353312"/>
            <a:ext cx="512064" cy="51206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58368" y="1975104"/>
            <a:ext cx="1764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Sessione del giorno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58368" y="2468880"/>
            <a:ext cx="1764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esercizio con parametri prescritti, foto di partenza e fine movimento.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715768" y="1170432"/>
            <a:ext cx="1984248" cy="25146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715768" y="1170432"/>
            <a:ext cx="1984248" cy="45720"/>
          </a:xfrm>
          <a:prstGeom prst="rect">
            <a:avLst/>
          </a:prstGeom>
          <a:solidFill>
            <a:srgbClr val="06D6A0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1860" y="1353312"/>
            <a:ext cx="512064" cy="51206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825496" y="1975104"/>
            <a:ext cx="1764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Registrazione esecuzione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2825496" y="2468880"/>
            <a:ext cx="1764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Conferma il prescritto con un tap, modifica solo se ha fatto qualcosa di diverso.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4882896" y="1170432"/>
            <a:ext cx="1984248" cy="25146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882896" y="1170432"/>
            <a:ext cx="1984248" cy="45720"/>
          </a:xfrm>
          <a:prstGeom prst="rect">
            <a:avLst/>
          </a:prstGeom>
          <a:solidFill>
            <a:srgbClr val="EF476F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8988" y="1353312"/>
            <a:ext cx="512064" cy="51206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992624" y="1975104"/>
            <a:ext cx="1764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sessione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4992624" y="2468880"/>
            <a:ext cx="1764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Energia, soddisfazione, difficoltà percepita al termine della sessione.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7050024" y="1170432"/>
            <a:ext cx="1984248" cy="25146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7050024" y="1170432"/>
            <a:ext cx="1984248" cy="45720"/>
          </a:xfrm>
          <a:prstGeom prst="rect">
            <a:avLst/>
          </a:prstGeom>
          <a:solidFill>
            <a:srgbClr val="FFD166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6116" y="1353312"/>
            <a:ext cx="512064" cy="51206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159752" y="1975104"/>
            <a:ext cx="1764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app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7159752" y="2468880"/>
            <a:ext cx="1764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condiviso via WhatsApp. Si apre nel browser — nessuna installazione.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2194560" cy="29260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3 — IL SOFTWARE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Workout Intelligence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competitor al mondo offre questo livello di analisi.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58</a:t>
            </a:r>
            <a:endParaRPr lang="en-US" sz="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80467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1828800"/>
                <a:gridCol w="21031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Esercizio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Piano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Panca Piana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4×10 @60kg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3×8 @55kg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F4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−1s −2r −5kg 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Squat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4×8 @80kg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4×10 @80kg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0s +2r 0kg ↑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 Machine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3×12 @40kg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3×12 @40kg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linea =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48640" y="2651760"/>
            <a:ext cx="2606040" cy="173736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2651760"/>
            <a:ext cx="2606040" cy="457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274320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per sessione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85800" y="3182112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PT vede immediatamente l’aderenza al prescritto. Identifica trend di sotto-prestazione prima che diventino problemi.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360420" y="2651760"/>
            <a:ext cx="2606040" cy="173736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360420" y="2651760"/>
            <a:ext cx="2606040" cy="45720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15" name="Text 12"/>
          <p:cNvSpPr/>
          <p:nvPr/>
        </p:nvSpPr>
        <p:spPr>
          <a:xfrm>
            <a:off x="3497580" y="274320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Dose-Response per muscolo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497580" y="3182112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effettivo vs target MEV/MAV/MRV personalizzati. Verifica scientifica del carico ogni seduta.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172200" y="2651760"/>
            <a:ext cx="2606040" cy="173736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172200" y="2651760"/>
            <a:ext cx="2606040" cy="4572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9" name="Text 16"/>
          <p:cNvSpPr/>
          <p:nvPr/>
        </p:nvSpPr>
        <p:spPr>
          <a:xfrm>
            <a:off x="6309360" y="274320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Equilibrio biomeccanico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309360" y="3182112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rapporti scientifici calcolati: Push:Pull, Quad:Ham, Abd:Add, Ant:Post, Dom:NonDom.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2331720" cy="292608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3 — FITMANAGER BOX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FitManager Box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attacca alla corrente e al WiFi — fine.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58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143000"/>
            <a:ext cx="4754880" cy="32004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1143000"/>
            <a:ext cx="4754880" cy="4572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2344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Specifiche tecniche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1645920"/>
            <a:ext cx="4389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Raspberry Pi 5 4GB RAM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 card 64GB (OS + dati trainer)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WiFi + Ethernet + Tailscale VPN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Consumo: ~5W (€10/anno di corrente)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automatico su USB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 mobile via browser — nessuna app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577840" y="1143000"/>
            <a:ext cx="3017520" cy="1463040"/>
          </a:xfrm>
          <a:prstGeom prst="rect">
            <a:avLst/>
          </a:prstGeom>
          <a:solidFill>
            <a:srgbClr val="232F4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577840" y="1143000"/>
            <a:ext cx="3017520" cy="45720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14" name="Text 12"/>
          <p:cNvSpPr/>
          <p:nvPr/>
        </p:nvSpPr>
        <p:spPr>
          <a:xfrm>
            <a:off x="5742432" y="1234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unitaria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742432" y="16002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vivo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223760" y="16002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~€130-150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42432" y="18745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Prezzo al trainer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223760" y="18745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€449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742432" y="21488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Margine lordo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223760" y="21488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€299-319 (67-71%)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577840" y="2834640"/>
            <a:ext cx="3017520" cy="1508760"/>
          </a:xfrm>
          <a:prstGeom prst="rect">
            <a:avLst/>
          </a:prstGeom>
          <a:solidFill>
            <a:srgbClr val="232F4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577840" y="2834640"/>
            <a:ext cx="3017520" cy="4572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23" name="Text 21"/>
          <p:cNvSpPr/>
          <p:nvPr/>
        </p:nvSpPr>
        <p:spPr>
          <a:xfrm>
            <a:off x="5742432" y="29260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di valore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742432" y="3255264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piccolo dispositivo dedicato al lavoro del trainer. Sempre acceso. Sempre disponibile. I dati restano in palestra.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Stato del prodotto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prodotto è completo e funzionante (versione 1.0.5).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58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005840"/>
            <a:ext cx="8046720" cy="1417320"/>
          </a:xfrm>
          <a:prstGeom prst="rect">
            <a:avLst/>
          </a:prstGeom>
          <a:solidFill>
            <a:srgbClr val="232F4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05840"/>
            <a:ext cx="54864" cy="14173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078992"/>
            <a:ext cx="758952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prima utilizzatrice reale — una chinesiologia di Genova — lo usa quotidianamente. Le sue clienti ricevono schede professionali, compilano le anamnesi dal proprio telefono e registrano l’allenamento in tempo reale dal portale dedicato. Il sistema funziona. Non è un prototipo.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1536192" cy="13716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2606040"/>
            <a:ext cx="1536192" cy="457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743200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47.000+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Righe di codice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267712" y="2606040"/>
            <a:ext cx="1536192" cy="13716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67712" y="2606040"/>
            <a:ext cx="1536192" cy="45720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2359152" y="2743200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D6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395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2359152" y="3291840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automatici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986784" y="2606040"/>
            <a:ext cx="1536192" cy="13716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986784" y="2606040"/>
            <a:ext cx="1536192" cy="4572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9" name="Text 17"/>
          <p:cNvSpPr/>
          <p:nvPr/>
        </p:nvSpPr>
        <p:spPr>
          <a:xfrm>
            <a:off x="4078224" y="2743200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D1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500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078224" y="3291840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Esercizi con biomeccanica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705856" y="2606040"/>
            <a:ext cx="1536192" cy="13716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705856" y="2606040"/>
            <a:ext cx="1536192" cy="4572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23" name="Text 21"/>
          <p:cNvSpPr/>
          <p:nvPr/>
        </p:nvSpPr>
        <p:spPr>
          <a:xfrm>
            <a:off x="5797296" y="2743200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4A2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880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5797296" y="3291840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Alimenti CREA 2019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424928" y="2606040"/>
            <a:ext cx="1536192" cy="13716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424928" y="2606040"/>
            <a:ext cx="1536192" cy="45720"/>
          </a:xfrm>
          <a:prstGeom prst="rect">
            <a:avLst/>
          </a:prstGeom>
          <a:solidFill>
            <a:srgbClr val="EF476F"/>
          </a:solidFill>
          <a:ln/>
        </p:spPr>
      </p:sp>
      <p:sp>
        <p:nvSpPr>
          <p:cNvPr id="27" name="Text 25"/>
          <p:cNvSpPr/>
          <p:nvPr/>
        </p:nvSpPr>
        <p:spPr>
          <a:xfrm>
            <a:off x="7516368" y="2743200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F47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7516368" y="3291840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Motori scientifici integrati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17320"/>
            <a:ext cx="1828800" cy="3657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Cosa lo rende diverso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è un altro gestionale. È una categoria nuova.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58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Confronto con le alternative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mercato ha soluzioni parziali. FitManager le integra tutte.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58</a:t>
            </a:r>
            <a:endParaRPr lang="en-US" sz="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280160"/>
                <a:gridCol w="1280160"/>
                <a:gridCol w="1280160"/>
                <a:gridCol w="14630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Funzionalità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FitManager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Trainerize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MyPTHub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Excel+WA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 clienti completo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 Engine clinico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esercizi con biomeccanica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Nutrizione italiana CREA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Dati locali (no cloud)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Licenza perpetua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Portale cliente zero-app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Workout Intelligence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costo reale in 3 anni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abbonamento sembra più economico — fino a quando non si calcola.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58</a:t>
            </a:r>
            <a:endParaRPr lang="en-US" sz="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  <a:gridCol w="137160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Soluzione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 3 anni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FitManager Licenza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Trainerize Standard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€1.368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MyPTHub Pro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€1.800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 + Notion + WA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€360 (+tempo)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3017520"/>
            <a:ext cx="1353312" cy="34747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5"/>
          <p:cNvSpPr/>
          <p:nvPr/>
        </p:nvSpPr>
        <p:spPr>
          <a:xfrm>
            <a:off x="2011680" y="30175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78992" y="3017520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€407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3840480"/>
            <a:ext cx="4535424" cy="347472"/>
          </a:xfrm>
          <a:prstGeom prst="rect">
            <a:avLst/>
          </a:prstGeom>
          <a:solidFill>
            <a:srgbClr val="718096"/>
          </a:solidFill>
          <a:ln/>
        </p:spPr>
      </p:sp>
      <p:sp>
        <p:nvSpPr>
          <p:cNvPr id="11" name="Text 8"/>
          <p:cNvSpPr/>
          <p:nvPr/>
        </p:nvSpPr>
        <p:spPr>
          <a:xfrm>
            <a:off x="5193792" y="38404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Trainerize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261104" y="3840480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€1368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4663440"/>
            <a:ext cx="5971032" cy="347472"/>
          </a:xfrm>
          <a:prstGeom prst="rect">
            <a:avLst/>
          </a:prstGeom>
          <a:solidFill>
            <a:srgbClr val="718096"/>
          </a:solidFill>
          <a:ln/>
        </p:spPr>
      </p:sp>
      <p:sp>
        <p:nvSpPr>
          <p:cNvPr id="14" name="Text 11"/>
          <p:cNvSpPr/>
          <p:nvPr/>
        </p:nvSpPr>
        <p:spPr>
          <a:xfrm>
            <a:off x="6629400" y="466344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MyPTHub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696712" y="4663440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€1800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48640" y="461772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costa ~3,4× meno di Trainerize in 3 anni, con il doppio delle funzionalità e i dati in locale.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17320"/>
            <a:ext cx="1828800" cy="3657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mercato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mercato professionale in crescita, non ancora presidiato.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58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mercato italiano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Professionisti fitness a Partita IVA in Italia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58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2606040" cy="256032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234440"/>
            <a:ext cx="260604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4173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100.000+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85800" y="228600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professionisti fitness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6974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trainer, chinesiologi, istruttori P.IVA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60420" y="1234440"/>
            <a:ext cx="2606040" cy="256032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60420" y="1234440"/>
            <a:ext cx="2606040" cy="54864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3" name="Text 11"/>
          <p:cNvSpPr/>
          <p:nvPr/>
        </p:nvSpPr>
        <p:spPr>
          <a:xfrm>
            <a:off x="3497580" y="14173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D1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€3 miliardi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497580" y="228600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mercato fitness Italia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97580" y="26974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Fatturato annuo del settore (IHRSA 2024)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72200" y="1234440"/>
            <a:ext cx="2606040" cy="256032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72200" y="1234440"/>
            <a:ext cx="2606040" cy="54864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18" name="Text 16"/>
          <p:cNvSpPr/>
          <p:nvPr/>
        </p:nvSpPr>
        <p:spPr>
          <a:xfrm>
            <a:off x="6309360" y="14173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D6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+10%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309360" y="228600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annua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0" y="26974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post-pandemia consolidato. Settore anti-ciclico.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45262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Fonti: IHRSA Global Report 2024, CONI, Registro Professionisti Sportivi.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Segmento target e trend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sottoinsieme ad alta propensità all’acquisto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58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3840480" cy="333756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51560"/>
            <a:ext cx="3840480" cy="457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16128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primario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1572768"/>
            <a:ext cx="3474720" cy="777240"/>
          </a:xfrm>
          <a:prstGeom prst="rect">
            <a:avLst/>
          </a:prstGeom>
          <a:solidFill>
            <a:srgbClr val="1E2D45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16276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10.000 – 15.000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31520" y="202996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professionisti nel segmento target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2450592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Già gestisce 10+ clienti attivi (P.IVA)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sperimentato Excel o app parziali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Percepisce il carico admin come un problema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1051560"/>
            <a:ext cx="3931920" cy="333756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1051560"/>
            <a:ext cx="3931920" cy="4572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16128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trend strutturali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46320" y="157276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Professionalizzazione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46320" y="1883664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PT non è più un hobbysta con fisico. Il cliente vuole competenza documentata.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846320" y="248716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46320" y="2798064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applicato al fitness. I dati clinici devono restare locali, non in cloud USA.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846320" y="340156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Personalizzazione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46320" y="3712464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cliente confronta. Vuole schede su misura, non template generici.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59028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prodotto combina architettura locale, scienza integrata, nutrizione italiana e modello perpetuo.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Oltre l’Italia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L’architettura è già pronta per l’internazionale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58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097280"/>
            <a:ext cx="8046720" cy="74980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243584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243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6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11704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Interfaccia e core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25880" y="14813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Traduzione UI, template, formati data/valuta. ~1 settimana per lingua. Blocco pronto.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132320" y="1280160"/>
            <a:ext cx="1280160" cy="365760"/>
          </a:xfrm>
          <a:prstGeom prst="rect">
            <a:avLst/>
          </a:prstGeom>
          <a:solidFill>
            <a:srgbClr val="06D6A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132320" y="12801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1938528"/>
            <a:ext cx="8046720" cy="74980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85800" y="2084832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6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25880" y="20116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Esercizi e Safety Engine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25880" y="232257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scienza è universale. Serve adattamento terminologico professionale. 2-4 settimane.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132320" y="2121408"/>
            <a:ext cx="1280160" cy="365760"/>
          </a:xfrm>
          <a:prstGeom prst="rect">
            <a:avLst/>
          </a:prstGeom>
          <a:solidFill>
            <a:srgbClr val="FFD166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132320" y="212140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2779776"/>
            <a:ext cx="8046720" cy="74980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5800" y="292608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6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25880" y="28529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Nutrizione e compliance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25880" y="31638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nutrizionali locali (Livsmedelsverket per Svezia, USDA per USA). 2-3 mesi.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132320" y="2962656"/>
            <a:ext cx="1280160" cy="365760"/>
          </a:xfrm>
          <a:prstGeom prst="rect">
            <a:avLst/>
          </a:prstGeom>
          <a:solidFill>
            <a:srgbClr val="F4A261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132320" y="296265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3621024"/>
            <a:ext cx="8046720" cy="74980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85800" y="3767328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9" name="Text 27"/>
          <p:cNvSpPr/>
          <p:nvPr/>
        </p:nvSpPr>
        <p:spPr>
          <a:xfrm>
            <a:off x="685800" y="3767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6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325880" y="36941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Moduli fiscali ed economici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325880" y="400507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Pagamenti, fatturazione per giurisdizione. Da definire mercato per mercato.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132320" y="3803904"/>
            <a:ext cx="1280160" cy="365760"/>
          </a:xfrm>
          <a:prstGeom prst="rect">
            <a:avLst/>
          </a:prstGeom>
          <a:solidFill>
            <a:srgbClr val="EF476F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132320" y="380390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4480560"/>
            <a:ext cx="8046720" cy="347472"/>
          </a:xfrm>
          <a:prstGeom prst="rect">
            <a:avLst/>
          </a:prstGeom>
          <a:solidFill>
            <a:srgbClr val="232F4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31520" y="4507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Blocchi 1-2 possono essere pronti in inglese o svedese in 4-6 settimane. Il prodotto è pienamente utilizzabile senza i Blocchi 3-4.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17320"/>
            <a:ext cx="1828800" cy="3657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modello economico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Semplice, trasparente, sostenibile da subito.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58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prodotti e il pricing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prodotti. Un principio: si compra, non si abbona.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58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2606040" cy="310896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51560"/>
            <a:ext cx="2606040" cy="6400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Shape 6"/>
          <p:cNvSpPr/>
          <p:nvPr/>
        </p:nvSpPr>
        <p:spPr>
          <a:xfrm>
            <a:off x="2011680" y="1216152"/>
            <a:ext cx="1051560" cy="292608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011680" y="1216152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PERPETUO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13232" y="1216152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Licenza Software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13232" y="164592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€249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713232" y="2423160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tantum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13232" y="2770632"/>
            <a:ext cx="2276856" cy="18288"/>
          </a:xfrm>
          <a:prstGeom prst="rect">
            <a:avLst/>
          </a:prstGeom>
          <a:solidFill>
            <a:srgbClr val="2D3E56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2862072"/>
            <a:ext cx="22768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software completo per il PC del trainer. Tutti i moduli inclusi. Aggiornamenti a vita.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360420" y="1051560"/>
            <a:ext cx="2606040" cy="310896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60420" y="1051560"/>
            <a:ext cx="2606040" cy="64008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7" name="Shape 15"/>
          <p:cNvSpPr/>
          <p:nvPr/>
        </p:nvSpPr>
        <p:spPr>
          <a:xfrm>
            <a:off x="4823460" y="1216152"/>
            <a:ext cx="1051560" cy="292608"/>
          </a:xfrm>
          <a:prstGeom prst="rect">
            <a:avLst/>
          </a:prstGeom>
          <a:solidFill>
            <a:srgbClr val="F4A261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823460" y="1216152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+ SW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525012" y="1216152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Box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525012" y="164592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4A2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€449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3525012" y="2423160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tantum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25012" y="2770632"/>
            <a:ext cx="2276856" cy="18288"/>
          </a:xfrm>
          <a:prstGeom prst="rect">
            <a:avLst/>
          </a:prstGeom>
          <a:solidFill>
            <a:srgbClr val="2D3E56"/>
          </a:solidFill>
          <a:ln/>
        </p:spPr>
      </p:sp>
      <p:sp>
        <p:nvSpPr>
          <p:cNvPr id="23" name="Text 21"/>
          <p:cNvSpPr/>
          <p:nvPr/>
        </p:nvSpPr>
        <p:spPr>
          <a:xfrm>
            <a:off x="3525012" y="2862072"/>
            <a:ext cx="22768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Raspberry Pi 5 preconfigurato con il software. Lo attacca. Funziona. Accesso mobile incluso.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72200" y="1051560"/>
            <a:ext cx="2606040" cy="310896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72200" y="1051560"/>
            <a:ext cx="2606040" cy="64008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26" name="Shape 24"/>
          <p:cNvSpPr/>
          <p:nvPr/>
        </p:nvSpPr>
        <p:spPr>
          <a:xfrm>
            <a:off x="7635240" y="1216152"/>
            <a:ext cx="1051560" cy="292608"/>
          </a:xfrm>
          <a:prstGeom prst="rect">
            <a:avLst/>
          </a:prstGeom>
          <a:solidFill>
            <a:srgbClr val="06D6A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635240" y="1216152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RICORRENTE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336792" y="1216152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Assistenza PRO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36792" y="164592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6D6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€79</a:t>
            </a:r>
            <a:endParaRPr lang="en-US" sz="4200" dirty="0"/>
          </a:p>
        </p:txBody>
      </p:sp>
      <p:sp>
        <p:nvSpPr>
          <p:cNvPr id="30" name="Text 28"/>
          <p:cNvSpPr/>
          <p:nvPr/>
        </p:nvSpPr>
        <p:spPr>
          <a:xfrm>
            <a:off x="6336792" y="2423160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336792" y="2770632"/>
            <a:ext cx="2276856" cy="18288"/>
          </a:xfrm>
          <a:prstGeom prst="rect">
            <a:avLst/>
          </a:prstGeom>
          <a:solidFill>
            <a:srgbClr val="2D3E56"/>
          </a:solidFill>
          <a:ln/>
        </p:spPr>
      </p:sp>
      <p:sp>
        <p:nvSpPr>
          <p:cNvPr id="32" name="Text 30"/>
          <p:cNvSpPr/>
          <p:nvPr/>
        </p:nvSpPr>
        <p:spPr>
          <a:xfrm>
            <a:off x="6336792" y="2862072"/>
            <a:ext cx="22768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Aggiornamenti software, nuovi esercizi e alimenti, template, supporto diretto. Opzionale.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43434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Licenza perpetua: il trainer la compra una volta, il software è suo. Nessun abbonamento, nessun server, nessuna dipendenza.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Margini unitari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nessun server significa margini reali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58</a:t>
            </a:r>
            <a:endParaRPr lang="en-US" sz="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1645920"/>
                <a:gridCol w="20116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Prodotto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Prezzo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vivo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Margine lordo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Licenza software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€219 (88%)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FitManager Box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€299 (67%)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Assistenza PRO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€79/anno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€79 (100%)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2926080"/>
            <a:ext cx="8046720" cy="731520"/>
          </a:xfrm>
          <a:prstGeom prst="rect">
            <a:avLst/>
          </a:prstGeom>
          <a:solidFill>
            <a:srgbClr val="1E2D45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926080"/>
            <a:ext cx="8046720" cy="45720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30175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costo server. I dati sono locali. Ogni vendita porta un margine reale immediato — non un margine virtuale dopo payback.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3794760"/>
            <a:ext cx="8046720" cy="96012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3794760"/>
            <a:ext cx="8046720" cy="4572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" y="38862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Livelli community (post-lancio)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4224528"/>
            <a:ext cx="7680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(gratuita)</a:t>
            </a:r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€79/anno</a:t>
            </a:r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Circle €249/anno</a:t>
            </a:r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Mentorship €499-599/anno (Anno 3+)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Break-even operativo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business è sostenibile con numeri piccoli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58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0" y="1005840"/>
            <a:ext cx="2743200" cy="1828800"/>
          </a:xfrm>
          <a:prstGeom prst="rect">
            <a:avLst/>
          </a:prstGeom>
          <a:solidFill>
            <a:srgbClr val="1E2D45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0" y="1005840"/>
            <a:ext cx="2743200" cy="54864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0" y="10972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06D6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9600" dirty="0"/>
          </a:p>
        </p:txBody>
      </p:sp>
      <p:sp>
        <p:nvSpPr>
          <p:cNvPr id="9" name="Text 7"/>
          <p:cNvSpPr/>
          <p:nvPr/>
        </p:nvSpPr>
        <p:spPr>
          <a:xfrm>
            <a:off x="3200400" y="21214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vendite/mese per il break-even operativo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874520" cy="120700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3063240"/>
            <a:ext cx="1874520" cy="45720"/>
          </a:xfrm>
          <a:prstGeom prst="rect">
            <a:avLst/>
          </a:prstGeom>
          <a:solidFill>
            <a:srgbClr val="EF476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172968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47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~€360/mese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370332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fissi (SRL + dominio + tool)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624328" y="3063240"/>
            <a:ext cx="1874520" cy="120700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624328" y="3063240"/>
            <a:ext cx="1874520" cy="457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6" name="Text 14"/>
          <p:cNvSpPr/>
          <p:nvPr/>
        </p:nvSpPr>
        <p:spPr>
          <a:xfrm>
            <a:off x="2715768" y="3172968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~€220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715768" y="370332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Margine medio per vendita (mix)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00016" y="3063240"/>
            <a:ext cx="1874520" cy="120700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0016" y="3063240"/>
            <a:ext cx="1874520" cy="45720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20" name="Text 18"/>
          <p:cNvSpPr/>
          <p:nvPr/>
        </p:nvSpPr>
        <p:spPr>
          <a:xfrm>
            <a:off x="4791456" y="3172968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D6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1,7 vendite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791456" y="370332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puramente operativo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775704" y="3063240"/>
            <a:ext cx="1874520" cy="120700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775704" y="3063240"/>
            <a:ext cx="1874520" cy="4572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24" name="Text 22"/>
          <p:cNvSpPr/>
          <p:nvPr/>
        </p:nvSpPr>
        <p:spPr>
          <a:xfrm>
            <a:off x="6867144" y="3172968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3/mese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867144" y="370332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reale includendo imprevistos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48640" y="446227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raggiungiamo stabilmente 3 vendite/mese dal mese 5-6, il business è sostenibile. Dal mese 12, redditizio.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17320"/>
            <a:ext cx="1828800" cy="3657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Come arriviamo ai clienti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Fonti di lead, funnel e conversione.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58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Fonti di lead qualificati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20-33 lead/mese — realistici, non ottimistici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58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6858000" cy="65836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51560"/>
            <a:ext cx="54864" cy="658368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197864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110642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partner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280160" y="141732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Contatti diretti del fondatore e del network professionale. Alta qualità.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543800" y="1188720"/>
            <a:ext cx="1143000" cy="384048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543800" y="11887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6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8-12/mese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1801368"/>
            <a:ext cx="6858000" cy="65836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48640" y="1801368"/>
            <a:ext cx="54864" cy="658368"/>
          </a:xfrm>
          <a:prstGeom prst="rect">
            <a:avLst/>
          </a:prstGeom>
          <a:solidFill>
            <a:srgbClr val="06D6A0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47672"/>
            <a:ext cx="329184" cy="32918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280160" y="185623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founder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280160" y="2167128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Contenuti settimanali su LinkedIn (Giacomo). Case study, demo clips, insight.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543800" y="1938528"/>
            <a:ext cx="1143000" cy="384048"/>
          </a:xfrm>
          <a:prstGeom prst="rect">
            <a:avLst/>
          </a:prstGeom>
          <a:solidFill>
            <a:srgbClr val="06D6A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7543800" y="193852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6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5-8/mese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548640" y="2551176"/>
            <a:ext cx="6858000" cy="65836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548640" y="2551176"/>
            <a:ext cx="54864" cy="658368"/>
          </a:xfrm>
          <a:prstGeom prst="rect">
            <a:avLst/>
          </a:prstGeom>
          <a:solidFill>
            <a:srgbClr val="FFD166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97480"/>
            <a:ext cx="329184" cy="32918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280160" y="26060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clienti attivi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1280160" y="2916936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Fondatore soddisfatto porta 0,3-0,5 referral nel primo anno.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7543800" y="2688336"/>
            <a:ext cx="1143000" cy="384048"/>
          </a:xfrm>
          <a:prstGeom prst="rect">
            <a:avLst/>
          </a:prstGeom>
          <a:solidFill>
            <a:srgbClr val="FFD166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6" name="Text 21"/>
          <p:cNvSpPr/>
          <p:nvPr/>
        </p:nvSpPr>
        <p:spPr>
          <a:xfrm>
            <a:off x="7543800" y="2688336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6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2-4/mese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548640" y="3300984"/>
            <a:ext cx="6858000" cy="65836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548640" y="3300984"/>
            <a:ext cx="54864" cy="658368"/>
          </a:xfrm>
          <a:prstGeom prst="rect">
            <a:avLst/>
          </a:prstGeom>
          <a:solidFill>
            <a:srgbClr val="F4A261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447288"/>
            <a:ext cx="329184" cy="32918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280160" y="335584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Webinar mensile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1280160" y="366674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+ Q&amp;A + caso reale. ~50-80 partecipanti, conversione 4-6%.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543800" y="3438144"/>
            <a:ext cx="1143000" cy="384048"/>
          </a:xfrm>
          <a:prstGeom prst="rect">
            <a:avLst/>
          </a:prstGeom>
          <a:solidFill>
            <a:srgbClr val="F4A261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3" name="Text 27"/>
          <p:cNvSpPr/>
          <p:nvPr/>
        </p:nvSpPr>
        <p:spPr>
          <a:xfrm>
            <a:off x="7543800" y="343814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6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3-5/mese</a:t>
            </a:r>
            <a:endParaRPr lang="en-US" sz="1300" dirty="0"/>
          </a:p>
        </p:txBody>
      </p:sp>
      <p:sp>
        <p:nvSpPr>
          <p:cNvPr id="34" name="Shape 28"/>
          <p:cNvSpPr/>
          <p:nvPr/>
        </p:nvSpPr>
        <p:spPr>
          <a:xfrm>
            <a:off x="548640" y="4050792"/>
            <a:ext cx="6858000" cy="65836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548640" y="4050792"/>
            <a:ext cx="54864" cy="658368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197096"/>
            <a:ext cx="329184" cy="329184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1280160" y="410565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Passaparola / community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1280160" y="4416552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Gruppi Facebook, Telegram e forum specializzati del settore fitness.</a:t>
            </a:r>
            <a:endParaRPr lang="en-US" sz="1000" dirty="0"/>
          </a:p>
        </p:txBody>
      </p:sp>
      <p:sp>
        <p:nvSpPr>
          <p:cNvPr id="39" name="Shape 32"/>
          <p:cNvSpPr/>
          <p:nvPr/>
        </p:nvSpPr>
        <p:spPr>
          <a:xfrm>
            <a:off x="7543800" y="4187952"/>
            <a:ext cx="1143000" cy="384048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0" name="Text 33"/>
          <p:cNvSpPr/>
          <p:nvPr/>
        </p:nvSpPr>
        <p:spPr>
          <a:xfrm>
            <a:off x="7543800" y="418795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6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2-4/mese</a:t>
            </a:r>
            <a:endParaRPr lang="en-US" sz="1300" dirty="0"/>
          </a:p>
        </p:txBody>
      </p:sp>
      <p:sp>
        <p:nvSpPr>
          <p:cNvPr id="41" name="Shape 34"/>
          <p:cNvSpPr/>
          <p:nvPr/>
        </p:nvSpPr>
        <p:spPr>
          <a:xfrm>
            <a:off x="548640" y="4800600"/>
            <a:ext cx="8138160" cy="347472"/>
          </a:xfrm>
          <a:prstGeom prst="rect">
            <a:avLst/>
          </a:prstGeom>
          <a:solidFill>
            <a:srgbClr val="1E2D45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2" name="Text 35"/>
          <p:cNvSpPr/>
          <p:nvPr/>
        </p:nvSpPr>
        <p:spPr>
          <a:xfrm>
            <a:off x="731520" y="4828032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Totale: 20-33 lead/mese qualificati  →  conversione 10-15%  →  2-5 vendite/mese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funnel di vendita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fasi. Un momento di conversione decisivo.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58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8046720" cy="749808"/>
          </a:xfrm>
          <a:prstGeom prst="rect">
            <a:avLst/>
          </a:prstGeom>
          <a:solidFill>
            <a:srgbClr val="232F4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51560"/>
            <a:ext cx="8046720" cy="457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1430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43560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874520" y="1143000"/>
            <a:ext cx="6537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entra nel funnel (LinkedIn, referral, webinar, passaparola)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280160" y="1920240"/>
            <a:ext cx="6583680" cy="749808"/>
          </a:xfrm>
          <a:prstGeom prst="rect">
            <a:avLst/>
          </a:prstGeom>
          <a:solidFill>
            <a:srgbClr val="232F4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280160" y="1920240"/>
            <a:ext cx="6583680" cy="4572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3" name="Text 11"/>
          <p:cNvSpPr/>
          <p:nvPr/>
        </p:nvSpPr>
        <p:spPr>
          <a:xfrm>
            <a:off x="1417320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INTERESSE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417320" y="230428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D1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50-60%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606040" y="2011680"/>
            <a:ext cx="5074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Vede una demo o video. Capisce il problema risolto. Si iscrive al webinar.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377440" y="2788920"/>
            <a:ext cx="4389120" cy="749808"/>
          </a:xfrm>
          <a:prstGeom prst="rect">
            <a:avLst/>
          </a:prstGeom>
          <a:solidFill>
            <a:srgbClr val="232F4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377440" y="2788920"/>
            <a:ext cx="4389120" cy="45720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18" name="Text 16"/>
          <p:cNvSpPr/>
          <p:nvPr/>
        </p:nvSpPr>
        <p:spPr>
          <a:xfrm>
            <a:off x="251460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ACQUISTO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514600" y="317296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D6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10-15%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703320" y="288036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14 giorni o acquista diretto. Il momento WA live è il punto di svolta.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749040"/>
            <a:ext cx="8046720" cy="685800"/>
          </a:xfrm>
          <a:prstGeom prst="rect">
            <a:avLst/>
          </a:prstGeom>
          <a:solidFill>
            <a:srgbClr val="1E2D45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3749040"/>
            <a:ext cx="8046720" cy="36576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82219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“La demo include un momento WhatsApp live: il trainer vede il messaggio aprirsi sul suo telefono. Quel momento converte più di qualsiasi slide.”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17320"/>
            <a:ext cx="1828800" cy="3657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Strategia di marketing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first. Borrowed second. Paid solo quando ha senso.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58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tre canali di marketing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strategia sostenibile a zero budget iniziale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58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2606040" cy="34290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51560"/>
            <a:ext cx="260604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161288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Owned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152704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Costruiamo noi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1837944"/>
            <a:ext cx="2331720" cy="18288"/>
          </a:xfrm>
          <a:prstGeom prst="rect">
            <a:avLst/>
          </a:prstGeom>
          <a:solidFill>
            <a:srgbClr val="2D3E5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947672"/>
            <a:ext cx="233172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Newsletter settimanale (audience PT)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 / SEO su keyword fitness pro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Video-pillole YouTube: demo + case study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Documentazione pubblica del prodotto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2606040" cy="457200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40690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Costruisce audience permanente. ROI composto nel tempo.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360420" y="1051560"/>
            <a:ext cx="2606040" cy="34290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360420" y="1051560"/>
            <a:ext cx="2606040" cy="54864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6" name="Text 14"/>
          <p:cNvSpPr/>
          <p:nvPr/>
        </p:nvSpPr>
        <p:spPr>
          <a:xfrm>
            <a:off x="3497580" y="1161288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1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Borrowed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497580" y="152704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Distribuiamo altrui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497580" y="1837944"/>
            <a:ext cx="2331720" cy="18288"/>
          </a:xfrm>
          <a:prstGeom prst="rect">
            <a:avLst/>
          </a:prstGeom>
          <a:solidFill>
            <a:srgbClr val="2D3E56"/>
          </a:solidFill>
          <a:ln/>
        </p:spPr>
      </p:sp>
      <p:sp>
        <p:nvSpPr>
          <p:cNvPr id="19" name="Text 17"/>
          <p:cNvSpPr/>
          <p:nvPr/>
        </p:nvSpPr>
        <p:spPr>
          <a:xfrm>
            <a:off x="3497580" y="1947672"/>
            <a:ext cx="233172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del founder (6.000+ follower target)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Podcast e webinar di settore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Facebook e Telegram PT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 e social del partner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360420" y="4023360"/>
            <a:ext cx="2606040" cy="457200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497580" y="40690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immediata a costo zero. Richiede contenuto autentico.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172200" y="1051560"/>
            <a:ext cx="2606040" cy="34290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72200" y="1051560"/>
            <a:ext cx="2606040" cy="54864"/>
          </a:xfrm>
          <a:prstGeom prst="rect">
            <a:avLst/>
          </a:prstGeom>
          <a:solidFill>
            <a:srgbClr val="718096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1161288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180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Paid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309360" y="152704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quando ha ROI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09360" y="1837944"/>
            <a:ext cx="2331720" cy="18288"/>
          </a:xfrm>
          <a:prstGeom prst="rect">
            <a:avLst/>
          </a:prstGeom>
          <a:solidFill>
            <a:srgbClr val="2D3E56"/>
          </a:solidFill>
          <a:ln/>
        </p:spPr>
      </p:sp>
      <p:sp>
        <p:nvSpPr>
          <p:cNvPr id="27" name="Text 25"/>
          <p:cNvSpPr/>
          <p:nvPr/>
        </p:nvSpPr>
        <p:spPr>
          <a:xfrm>
            <a:off x="6309360" y="1947672"/>
            <a:ext cx="233172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retargeting (mese 6+)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Sponsored solo dopo social proof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 su keyword acquisto (mese 9+)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paid prima della prova organica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72200" y="4023360"/>
            <a:ext cx="2606040" cy="457200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09360" y="40690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a validazione completata. Budget iniziale: zero.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Budget marketing Anno 1 e asset pre-lancio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58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37490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Dominio + hosting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€120/anno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marketing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€0-180/anno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 demo/testimonial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€0-200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Pubblicità (mesi 7-12)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€300-500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 Anno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€120-880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663440" y="1051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PRE-LANCIO</a:t>
            </a:r>
            <a:endParaRPr lang="en-US" sz="1200" dirty="0"/>
          </a:p>
        </p:txBody>
      </p:sp>
      <p:graphicFrame>
        <p:nvGraphicFramePr>
          <p:cNvPr id="6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371600"/>
          <a:ext cx="39319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09728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Sito web / landing page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creare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F4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Waiting list virale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creare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F4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 demo (3 min)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creare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 teaser (60 sec)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creare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Screenshot professionali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creare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Profilo LinkedIn attivo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Parziale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3566160"/>
            <a:ext cx="8046720" cy="640080"/>
          </a:xfrm>
          <a:prstGeom prst="rect">
            <a:avLst/>
          </a:prstGeom>
          <a:solidFill>
            <a:srgbClr val="232F4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3566160"/>
            <a:ext cx="54864" cy="640080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11" name="Text 7"/>
          <p:cNvSpPr/>
          <p:nvPr/>
        </p:nvSpPr>
        <p:spPr>
          <a:xfrm>
            <a:off x="777240" y="3611880"/>
            <a:ext cx="7635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VIRALE NEL PRODOTTO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77240" y="3840480"/>
            <a:ext cx="7635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volta che un trainer invia il link anamnesi, il cliente vede "Powered by FitManager Studio+" nel footer. Con 30 trainer attivi e 20 clienti ciascuno = 600+ esposizioni/mese a costo zero.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Risultati attesi per fase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/ 58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8046720" cy="804672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51560"/>
            <a:ext cx="54864" cy="804672"/>
          </a:xfrm>
          <a:prstGeom prst="rect">
            <a:avLst/>
          </a:prstGeom>
          <a:solidFill>
            <a:srgbClr val="71809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1247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180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Pre-lancio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1417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sett. prima POC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926080" y="11887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50+ iscritti waiting list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0" y="11887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Vendite: 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1965960"/>
            <a:ext cx="8046720" cy="804672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965960"/>
            <a:ext cx="54864" cy="80467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0391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POC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23317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 1-3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926080" y="21031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Focus 10 Fondatori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0" y="21031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Vendite: 10 (selezionati)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2880360"/>
            <a:ext cx="8046720" cy="804672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2880360"/>
            <a:ext cx="54864" cy="804672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2953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D6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Early Adopter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77240" y="32461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 4-6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926080" y="3017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15-25/mese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0" y="30175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Vendite: 2-3/mese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794760"/>
            <a:ext cx="8046720" cy="804672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3794760"/>
            <a:ext cx="54864" cy="804672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38679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1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Prezzo pieno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77240" y="41605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 7-12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926080" y="39319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22-35/mese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0" y="39319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Vendite: 3-5/mese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17320"/>
            <a:ext cx="1828800" cy="3657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Proof of Concept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vendiamo subito. Prima dimostriamo — il pacchetto completo.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2918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primi 10 non sono solo tester del software. Sono i primi studenti del Metodo PT Evoluto.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comunicazione WhatsApp è attiva dal giorno uno.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3931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non funziona, lo scopriamo con 10 persone e ~€1.000.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/ 58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Cosa ricevono i 10 Fondatori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Fondatori non ricevono solo il software. Ricevono il percorso completo per 12 mesi.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/ 58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097280"/>
            <a:ext cx="1901952" cy="13716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97280"/>
            <a:ext cx="1901952" cy="45720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234440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173736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o Box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011680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ricevono la licenza (€99),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ricevono la Box (€199)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2633472" y="1097280"/>
            <a:ext cx="1901952" cy="13716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633472" y="1097280"/>
            <a:ext cx="1901952" cy="45720"/>
          </a:xfrm>
          <a:prstGeom prst="rect">
            <a:avLst/>
          </a:prstGeom>
          <a:solidFill>
            <a:srgbClr val="06D6A0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272" y="123444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724912" y="173736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Circle 12 mesi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2724912" y="2011680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Masterclass, webinar, mastermind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incluso, non extra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718304" y="1097280"/>
            <a:ext cx="1901952" cy="13716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718304" y="1097280"/>
            <a:ext cx="1901952" cy="45720"/>
          </a:xfrm>
          <a:prstGeom prst="rect">
            <a:avLst/>
          </a:prstGeom>
          <a:solidFill>
            <a:srgbClr val="FFD166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4104" y="1234440"/>
            <a:ext cx="457200" cy="4572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809744" y="173736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Fondatori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4809744" y="2011680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Canale riservato per feedback,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idee, supporto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803136" y="1097280"/>
            <a:ext cx="1901952" cy="13716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803136" y="1097280"/>
            <a:ext cx="1901952" cy="45720"/>
          </a:xfrm>
          <a:prstGeom prst="rect">
            <a:avLst/>
          </a:prstGeom>
          <a:solidFill>
            <a:srgbClr val="F4A261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8936" y="1234440"/>
            <a:ext cx="457200" cy="4572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894576" y="173736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Installazione assistita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6894576" y="2011680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1:1 con il founder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548640" y="2697480"/>
            <a:ext cx="8046720" cy="502920"/>
          </a:xfrm>
          <a:prstGeom prst="rect">
            <a:avLst/>
          </a:prstGeom>
          <a:solidFill>
            <a:srgbClr val="232F4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7" name="Text 21"/>
          <p:cNvSpPr/>
          <p:nvPr/>
        </p:nvSpPr>
        <p:spPr>
          <a:xfrm>
            <a:off x="731520" y="2743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 reale del pacchetto: €498 (licenza) / €698 (Box). I Fondatori lo ottengono a €99 / €199 perché sono l'investimento più importante del progetto.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protocollo: prodotto + formazione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/ 58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05840"/>
            <a:ext cx="54864" cy="8686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097280"/>
            <a:ext cx="777240" cy="25603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09728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737360" y="1078992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e baseline  —  Giorni 1-14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37360" y="137160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professionisti selezionati. Questionario baseline. Installazione e inserimento primi clienti.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di attivazione: primo messaggio WhatsApp pre-compilato inviato entro 24 ore dall'installazione.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965960"/>
            <a:ext cx="54864" cy="868680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2057400"/>
            <a:ext cx="777240" cy="256032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0574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B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737360" y="2039112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Adozione e masterclass  —  Giorni 15-75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37360" y="233172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reale quotidiano. Check-in bisettimanale. Micro-sondaggio settimanale.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masterclass condotte dal Partner.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2926080"/>
            <a:ext cx="54864" cy="86868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9" name="Shape 17"/>
          <p:cNvSpPr/>
          <p:nvPr/>
        </p:nvSpPr>
        <p:spPr>
          <a:xfrm>
            <a:off x="777240" y="3017520"/>
            <a:ext cx="777240" cy="256032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01752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C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737360" y="2999232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Misurazione  —  Giorni 75-90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737360" y="32918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Questionario finale. Confronto prima/dopo. Video-intervista.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Sessione di gruppo. Decisione GO/NO-GO.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393192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3 masterclass (condotte dall'Industry Partner):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31520" y="41605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 1: "Il Metodo PT Evoluto — come cambia il tuo lavoro"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 2: "Le prime 4 settimane con FitManager — risultati e domande"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 3: "Da 25 a 45 clienti — il metodo in pratica"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metriche della POC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/ 58</a:t>
            </a:r>
            <a:endParaRPr lang="en-US" sz="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868680"/>
          <a:ext cx="80467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097280"/>
                <a:gridCol w="1371600"/>
                <a:gridCol w="265176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Ore admin/settimana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3-5 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2 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Prodotto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Organizzazione (1-10)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8+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Prodotto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Dati persi/mese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Prodotto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NPS (-100/+100)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Sopra 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Prodotto + percorso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"Lo ricompreresti a prezzo pieno?"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8/10 sì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"Masterclass hanno cambiato approccio?"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7+/10 sì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Percorso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"I tuoi clienti notano differenza?"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5+/10 sì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Volano PT Evoluto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"Ti definiresti un PT Evoluto?"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6+/10 sì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 creation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Messaggi WA pre-compilati/sett.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15+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Adozione comunicazione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 risparmiato comunicazione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30+ min/gg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Valore feature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Clienti usano portale allenamento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7/10 attivi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Workout Intelligence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572000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ultime 4 metriche validano la categoria e il volano — non solo il software.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profili e la decisione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/ 58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10 FONDATORI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trainer in palestra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freelance con studio proprio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chinesiologi con clienti clinici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trainer online/ibrido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neoqualificato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senior con 40+ clienti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108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Criterio: almeno 10 clienti attivi, disponibilità a dare feedback strutturato per 90 giorni.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46320" y="1005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DECISIONE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46320" y="1371600"/>
            <a:ext cx="3749040" cy="65836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1371600"/>
            <a:ext cx="3749040" cy="45720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44475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D6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83480" y="169164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50+, ore dimezzate, 8+ attivi,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5+ clienti notano differenza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46320" y="2121408"/>
            <a:ext cx="3749040" cy="65836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46320" y="2121408"/>
            <a:ext cx="3749040" cy="4572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5" name="Text 13"/>
          <p:cNvSpPr/>
          <p:nvPr/>
        </p:nvSpPr>
        <p:spPr>
          <a:xfrm>
            <a:off x="4983480" y="21945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1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 cautela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83480" y="24414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30-50, miglioramenti parziali,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 parzialmente recepita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46320" y="2871216"/>
            <a:ext cx="3749040" cy="65836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46320" y="2871216"/>
            <a:ext cx="3749040" cy="45720"/>
          </a:xfrm>
          <a:prstGeom prst="rect">
            <a:avLst/>
          </a:prstGeom>
          <a:solidFill>
            <a:srgbClr val="EF476F"/>
          </a:solidFill>
          <a:ln/>
        </p:spPr>
      </p:sp>
      <p:sp>
        <p:nvSpPr>
          <p:cNvPr id="19" name="Text 17"/>
          <p:cNvSpPr/>
          <p:nvPr/>
        </p:nvSpPr>
        <p:spPr>
          <a:xfrm>
            <a:off x="4983480" y="294436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7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83480" y="319125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&lt;30, meno di 6 attivi,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 non risuona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3611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ABBIAMO AL MESE 4 (se GO)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38404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storie reali con dati misurabili (prima/dopo)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video-interviste testimonial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masterclass registrate (libreria Inner Circle)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aggregati + community funzionante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prova che il percorso PT Evoluto funziona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Costo della POC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/ 58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48640" y="1005840"/>
            <a:ext cx="8046720" cy="5486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05840"/>
            <a:ext cx="54864" cy="548640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1155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licenze Fondatore a €99 + 2 Box a €199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0" y="11155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6D6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€1.190 (ricavo)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645920"/>
            <a:ext cx="8046720" cy="5486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645920"/>
            <a:ext cx="54864" cy="54864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17556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vivo hardware 2 Box test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0" y="17556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4A2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€300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286000"/>
            <a:ext cx="8046720" cy="5486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286000"/>
            <a:ext cx="54864" cy="548640"/>
          </a:xfrm>
          <a:prstGeom prst="rect">
            <a:avLst/>
          </a:prstGeom>
          <a:solidFill>
            <a:srgbClr val="A0AEC0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founder (check-in, supporto, analisi)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0" y="239572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0AE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~40 ore in 90 gg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2926080"/>
            <a:ext cx="8046720" cy="5486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2926080"/>
            <a:ext cx="54864" cy="548640"/>
          </a:xfrm>
          <a:prstGeom prst="rect">
            <a:avLst/>
          </a:prstGeom>
          <a:solidFill>
            <a:srgbClr val="A0AEC0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0358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partner (selezione, 3 masterclass)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43600" y="30358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0AE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~15-20 ore in 90 gg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3566160"/>
            <a:ext cx="8046720" cy="5486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3566160"/>
            <a:ext cx="54864" cy="54864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36758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 netto in cash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943600" y="36758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D1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~€300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4297680"/>
            <a:ext cx="8046720" cy="457200"/>
          </a:xfrm>
          <a:prstGeom prst="rect">
            <a:avLst/>
          </a:prstGeom>
          <a:solidFill>
            <a:srgbClr val="232F4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31520" y="432511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partner viene compensato con il 20% dei ricavi POC (€238) e con la proprietà condivisa delle registrazioni: le 3 masterclass generano il 35% di revenue share per ogni futuro membro IC.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17320"/>
            <a:ext cx="1828800" cy="3657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Proiezioni finanziarie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strutture a confronto: il business sta in piedi indipendentemente dalla partnership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/ 58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Founder solo (senza Industry Partner)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organico, SEO, referral, webinar self-hosted. Lead a regime: 10-14/mese. Vendite: 1-2/mese.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/ 58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CONFIGURAZIONE A</a:t>
            </a:r>
            <a:endParaRPr lang="en-US" sz="1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8046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Nuovi clienti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cumulativa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Fatturato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€7.200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€13.500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€22.000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Costi totali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€5.800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€8.500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€14.000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€1.512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€2.835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€4.400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Netto founder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F4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-€112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€2.165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€3.600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3840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business sopravvive. Non genera debito. Ma la crescita è lenta e il founder non si paga un vero stipendio per almeno 2 anni.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CONFIG. B — CONSERVATIVO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 partner — Scenario conservativo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arriva tardi, conversione 20%, IC con bassa adozione (12% della base)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/ 58</a:t>
            </a:r>
            <a:endParaRPr lang="en-US" sz="8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8046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1920240"/>
                <a:gridCol w="19202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Nuovi clienti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cumulativa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Vendite prodotto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€8.559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€12.632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€18.108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Assistenza PRO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€2.414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€4.945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Inner Circle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€2.040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€4.388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Fatturato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€10.715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€17.086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€27.441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Costi + operativi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€6.970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€9.330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€12.990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Compenso partner (20%+35%)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€2.117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€4.085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€6.889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€2.250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€3.588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€6.467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Netto founder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F4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-€622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€1.095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Netto partner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€2.117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€4.085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€6.889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CONFIG. B — BASE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 partner — Scenario base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operativo dal mese 2, conversione 25%, IC al 20% della base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/ 58</a:t>
            </a:r>
            <a:endParaRPr lang="en-US" sz="8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8046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1920240"/>
                <a:gridCol w="19202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Nuovi clienti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cumulativa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Vendite prodotto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€13.950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€21.450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€32.850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Assistenza PRO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€3.700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€7.300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Inner Circle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€2.250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Fatturato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€17.150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€29.650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€49.650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Costi + operativi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€8.560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€14.325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€22.865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Compenso partner (20%+35%)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€3.910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€7.160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€12.450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€3.600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€6.230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€6.750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Netto founder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€1.080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€1.935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€7.585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Netto partner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€3.910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€7.160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€12.450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4572000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Dall'Anno 3, con fatturato &gt;€40K, transizione a regime ordinario/SRL. Tasse ~35% sul reddito netto (costi deducibili).</a:t>
            </a:r>
            <a:endParaRPr lang="en-US" sz="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CONFIG. B — OTTIMISTICO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 partner — Scenario ottimistico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forte, conversione 30%, IC al 25% della base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/ 58</a:t>
            </a:r>
            <a:endParaRPr lang="en-US" sz="8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8046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1920240"/>
                <a:gridCol w="19202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Nuovi clienti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cumulativa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Vendite prodotto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€23.383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€37.330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€57.680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Assistenza PRO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€1.600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€4.430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€8.620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Inner Circle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€2.990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€7.380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€15.200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Fatturato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€27.973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€49.140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€81.500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Costi + operativi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€11.050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€22.130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€38.250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Compenso partner (20%+35%)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€6.284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€11.600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€19.873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€5.874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€6.620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€10.270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Netto founder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€4.765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€8.790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€13.107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Netto partner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€6.284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€11.600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€19.873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confronto diretto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cambia con il partner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/ 58</a:t>
            </a:r>
            <a:endParaRPr lang="en-US" sz="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80467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210312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Senza partner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partner (base)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Moltiplicatore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Clienti Anno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Clienti Anno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Fatturato Anno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€7.200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€17.150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Fatturato Anno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€22.000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€49.650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Netto founder Anno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€3.600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€7.585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Fatturato cum. 3 anni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€42.700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€96.450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160520"/>
            <a:ext cx="8046720" cy="502920"/>
          </a:xfrm>
          <a:prstGeom prst="rect">
            <a:avLst/>
          </a:prstGeom>
          <a:solidFill>
            <a:srgbClr val="232F4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41879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moltiplicatore 2,1x sul netto riflette una struttura di compenso più generosa (20% prodotto + 35% ricorrente), calibrata sul contributo diretto del partner alla crescita del ricavo ricorrente. Il partner abilita l'Inner Circle — un flusso di ricavo altrimenti impossibile.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Vista cumulativa (scenario base)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/ 58</a:t>
            </a:r>
            <a:endParaRPr lang="en-US" sz="8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1554480"/>
                <a:gridCol w="1554480"/>
                <a:gridCol w="182880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Cumulativo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PROGETTO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4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Clienti (base installata)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cui Inner Circle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Fatturato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€17.150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€29.650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€49.650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€96.450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cui ricorrente (PRO+IC)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€3.200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€8.200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€16.800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€28.200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4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Netto cash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€1.080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€1.935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€7.585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€10.600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detenuta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88-92%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4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(20% prod + 35% ric)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€3.910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€7.160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€12.450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€23.520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maturata (milestone)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8-12%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Valore equity stimato (12%)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€3.120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€8.160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€16.800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 partner (cash+equity)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€7.030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€15.320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€29.250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€39.520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Valore stimato progetto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€26.000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€68.000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€140.000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617720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Valutazione: 2x ricavo ricorrente + valore base installata + IP + community. Metodo conservativo per software B2B verticali.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17320"/>
            <a:ext cx="1828800" cy="3657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 va male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scenario peggiore — tutto va male contemporaneamente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/ 58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48640" y="3017520"/>
            <a:ext cx="1901952" cy="9144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" y="310896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47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18-20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85800" y="352044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Clienti Anno 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33472" y="3017520"/>
            <a:ext cx="1901952" cy="9144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770632" y="310896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4A2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~€5.500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770632" y="352044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Fatturato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18304" y="3017520"/>
            <a:ext cx="1901952" cy="9144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55464" y="310896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47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~€700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855464" y="352044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Perdita netta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03136" y="3017520"/>
            <a:ext cx="1901952" cy="9144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940296" y="310896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1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~€2.000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940296" y="352044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Perdita massima cash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41148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business non chiude. Non genera debito. La perdita massima è il costo di un corso di formazione.</a:t>
            </a:r>
            <a:endParaRPr lang="en-US" sz="11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Rischi specifici e mitigazioni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/ 58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48640" y="1005840"/>
            <a:ext cx="8046720" cy="7772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05840"/>
            <a:ext cx="54864" cy="777240"/>
          </a:xfrm>
          <a:prstGeom prst="rect">
            <a:avLst/>
          </a:prstGeom>
          <a:solidFill>
            <a:srgbClr val="EF476F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078992"/>
            <a:ext cx="7635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trainer non vogliono pagare per un software."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1371600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POC include misurazione WTP prima di rivelare il prezzo. Se il dato esce basso, lo sappiamo con 10 persone.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874520"/>
            <a:ext cx="8046720" cy="7772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874520"/>
            <a:ext cx="54864" cy="77724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1947672"/>
            <a:ext cx="7635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"Il partner si disimpegna."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2240280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a milestone — se non raggiunge i risultati, non matura. Il business parte anche senza (Config. A).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743200"/>
            <a:ext cx="8046720" cy="7772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743200"/>
            <a:ext cx="54864" cy="77724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2816352"/>
            <a:ext cx="7635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 competitor copia."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3108960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scientifico (500 esercizi, 940 relazioni, Safety Engine, CREA) = 6+ mesi di lavoro. Architettura locale non replicabile da SaaS.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611880"/>
            <a:ext cx="8046720" cy="7772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3611880"/>
            <a:ext cx="54864" cy="77724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685032"/>
            <a:ext cx="7635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rinnovi assistenza sono bassi."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7240" y="3977640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sotto 40%, il contenuto non ha valore percepito sufficiente. Lo misuriamo e correggiamo. Business non dipende dai rinnovi Anno 1.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Anno 1: founder + Industry Partner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/ 58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3794760" cy="292608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51560"/>
            <a:ext cx="3794760" cy="457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18872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Giacomo Verardo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1828800"/>
            <a:ext cx="3429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 prodotto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Vendite dirette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Supporto clienti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organico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 operativa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00600" y="1051560"/>
            <a:ext cx="3794760" cy="292608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00600" y="1051560"/>
            <a:ext cx="3794760" cy="4572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3" name="Text 11"/>
          <p:cNvSpPr/>
          <p:nvPr/>
        </p:nvSpPr>
        <p:spPr>
          <a:xfrm>
            <a:off x="4983480" y="118872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1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INDUSTRY PARTNER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83480" y="146304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Professionista fitness con esperienza,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credibilità e network. Impegno: 8-10 ore/mese.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983480" y="1920240"/>
            <a:ext cx="3429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Seleziona i Fondatori POC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 al proprio network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Conduce masterclass/webinar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posizionamento PT Evoluto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Contribuisce al DB esercizi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420624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Evoluzione: Anno 2 + tirocinante part-time (€4-5K)  |  Anno 3 + junior dev + ufficio (€12-16K)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Struttura di compenso del partner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partner non riceve un compenso fisso. Riceve una quota dei ricavi semplificata a due percentuali.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/ 58</a:t>
            </a:r>
            <a:endParaRPr lang="en-US" sz="8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51206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Applicata 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Vendite prodotto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Tutte le licenze e Box, senza distinguere la fonte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Ricorrente + contenuto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PRO, Inner Circle, masterclass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2103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— a milestone, non a tempo</a:t>
            </a:r>
            <a:endParaRPr lang="en-US" sz="1300" dirty="0"/>
          </a:p>
        </p:txBody>
      </p:sp>
      <p:graphicFrame>
        <p:nvGraphicFramePr>
          <p:cNvPr id="9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23160"/>
          <a:ext cx="80467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1371600"/>
                <a:gridCol w="21031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Milestone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Completamento POC — GO al giorno 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Mese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clienti attivi nella base installata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~Mese 8-12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Primo accordo internazionale firmato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 accade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 POTENZIALE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4206240"/>
            <a:ext cx="3794760" cy="502920"/>
          </a:xfrm>
          <a:prstGeom prst="rect">
            <a:avLst/>
          </a:prstGeom>
          <a:solidFill>
            <a:srgbClr val="232F4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4206240"/>
            <a:ext cx="54864" cy="502920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11" name="Text 7"/>
          <p:cNvSpPr/>
          <p:nvPr/>
        </p:nvSpPr>
        <p:spPr>
          <a:xfrm>
            <a:off x="777240" y="423367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Compenso triennio: €23.520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Fatturato aggiuntivo: €53.750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800600" y="4206240"/>
            <a:ext cx="3794760" cy="502920"/>
          </a:xfrm>
          <a:prstGeom prst="rect">
            <a:avLst/>
          </a:prstGeom>
          <a:solidFill>
            <a:srgbClr val="232F4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4983480" y="4233672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D6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ROI: 2,3x</a:t>
            </a:r>
            <a:endParaRPr lang="en-US" sz="2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 è il founder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Giacomo Verardo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/ 58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8046720" cy="74980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51560"/>
            <a:ext cx="54864" cy="749808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18872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10972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 sistemi complessi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280160" y="1399032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Anni nella cantieristica navale e operazioni offshore (SAIPEM). Navi, cantieri, operazioni in Brasile, Africa, Cina.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48640" y="1892808"/>
            <a:ext cx="8046720" cy="74980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48640" y="1892808"/>
            <a:ext cx="54864" cy="749808"/>
          </a:xfrm>
          <a:prstGeom prst="rect">
            <a:avLst/>
          </a:prstGeom>
          <a:solidFill>
            <a:srgbClr val="06D6A0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29968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80160" y="193852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Competenza tecnologica ereditata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280160" y="2240280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anni a fianco del padre, pioniere AI in Italia. Sistemi di visione artificiale per l'industria.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48640" y="2734056"/>
            <a:ext cx="8046720" cy="74980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48640" y="2734056"/>
            <a:ext cx="54864" cy="749808"/>
          </a:xfrm>
          <a:prstGeom prst="rect">
            <a:avLst/>
          </a:prstGeom>
          <a:solidFill>
            <a:srgbClr val="FFD166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871216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80160" y="277977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1280160" y="3081528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mesi sviluppo full-time. 47.000+ LOC, 395 test, 7 motori scientifici. In uso quotidiano da una professionista reale.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48640" y="3575304"/>
            <a:ext cx="8046720" cy="74980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548640" y="3575304"/>
            <a:ext cx="54864" cy="749808"/>
          </a:xfrm>
          <a:prstGeom prst="rect">
            <a:avLst/>
          </a:prstGeom>
          <a:solidFill>
            <a:srgbClr val="F4A261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712464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280160" y="3621024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Competenza di dominio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1280160" y="3922776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Conoscenza diretta del fitness come praticante e istruttore. Intersezione tra competenza tecnica e dominio.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Piano di crescita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/ 58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8046720" cy="74980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51560"/>
            <a:ext cx="54864" cy="74980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1143000"/>
            <a:ext cx="685800" cy="2286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14300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45920" y="109728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con percorso completo  (Mesi 1-3)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645920" y="1399032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Fondatori, software/Box + IC incluso 12 mesi. 3 masterclass.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Validazione simultanea prodotto, percorso, categoria, ruolo partner.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1892808"/>
            <a:ext cx="8046720" cy="74980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1892808"/>
            <a:ext cx="54864" cy="749808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1984248"/>
            <a:ext cx="685800" cy="228600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198424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645920" y="1938528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Adopter + IC attivo  (Mesi 4-6)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645920" y="22402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Testimonial POC come leva. Network del partner. IC disponibile.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Webinar gratuito mensile. Target: 15-20 clienti, 30% con IC.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734056"/>
            <a:ext cx="8046720" cy="74980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2734056"/>
            <a:ext cx="54864" cy="749808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20" name="Shape 18"/>
          <p:cNvSpPr/>
          <p:nvPr/>
        </p:nvSpPr>
        <p:spPr>
          <a:xfrm>
            <a:off x="777240" y="2825496"/>
            <a:ext cx="685800" cy="22860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282549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645920" y="2779776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Prezzo pieno e scala  (Mesi 7-12)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645920" y="3081528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i canali attivi. IC consolidato con masterclass mensili.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Evoluto circola nel settore. Target: 3-5 vendite/mese.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3575304"/>
            <a:ext cx="8046720" cy="74980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8640" y="3575304"/>
            <a:ext cx="54864" cy="749808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3666744"/>
            <a:ext cx="685800" cy="22860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366674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645920" y="362102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Espansione  (Anno 2+)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645920" y="3922776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 a pieno regime. Fiere (RiminiWellness). Bundle Box+Tablet.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Primo collaboratore. Certificazione PT Evoluto. Versione inglese.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volano parte dalla POC: masterclass → PT Evoluto → clienti notano differenza → colleghi chiedono → passaparola → nuovi membri IC. I costi acquisizione scendono, il ricorrente sale.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Cosa cerchiamo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/ 58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8046720" cy="82296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51560"/>
            <a:ext cx="54864" cy="82296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097280"/>
            <a:ext cx="7635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PARTNER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1371600"/>
            <a:ext cx="7635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professionista fitness con esperienza, credibilità e network attivo. Non un dipendente — un partner con incentivi allineati (equity + rev share, zero costi fissi).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057400"/>
            <a:ext cx="3794760" cy="109728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057400"/>
            <a:ext cx="54864" cy="1097280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1031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NASPI ANTICIPATA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331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D6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€13.000-16.000 netti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77240" y="26517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Copre interamente le riserve personali per i primi 24 mesi. Business avviabile senza risparmi propri.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800600" y="2057400"/>
            <a:ext cx="3794760" cy="109728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00600" y="2057400"/>
            <a:ext cx="54864" cy="1097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0" y="21031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SMART&amp;START ITALIA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29200" y="2331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€50.000-100.000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029200" y="26517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Tasso zero, a sportello (no graduatorie). Richiede startup innovativa. Domanda al mese 6-7, erogazione al mese 10+.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329184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NASpI copre il founder, Smart&amp;Start copre il business. Cumulabili.</a:t>
            </a:r>
            <a:endParaRPr lang="en-US" sz="11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Dettaglio prodotto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APPENDICE A1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/ 58</a:t>
            </a:r>
            <a:endParaRPr lang="en-US" sz="8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303520"/>
                <a:gridCol w="12801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Cosa fa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Clienti, contratti, pagamenti, agenda, cassa — profilo unico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Anamnesi 6 step, misurazioni, avatar 6 viste, prontezza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Allenamento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Workout builder 3 modalità, DnD, blocchi, export PDF. DB arricchimento continuo.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Nutrizione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880 alimenti CREA, 210 ricette, 12 template LARN, piano settimanale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guidato, licenza HW-bound, backup/ripristino, diagnostica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Portale anamnesi self-service, accesso remoto Tailscale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Comunicazione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WhatsApp semi-auto (wa.me), email SMTP auto, template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Portale Allenamento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Portale cliente: sessione del giorno, registrazione esecuzione, feedback, zero app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Workout Intelligence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Compliance, dose-response muscolo×muscolo, equilibri biomeccanici, alert predittivi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572000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esercizi, 940 relazioni, 47 condizioni cliniche, 80 regole Safety Engine.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P&amp;L triennale dettagliato (scenario base)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APPENDICE A3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/ 58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RICAVI</a:t>
            </a:r>
            <a:endParaRPr lang="en-US" sz="10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1920240"/>
                <a:gridCol w="19202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Licenze software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€4.278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€5.727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€7.719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€9.672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€15.723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€25.131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Assistenza PRO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€3.700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€7.300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Inner Circle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€2.250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Fatturato totale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€17.150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€29.650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€49.650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3291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RIEPILOGO</a:t>
            </a:r>
            <a:endParaRPr lang="en-US" sz="1000" dirty="0"/>
          </a:p>
        </p:txBody>
      </p:sp>
      <p:graphicFrame>
        <p:nvGraphicFramePr>
          <p:cNvPr id="10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8046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1920240"/>
                <a:gridCol w="1920240"/>
              </a:tblGrid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Margine lordo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€12.890 (75%)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€23.825 (80%)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€40.785 (82%)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Costi operativi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€4.300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€14.000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Compenso partner (20%+35%)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€3.910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€7.160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€12.450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€4.680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€14.335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€3.600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€6.230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€6.750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Netto founder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€1.080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€1.935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€7.585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assunzioni chiave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APPENDICE A4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/ 58</a:t>
            </a:r>
            <a:endParaRPr lang="en-US" sz="8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657600"/>
                <a:gridCol w="1097280"/>
                <a:gridCol w="329184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Assunzione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Validazione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perde 3-5h/sett in admin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Ipotesi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Questionario baseline POC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disposto a pagare €249-449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EF4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Ipotesi critica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WTP POC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Box risolve il problema mobile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Ipotesi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2 Fondatori POC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 genera 8-12 lead/mese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Ipotesi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Primo trim. partnership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Conversione demo-acquisto 20-25%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Ipotesi cons.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Dati reali mesi 4-6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Rinnovo assistenza 55-60%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Ipotesi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 reale Anno 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Segmento target 10-15K PT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Stima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 6 mesi vendita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 raggiunge 20% base (base)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Ipotesi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 reale mesi 7-12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Masterclass generano adozione categoria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Ipotesi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Metriche POC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WhatsApp semi-auto riduce frizione iniziale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Ipotesi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 attivazione POC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Trainer usano 15+ msg pre-compilati/sett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Ipotesi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 reale POC gg 15-75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Professionisti disponibili a contribuire DB esercizi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Ipotesi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Primo contributo partnership/POC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Versione inglese core completabile entro 6 mesi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Ipotesi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Valutazione tecnica in corso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Clienti usano portale allenamento (7/10 attivi)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Ipotesi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 reale POC gg 15-75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Workout Intelligence differenzia da competitor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Ipotesi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Feedback POC + analisi competitor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Fatturato triennale — 3 scenari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APPENDICE — GRAFICI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/ 58</a:t>
            </a:r>
            <a:endParaRPr lang="en-US" sz="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097280"/>
          <a:ext cx="80467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Netto founder triennale — confronto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APPENDICE — GRAFICI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Business Plan v4.3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/ 58</a:t>
            </a:r>
            <a:endParaRPr lang="en-US" sz="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097280"/>
          <a:ext cx="80467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F1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0"/>
            <a:ext cx="2286000" cy="10972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Shape 1"/>
          <p:cNvSpPr/>
          <p:nvPr/>
        </p:nvSpPr>
        <p:spPr>
          <a:xfrm>
            <a:off x="9034272" y="0"/>
            <a:ext cx="109728" cy="22860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29200"/>
            <a:ext cx="2286000" cy="10972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2852928"/>
            <a:ext cx="109728" cy="22860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FitManager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Studio+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731520" y="21945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sistema completo per il Personal Trainer Evoluto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31520" y="2743200"/>
            <a:ext cx="2743200" cy="2743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0175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prodotto è completo. La prima utilizzatrice reale lo usa ogni giorno.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Cerchiamo un partner per accelerare — il business parte anche senza.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114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Giacomo Verardo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3434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 v4.3 — 27 marzo 2026 | Confidenziale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/ 58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FitManager Studio+ — Business Plan v4.3</dc:title>
  <dc:subject>Business Plan Confidenziale</dc:subject>
  <dc:creator>Giacomo Verardo</dc:creator>
  <cp:lastModifiedBy>Giacomo Verardo</cp:lastModifiedBy>
  <cp:revision>1</cp:revision>
  <dcterms:created xsi:type="dcterms:W3CDTF">2026-03-30T00:35:28Z</dcterms:created>
  <dcterms:modified xsi:type="dcterms:W3CDTF">2026-03-30T00:35:28Z</dcterms:modified>
</cp:coreProperties>
</file>