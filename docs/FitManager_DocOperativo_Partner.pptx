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OPERATIVO PARTNER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Studio+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Struttura, numeri e piano di lancio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606040"/>
            <a:ext cx="2286000" cy="3200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 |  Giacomo Verardo → Alessio Crociani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3337560"/>
            <a:ext cx="7132320" cy="1280160"/>
          </a:xfrm>
          <a:prstGeom prst="rect">
            <a:avLst/>
          </a:prstGeom>
          <a:solidFill>
            <a:srgbClr val="1E2130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4290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Alessio, hai visto il prodotto dal vivo. Sai cosa fa. Questo documento ti mostra la struttura operativa, economica e di lancio — calibrata su quello che possiamo costruire insieme.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Leggilo come una proposta aperta: dove la vedi diversamente, parliamone.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formale lunedì. Intanto, questo è il livello di dettaglio con cui lavoro.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Dove siamo oggi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è completo (v1.0.5). Non è un prototipo — è in uso quotidiano.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98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45.000+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codice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298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395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298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17830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 + biomeccanica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7744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24871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48640" y="2971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Alimenti CREA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83280" y="237744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83280" y="24871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383280" y="2971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 scientifici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2377440"/>
            <a:ext cx="2606040" cy="10058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17920" y="24871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17920" y="2971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 cliniche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 regole)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utilizzatrice reale (chinesiologia, Genova) lo usa ogni giorno. Le sue clienti ricevono schede professionali e compilano anamnesi dal telefono.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solidFill>
            <a:srgbClr val="1A2A1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manca: non il prodotto. La leva per portarlo al mercato — in Italia e fuori.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pricing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perpetua: il trainer compra una volta, il software è suo.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53035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Licenza software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280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€249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2801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12801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€219 (88%)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1828800"/>
            <a:ext cx="8046720" cy="53035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828800"/>
            <a:ext cx="54864" cy="53035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9202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Box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€449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9202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€299 (67%)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468880"/>
            <a:ext cx="8046720" cy="53035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468880"/>
            <a:ext cx="54864" cy="53035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5603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Assistenza PRO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25603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€79/anno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25603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€79 (100%)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108960"/>
            <a:ext cx="8046720" cy="53035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3108960"/>
            <a:ext cx="54864" cy="53035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Circle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32004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€249/anno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54880" y="3200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32004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€249 (100%)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987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0" y="9875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54880" y="987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17920" y="987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 lordo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" y="3794760"/>
            <a:ext cx="3840480" cy="73152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31920"/>
            <a:ext cx="320040" cy="32004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43000" y="3840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operativo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143000" y="40965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~3 vendite/mese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4754880" y="3794760"/>
            <a:ext cx="3840480" cy="73152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931920"/>
            <a:ext cx="320040" cy="32004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349240" y="3840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internazionale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5349240" y="40965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Margine per prezzo più alto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questo progetto ha bisogno di Alessio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è pronto. Il mercato no. Per muovere questo mercato servono asset specifici che non si comprano.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74980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749808"/>
          </a:xfrm>
          <a:prstGeom prst="rect">
            <a:avLst/>
          </a:prstGeom>
          <a:solidFill>
            <a:srgbClr val="00C89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 diretta catene e centri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3533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singolo accordo con una catena = 5-15 vendite.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l'ordine di grandezza.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8046720" cy="74980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148840"/>
            <a:ext cx="54864" cy="749808"/>
          </a:xfrm>
          <a:prstGeom prst="rect">
            <a:avLst/>
          </a:prstGeom>
          <a:solidFill>
            <a:srgbClr val="00C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80160" y="2221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e seguito social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114800" y="222199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Fondatori POC sono professionisti selezionati dalla rete.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qualità della POC cambia radicalmente.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017520"/>
            <a:ext cx="8046720" cy="74980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3017520"/>
            <a:ext cx="54864" cy="749808"/>
          </a:xfrm>
          <a:prstGeom prst="rect">
            <a:avLst/>
          </a:prstGeom>
          <a:solidFill>
            <a:srgbClr val="00C89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00400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090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Formazione ed eventi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14800" y="309067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masterclass Inner Circle sono sessioni condotte da una voce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riconosciuta. Valore percepito e conversione raddoppiano.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48640" y="3886200"/>
            <a:ext cx="8046720" cy="74980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48640" y="3886200"/>
            <a:ext cx="54864" cy="749808"/>
          </a:xfrm>
          <a:prstGeom prst="rect">
            <a:avLst/>
          </a:prstGeom>
          <a:solidFill>
            <a:srgbClr val="00C89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69080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80160" y="3959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Connessioni internazionali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114800" y="395935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internazionale non parte da zero — parte 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contatti reali, in mercati dove si paga di più.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L'architettura è pronta per l'internazionale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Progettato con l'internazionalizzazione nell'architettura, non come adattamento.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8046720" cy="59436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325880"/>
            <a:ext cx="384048" cy="384048"/>
          </a:xfrm>
          <a:prstGeom prst="ellipse">
            <a:avLst/>
          </a:prstGeom>
          <a:solidFill>
            <a:srgbClr val="00C89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28930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Interfaccia e core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34440" y="15270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03120" y="15270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settimana/lingua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931920" y="1325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Traduzione UI, template, formati data/valuta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1947672"/>
            <a:ext cx="8046720" cy="59436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039112"/>
            <a:ext cx="384048" cy="384048"/>
          </a:xfrm>
          <a:prstGeom prst="ellipse">
            <a:avLst/>
          </a:prstGeom>
          <a:solidFill>
            <a:srgbClr val="00C89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200253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Esercizi + Safety Engine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34440" y="22402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2402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settimane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931920" y="20391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Scienza universale — serve adattamento terminologico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60904"/>
            <a:ext cx="8046720" cy="59436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2752344"/>
            <a:ext cx="384048" cy="384048"/>
          </a:xfrm>
          <a:prstGeom prst="ellipse">
            <a:avLst/>
          </a:prstGeom>
          <a:solidFill>
            <a:srgbClr val="00C89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271576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Nutrizione e compliance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34440" y="29535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103120" y="29535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mesi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931920" y="275234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nutrizionali locali (Livsmedelsverket, USDA, etc.)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374136"/>
            <a:ext cx="8046720" cy="59436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3465576"/>
            <a:ext cx="384048" cy="384048"/>
          </a:xfrm>
          <a:prstGeom prst="ellipse">
            <a:avLst/>
          </a:prstGeom>
          <a:solidFill>
            <a:srgbClr val="00C896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34290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Moduli fiscali/economici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34440" y="3666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03120" y="36667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definire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31920" y="34655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Pagamenti, fatturazione per giurisdizione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 1-2 pronti in 4-6 settimane per qualsiasi lingua. Il prodotto è pienamente utilizzabile senza i Blocchi 3-4.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Italia prima, internazionale subito dopo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8046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14400"/>
            <a:ext cx="54864" cy="80467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9875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1-6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Italia — Focus totale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10 Fondatori, consolidamento tecnico, social proof, validazione pricing e categoria PT Evoluto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8046720" cy="8046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47088"/>
            <a:ext cx="54864" cy="80467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920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67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Prep. internazionale (parallelo)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93852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 1-2 tradotti, primi contatti dalla rete di Alessio, pricing e landing page in lingua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779776"/>
            <a:ext cx="8046720" cy="8046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2779776"/>
            <a:ext cx="54864" cy="8046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8529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7-12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099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Pilota internazionale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871216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utenti pilota nel mercato target, feedback loop, Blocco 3 in sviluppo parallelo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712464"/>
            <a:ext cx="8046720" cy="8046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712464"/>
            <a:ext cx="54864" cy="804672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856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032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Due mercati attivi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3803904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 consolidata + lancio strutturato con social proof locale, pricing specifico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6 mesi: il contatto con 10-30 utenti reali farà emergere edge case che non esistono in laboratorio. Esportare prima = portare problemi dove non hai credibilità.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struttura di compenso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costi fissi. Compenso interamente legato ai ricavi generati.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8046720" cy="50292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2801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2801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Ricavi POC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150876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Licenze e Box dei 10 Fondatori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856232"/>
            <a:ext cx="8046720" cy="50292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1901952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1901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Vendite dal network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00200" y="21305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Licenze e Box via referral tracciato — Italia e internazionale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478024"/>
            <a:ext cx="8046720" cy="50292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252374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00200" y="252374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+ Inner Circle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00200" y="275234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rinnovi e abbonamenti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99816"/>
            <a:ext cx="8046720" cy="50292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" y="314553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00200" y="31455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Masterclass condotte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00200" y="337413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 live + registrate (revenue share perpetuo in libreria)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3840480" cy="7772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794760"/>
            <a:ext cx="38404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Equity: 5-8%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42336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Maturazione 4 anni, cliff 12 mesi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794760"/>
            <a:ext cx="3840480" cy="7772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794760"/>
            <a:ext cx="3840480" cy="5486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Masterclass: proprietà condivisa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42336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rev share perpetuo per ogni registrazione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Due scenari: il floor e il realistico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CONSERVATIVO — solo Italia, crescita organica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17320"/>
                <a:gridCol w="141732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€17.150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€49.650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€96.450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Alessio (cash)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€2.375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€7.500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€14.075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(6%)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Alessio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€3.975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€28.175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CALIBRATO — Italia + internazionale, leva catene e rete Alessio</a:t>
            </a:r>
            <a:endParaRPr lang="en-US" sz="10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17320"/>
                <a:gridCol w="141732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Italia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150-200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250-350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 internazionali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100-200+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Circle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50-80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100-150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€35-50K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€80-130K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€170-300K+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€285-480K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Compenso Alessio (cash)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€6-9K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€15-28K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€35-60K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€56-97K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Alessio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€3-5K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€10-20K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€30-55K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chiave tra floor e calibrato è la leva di rete — in Italia e fuori. Il floor non è il piano: è la rete di sicurezza.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cambia con la leva internazionale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esempio concreto: Nordic Wellness — centinaia di sedi, migliaia di trainer.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237744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8046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Nordic Wellness — ipotesi conservativa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contattabili tramite accordo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100-200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176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 adozione (conservativo)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15-20%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5237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Vendite da un singolo accordo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0" y="25237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15-40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871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Ricavo (pricing nordico, €349-549)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28712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€5.000-22.000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2186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(25% dei nuovi)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3218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+€1.000-2.500/anno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8046720" cy="731520"/>
          </a:xfrm>
          <a:prstGeom prst="rect">
            <a:avLst/>
          </a:prstGeom>
          <a:solidFill>
            <a:srgbClr val="1A2A1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886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singolo accordo con una catena internazionale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vale quanto 3-6 mesi di vendita organica in Italia.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Nordic Wellness non è l'unica catena. È un esempio — il primo di una serie.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POC: 10 Fondatori, 90 giorni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vendiamo subito. Prima dimostriamo — il pacchetto completo.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ricevono i Fondatori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27632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ricevono licenza software (€99) + 2 ricevono la Box (€199)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1920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12 mesi incluso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67712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2402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Fondatori riservata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587752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2560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Installazione 1:1 con il founder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5029200" y="1234440"/>
            <a:ext cx="3657600" cy="182880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5029200" y="1234440"/>
            <a:ext cx="3657600" cy="5486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17" name="Text 11"/>
          <p:cNvSpPr/>
          <p:nvPr/>
        </p:nvSpPr>
        <p:spPr>
          <a:xfrm>
            <a:off x="521208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reale: €498-698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21208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ottengono a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€99-199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5212080" y="2331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Ricavo POC: €1.190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vivo: ~€300 (2 Box)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netto: ~€300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48640" y="3337560"/>
            <a:ext cx="54864" cy="64008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22" name="Text 16"/>
          <p:cNvSpPr/>
          <p:nvPr/>
        </p:nvSpPr>
        <p:spPr>
          <a:xfrm>
            <a:off x="777240" y="33832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rete di Alessio, i 10 Fondatori sono professionisti scelti che rappresentano i profili giusti e che hanno influenza nel proprio circolo.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 POC non funziona, lo scopriamo con 10 persone e ~€1.000. Zero debito.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ruoli nella POC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temi delle masterclass nel BP sono una traccia — la struttura la definiamo insieme.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0116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Attività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Selezione 10 Fondatori dal network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Alessio + 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Installazione, setup, template WA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15-20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Check-in bisettimanali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Masterclass mese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Alessio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Webinar mese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Alessio + 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Masterclass mese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Alessio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Sessione di gruppo finale (giorno 90)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Alessio + 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Micro-sondaggi e analisi dati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Alessio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~15-20 ore / 90gg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Giacomo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~40-45 ore / 90gg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metriche che decidono tutto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9418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Ore admin risparmiate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389120" y="941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3-5h a &lt;2h/sett.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9418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344168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Messaggi WA pre-compilati/sett.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89120" y="1371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15+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371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 comunicazione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1773936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1801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risparmiato comunicazione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0" y="1801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30+ min/giorno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18013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feature chiave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03704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22311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89120" y="22311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Sopra 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2311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+ percorso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2633472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2660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 ricomprerei a prezzo pieno"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89120" y="26609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8/10 sì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660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economico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3063240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0906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clienti notano differenza"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0" y="3090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5/10 sì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0906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Volano PT Evoluto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493008"/>
            <a:ext cx="8046720" cy="347472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1520" y="3520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 definirei PT Evoluto"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0" y="35204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6/10 sì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3520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creation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4023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decisione al giorno 90: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343400"/>
            <a:ext cx="260604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40740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50+, ore dimezzate, 8+ attivi, 5+ clienti notano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383280" y="434340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440740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cautela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0" y="459028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30-50 — si aggiusta e si riparte con 5 nuovi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17920" y="434340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440740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17920" y="459028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&lt;30, &lt;6 attivi — costo totale: 3 mesi e ~€1.000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Dopo la POC: il volano Italia + internazionale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114300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14400"/>
            <a:ext cx="54864" cy="114300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9875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207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Adopter + prep. internazionale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98755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POC come leva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attivo (masterclass Alessio)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 1-2 tradotti, primi contatti nordico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IT: 15-20 clienti, 30% Inner Circle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8046720" cy="114300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1143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7-12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487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 Italia + pilota internazionale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226771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IT: tutti i canali, 3-5 vendite/mese + catene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5-10 utenti pilota mercato target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Certificazione PT Evoluto in costruzione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internazionale definito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8046720" cy="114300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7472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478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67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Due mercati attivi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35478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Italia: fiere, enti formazione, community matura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lancio con social proof locale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 bilingue — stesso sforzo, doppio bacino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SRL, brand riconosciuto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community: i 4 livelli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14400"/>
            <a:ext cx="54864" cy="6400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9875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2618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0058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Forum, knowledge base, networking, onboarding guidato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664208"/>
            <a:ext cx="8046720" cy="64008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664208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7373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€79/anno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17556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Aggiornamenti, esercizi trimestrali, template mensili, supporto &lt;24h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414016"/>
            <a:ext cx="8046720" cy="64008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2414016"/>
            <a:ext cx="54864" cy="64008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487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Circle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27614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€249/anno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50545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Masterclass mensile (Alessio), webinar, mastermind, early access, certificazione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163824"/>
            <a:ext cx="8046720" cy="64008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163824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23697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Mentorship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351129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€499-599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0" y="325526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1:1, roadmap, eventi in presenza. Max 15-20 (Anno 3+)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977640"/>
            <a:ext cx="3840480" cy="64008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4023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Alessio è il cuore dell'Inner Circle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279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Masterclass, mastermind, ospiti dalla rete, certificazione PT Evoluto.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3977640"/>
            <a:ext cx="3840480" cy="64008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023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Ogni masterclass ha 3 vite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79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→ registrazione (30% perpetuo) → 5-10 asset marketing derivati.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 come primo ingranaggio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914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D3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template pre-compilati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" y="11887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Sollecito rata, conferma appuntamento, scheda pronta, benvenuto, auguri, rinnovo.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645920"/>
            <a:ext cx="8046720" cy="73152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691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gesto: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645920" y="16916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click → WhatsApp si apre con nome, data, importo già compilati → il trainer rivede → invia.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011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di attivazione POC: primo messaggio WA inviato entro 24 ore dall'installazione.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8046720" cy="73152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651760"/>
            <a:ext cx="54864" cy="731520"/>
          </a:xfrm>
          <a:prstGeom prst="rect">
            <a:avLst/>
          </a:prstGeom>
          <a:solidFill>
            <a:srgbClr val="25D366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9748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Fondatore che mostra questo gesto a un collega è il venditore più efficace — non vende software, mostra un gesto quotidiano fatto meglio.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657600"/>
            <a:ext cx="8046720" cy="640080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79476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4300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Nota internazionale: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143000" y="39502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è dominante in Italia. In Scandinavia il canale equivalente potrebbe essere diverso (SMS, app palestra). Da validare — l'architettura dei template è la stessa, cambia il canale.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 bisogno della tua visione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Strategia e mercato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15568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15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1155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sequenza di ingresso Italia — singoli, catene, o parallelo?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435608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3560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14356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concetto PT Evoluto — il nome funziona? Come lo posizioni?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755648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7556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175564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pricing — 3 motivi per cui un PT direbbe NO anche a €99.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218541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10 Fondatori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478024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4780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47802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già nomi in mente? Che profili dalla tua rete?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798064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79806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279806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temi delle masterclass — mindset, prime 4 settimane, scalare. Cosa cambieresti?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32278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L'internazionale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5204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35204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 Wellness — percorso realistico? Accordo catena, singoli, ente formazione?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80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84048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14400" y="38404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altri mercati? UK, DACH, Spagna?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160520"/>
            <a:ext cx="8046720" cy="292608"/>
          </a:xfrm>
          <a:prstGeom prst="rect">
            <a:avLst/>
          </a:prstGeom>
          <a:solidFill>
            <a:srgbClr val="1A1D27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605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41605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6 mesi IT + pilota dal mese 7. Compatibile coi tuoi tempi?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590288"/>
            <a:ext cx="8046720" cy="502920"/>
          </a:xfrm>
          <a:prstGeom prst="rect">
            <a:avLst/>
          </a:prstGeom>
          <a:solidFill>
            <a:srgbClr val="1A2A1F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590288"/>
            <a:ext cx="54864" cy="50292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59028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So che hai idee precise di direzione e marketing. Questo è la mia struttura — adesso serve la tua. Dove la vedi diversamente?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 — Documento Operativo Partner  |  AVGV Technologies  |  Marzo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Prossimi passi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8961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 31 marzo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0" y="89611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NDA formale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896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→ Alessio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38074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Post-firma NDA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0" y="13807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BP v4.3 + Strategy Plan v3.1 completi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3807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1837944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1865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Sett. 1 aprile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18653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 operativa: visione, le 9 domande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18653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Insieme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2350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 15 aprile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86000" y="235000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Lista Fondatori (nomi)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3500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+ Giacomo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2807208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28346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0" y="28346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live per candidati Fondatori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834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(Alessio presenta)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" y="33192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Maggio 2026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86000" y="331927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Lancio POC Italia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3192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Insieme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776472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5800" y="380390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Lug-Ago 2026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286000" y="380390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Blocchi 1-2 pronti lingua target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380390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solidFill>
            <a:srgbClr val="1A1D27"/>
          </a:solidFill>
          <a:ln/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5800" y="42885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Settembre 2026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86000" y="428853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Primi contatti mercato internazionale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0" y="428853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è completo. La prima utente lo usa ogni giorno.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strategia è costruita. I numeri reggono in ogni scenario.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 è pronta per uscire dall'Italia.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286000" cy="3200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Quello che cambia tutto è la leva — e la leva sei tu.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 costruisco lo strumento. Tu costruisci il percorso.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Insieme lo portiamo dove deve andare.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4160520"/>
            <a:ext cx="2286000" cy="32004"/>
          </a:xfrm>
          <a:prstGeom prst="rect">
            <a:avLst/>
          </a:prstGeom>
          <a:solidFill>
            <a:srgbClr val="00C89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 — AVGV Technologies  |  Documento Operativo Partner v3.0 — Marzo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Documento Operativo Partner</dc:title>
  <dc:subject>PptxGenJS Presentation</dc:subject>
  <dc:creator>Giacomo Verardo — AVGV Technologies</dc:creator>
  <cp:lastModifiedBy>Giacomo Verardo — AVGV Technologies</cp:lastModifiedBy>
  <cp:revision>1</cp:revision>
  <dcterms:created xsi:type="dcterms:W3CDTF">2026-03-28T17:29:48Z</dcterms:created>
  <dcterms:modified xsi:type="dcterms:W3CDTF">2026-03-28T17:29:48Z</dcterms:modified>
</cp:coreProperties>
</file>