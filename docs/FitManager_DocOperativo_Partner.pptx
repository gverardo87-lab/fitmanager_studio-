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820"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687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109728"/>
          </a:xfrm>
          <a:prstGeom prst="rect">
            <a:avLst/>
          </a:prstGeom>
          <a:solidFill>
            <a:srgbClr val="00B4D8"/>
          </a:solidFill>
          <a:ln/>
        </p:spPr>
        <p:txBody>
          <a:bodyPr/>
          <a:lstStyle/>
          <a:p>
            <a:endParaRPr lang="it-IT"/>
          </a:p>
        </p:txBody>
      </p:sp>
      <p:sp>
        <p:nvSpPr>
          <p:cNvPr id="3" name="Shape 1"/>
          <p:cNvSpPr/>
          <p:nvPr/>
        </p:nvSpPr>
        <p:spPr>
          <a:xfrm>
            <a:off x="9034272" y="0"/>
            <a:ext cx="109728" cy="2286000"/>
          </a:xfrm>
          <a:prstGeom prst="rect">
            <a:avLst/>
          </a:prstGeom>
          <a:solidFill>
            <a:srgbClr val="00B4D8"/>
          </a:solidFill>
          <a:ln/>
        </p:spPr>
        <p:txBody>
          <a:bodyPr/>
          <a:lstStyle/>
          <a:p>
            <a:endParaRPr lang="it-IT"/>
          </a:p>
        </p:txBody>
      </p:sp>
      <p:sp>
        <p:nvSpPr>
          <p:cNvPr id="4" name="Shape 2"/>
          <p:cNvSpPr/>
          <p:nvPr/>
        </p:nvSpPr>
        <p:spPr>
          <a:xfrm>
            <a:off x="0" y="5029200"/>
            <a:ext cx="2286000" cy="109728"/>
          </a:xfrm>
          <a:prstGeom prst="rect">
            <a:avLst/>
          </a:prstGeom>
          <a:solidFill>
            <a:srgbClr val="00B4D8"/>
          </a:solidFill>
          <a:ln/>
        </p:spPr>
        <p:txBody>
          <a:bodyPr/>
          <a:lstStyle/>
          <a:p>
            <a:endParaRPr lang="it-IT"/>
          </a:p>
        </p:txBody>
      </p:sp>
      <p:sp>
        <p:nvSpPr>
          <p:cNvPr id="5" name="Shape 3"/>
          <p:cNvSpPr/>
          <p:nvPr/>
        </p:nvSpPr>
        <p:spPr>
          <a:xfrm>
            <a:off x="0" y="2852928"/>
            <a:ext cx="109728" cy="2286000"/>
          </a:xfrm>
          <a:prstGeom prst="rect">
            <a:avLst/>
          </a:prstGeom>
          <a:solidFill>
            <a:srgbClr val="00B4D8"/>
          </a:solidFill>
          <a:ln/>
        </p:spPr>
        <p:txBody>
          <a:bodyPr/>
          <a:lstStyle/>
          <a:p>
            <a:endParaRPr lang="it-IT"/>
          </a:p>
        </p:txBody>
      </p:sp>
      <p:sp>
        <p:nvSpPr>
          <p:cNvPr id="6" name="Text 4"/>
          <p:cNvSpPr/>
          <p:nvPr/>
        </p:nvSpPr>
        <p:spPr>
          <a:xfrm>
            <a:off x="731520" y="822960"/>
            <a:ext cx="7680960" cy="365760"/>
          </a:xfrm>
          <a:prstGeom prst="rect">
            <a:avLst/>
          </a:prstGeom>
          <a:noFill/>
          <a:ln/>
        </p:spPr>
        <p:txBody>
          <a:bodyPr wrap="square" lIns="0" tIns="0" rIns="0" bIns="0" rtlCol="0" anchor="ctr"/>
          <a:lstStyle/>
          <a:p>
            <a:pPr marL="0" indent="0">
              <a:buNone/>
            </a:pPr>
            <a:r>
              <a:rPr lang="en-US" sz="1200" b="1" kern="0" spc="600" dirty="0">
                <a:solidFill>
                  <a:srgbClr val="00B4D8"/>
                </a:solidFill>
                <a:latin typeface="Calibri" pitchFamily="34" charset="0"/>
                <a:ea typeface="Calibri" pitchFamily="34" charset="-122"/>
                <a:cs typeface="Calibri" pitchFamily="34" charset="-120"/>
              </a:rPr>
              <a:t>DOCUMENTO OPERATIVO PARTNER</a:t>
            </a:r>
            <a:endParaRPr lang="en-US" sz="1200" dirty="0"/>
          </a:p>
        </p:txBody>
      </p:sp>
      <p:sp>
        <p:nvSpPr>
          <p:cNvPr id="7" name="Text 5"/>
          <p:cNvSpPr/>
          <p:nvPr/>
        </p:nvSpPr>
        <p:spPr>
          <a:xfrm>
            <a:off x="731520" y="1371600"/>
            <a:ext cx="7680960" cy="1097280"/>
          </a:xfrm>
          <a:prstGeom prst="rect">
            <a:avLst/>
          </a:prstGeom>
          <a:noFill/>
          <a:ln/>
        </p:spPr>
        <p:txBody>
          <a:bodyPr wrap="square" lIns="0" tIns="0" rIns="0" bIns="0"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FitManager</a:t>
            </a:r>
            <a:endParaRPr lang="en-US" sz="4200" dirty="0"/>
          </a:p>
          <a:p>
            <a:pPr marL="0" indent="0">
              <a:buNone/>
            </a:pPr>
            <a:r>
              <a:rPr lang="en-US" sz="4200" b="1" dirty="0">
                <a:solidFill>
                  <a:srgbClr val="00B4D8"/>
                </a:solidFill>
                <a:latin typeface="Trebuchet MS" pitchFamily="34" charset="0"/>
                <a:ea typeface="Trebuchet MS" pitchFamily="34" charset="-122"/>
                <a:cs typeface="Trebuchet MS" pitchFamily="34" charset="-120"/>
              </a:rPr>
              <a:t>Studio+</a:t>
            </a:r>
            <a:endParaRPr lang="en-US" sz="4200" dirty="0"/>
          </a:p>
        </p:txBody>
      </p:sp>
      <p:sp>
        <p:nvSpPr>
          <p:cNvPr id="8" name="Text 6"/>
          <p:cNvSpPr/>
          <p:nvPr/>
        </p:nvSpPr>
        <p:spPr>
          <a:xfrm>
            <a:off x="731520" y="2468880"/>
            <a:ext cx="7680960" cy="365760"/>
          </a:xfrm>
          <a:prstGeom prst="rect">
            <a:avLst/>
          </a:prstGeom>
          <a:noFill/>
          <a:ln/>
        </p:spPr>
        <p:txBody>
          <a:bodyPr wrap="square" lIns="0" tIns="0" rIns="0" bIns="0" rtlCol="0" anchor="ctr"/>
          <a:lstStyle/>
          <a:p>
            <a:pPr marL="0" indent="0">
              <a:buNone/>
            </a:pPr>
            <a:r>
              <a:rPr lang="en-US" sz="1800" i="1" dirty="0">
                <a:solidFill>
                  <a:srgbClr val="A0AEC0"/>
                </a:solidFill>
                <a:latin typeface="Calibri" pitchFamily="34" charset="0"/>
                <a:ea typeface="Calibri" pitchFamily="34" charset="-122"/>
                <a:cs typeface="Calibri" pitchFamily="34" charset="-120"/>
              </a:rPr>
              <a:t>Struttura, numeri e piano di lancio</a:t>
            </a:r>
            <a:endParaRPr lang="en-US" sz="1800" dirty="0"/>
          </a:p>
        </p:txBody>
      </p:sp>
      <p:sp>
        <p:nvSpPr>
          <p:cNvPr id="9" name="Shape 7"/>
          <p:cNvSpPr/>
          <p:nvPr/>
        </p:nvSpPr>
        <p:spPr>
          <a:xfrm>
            <a:off x="731520" y="3017520"/>
            <a:ext cx="2743200" cy="27432"/>
          </a:xfrm>
          <a:prstGeom prst="rect">
            <a:avLst/>
          </a:prstGeom>
          <a:solidFill>
            <a:srgbClr val="00B4D8"/>
          </a:solidFill>
          <a:ln/>
        </p:spPr>
        <p:txBody>
          <a:bodyPr/>
          <a:lstStyle/>
          <a:p>
            <a:endParaRPr lang="it-IT"/>
          </a:p>
        </p:txBody>
      </p:sp>
      <p:sp>
        <p:nvSpPr>
          <p:cNvPr id="10" name="Text 8"/>
          <p:cNvSpPr/>
          <p:nvPr/>
        </p:nvSpPr>
        <p:spPr>
          <a:xfrm>
            <a:off x="731520" y="3246120"/>
            <a:ext cx="7680960" cy="731520"/>
          </a:xfrm>
          <a:prstGeom prst="rect">
            <a:avLst/>
          </a:prstGeom>
          <a:noFill/>
          <a:ln/>
        </p:spPr>
        <p:txBody>
          <a:bodyPr wrap="square" lIns="0" tIns="0" rIns="0" bIns="0" rtlCol="0" anchor="ctr"/>
          <a:lstStyle/>
          <a:p>
            <a:pPr marL="0" indent="0">
              <a:buNone/>
            </a:pPr>
            <a:r>
              <a:rPr lang="en-US" sz="1200" dirty="0">
                <a:solidFill>
                  <a:srgbClr val="A0AEC0"/>
                </a:solidFill>
                <a:latin typeface="Calibri" pitchFamily="34" charset="0"/>
                <a:ea typeface="Calibri" pitchFamily="34" charset="-122"/>
                <a:cs typeface="Calibri" pitchFamily="34" charset="-120"/>
              </a:rPr>
              <a:t>Hai visto il prodotto dal vivo. Sai cosa fa.</a:t>
            </a:r>
            <a:endParaRPr lang="en-US" sz="1200" dirty="0"/>
          </a:p>
          <a:p>
            <a:pPr marL="0" indent="0">
              <a:buNone/>
            </a:pPr>
            <a:r>
              <a:rPr lang="en-US" sz="1200" dirty="0">
                <a:solidFill>
                  <a:srgbClr val="A0AEC0"/>
                </a:solidFill>
                <a:latin typeface="Calibri" pitchFamily="34" charset="0"/>
                <a:ea typeface="Calibri" pitchFamily="34" charset="-122"/>
                <a:cs typeface="Calibri" pitchFamily="34" charset="-120"/>
              </a:rPr>
              <a:t>Questo documento ti mostra la struttura operativa, economica</a:t>
            </a:r>
            <a:endParaRPr lang="en-US" sz="1200" dirty="0"/>
          </a:p>
          <a:p>
            <a:pPr marL="0" indent="0">
              <a:buNone/>
            </a:pPr>
            <a:r>
              <a:rPr lang="en-US" sz="1200" dirty="0">
                <a:solidFill>
                  <a:srgbClr val="A0AEC0"/>
                </a:solidFill>
                <a:latin typeface="Calibri" pitchFamily="34" charset="0"/>
                <a:ea typeface="Calibri" pitchFamily="34" charset="-122"/>
                <a:cs typeface="Calibri" pitchFamily="34" charset="-120"/>
              </a:rPr>
              <a:t>e di lancio — calibrata su quello che possiamo costruire insieme.</a:t>
            </a:r>
            <a:endParaRPr lang="en-US" sz="1200" dirty="0"/>
          </a:p>
        </p:txBody>
      </p:sp>
      <p:sp>
        <p:nvSpPr>
          <p:cNvPr id="11" name="Text 9"/>
          <p:cNvSpPr/>
          <p:nvPr/>
        </p:nvSpPr>
        <p:spPr>
          <a:xfrm>
            <a:off x="731520" y="3931920"/>
            <a:ext cx="7680960" cy="274320"/>
          </a:xfrm>
          <a:prstGeom prst="rect">
            <a:avLst/>
          </a:prstGeom>
          <a:noFill/>
          <a:ln/>
        </p:spPr>
        <p:txBody>
          <a:bodyPr wrap="square" lIns="0" tIns="0" rIns="0" bIns="0" rtlCol="0" anchor="ctr"/>
          <a:lstStyle/>
          <a:p>
            <a:pPr marL="0" indent="0">
              <a:buNone/>
            </a:pPr>
            <a:r>
              <a:rPr lang="en-US" sz="1200" i="1" dirty="0">
                <a:solidFill>
                  <a:srgbClr val="FFD166"/>
                </a:solidFill>
                <a:latin typeface="Calibri" pitchFamily="34" charset="0"/>
                <a:ea typeface="Calibri" pitchFamily="34" charset="-122"/>
                <a:cs typeface="Calibri" pitchFamily="34" charset="-120"/>
              </a:rPr>
              <a:t>I termini della partnership sono la mia proposta di partenza — negoziabile.</a:t>
            </a:r>
            <a:endParaRPr lang="en-US" sz="1200" dirty="0"/>
          </a:p>
        </p:txBody>
      </p:sp>
      <p:sp>
        <p:nvSpPr>
          <p:cNvPr id="12" name="Text 10"/>
          <p:cNvSpPr/>
          <p:nvPr/>
        </p:nvSpPr>
        <p:spPr>
          <a:xfrm>
            <a:off x="731520" y="4206240"/>
            <a:ext cx="7680960" cy="27432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NDA formale entro la settimana (03 Aprile).</a:t>
            </a:r>
            <a:endParaRPr lang="en-US" sz="1100" dirty="0"/>
          </a:p>
        </p:txBody>
      </p:sp>
      <p:sp>
        <p:nvSpPr>
          <p:cNvPr id="13" name="Text 11"/>
          <p:cNvSpPr/>
          <p:nvPr/>
        </p:nvSpPr>
        <p:spPr>
          <a:xfrm>
            <a:off x="731520" y="4617720"/>
            <a:ext cx="768096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30 Marzo 2026  |  Giacomo Verardo → Alessio Crociani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Dove siamo oggi</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Il prodotto è completo. In uso quotidiano.</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2 / 22</a:t>
            </a:r>
            <a:endParaRPr lang="en-US" sz="800" dirty="0"/>
          </a:p>
        </p:txBody>
      </p:sp>
      <p:sp>
        <p:nvSpPr>
          <p:cNvPr id="6" name="Shape 4"/>
          <p:cNvSpPr/>
          <p:nvPr/>
        </p:nvSpPr>
        <p:spPr>
          <a:xfrm>
            <a:off x="548640" y="1143000"/>
            <a:ext cx="2651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5"/>
          <p:cNvSpPr/>
          <p:nvPr/>
        </p:nvSpPr>
        <p:spPr>
          <a:xfrm>
            <a:off x="548640" y="1143000"/>
            <a:ext cx="2651760" cy="45720"/>
          </a:xfrm>
          <a:prstGeom prst="rect">
            <a:avLst/>
          </a:prstGeom>
          <a:solidFill>
            <a:srgbClr val="00B4D8"/>
          </a:solidFill>
          <a:ln/>
        </p:spPr>
        <p:txBody>
          <a:bodyPr/>
          <a:lstStyle/>
          <a:p>
            <a:endParaRPr lang="it-IT"/>
          </a:p>
        </p:txBody>
      </p:sp>
      <p:sp>
        <p:nvSpPr>
          <p:cNvPr id="8" name="Text 6"/>
          <p:cNvSpPr/>
          <p:nvPr/>
        </p:nvSpPr>
        <p:spPr>
          <a:xfrm>
            <a:off x="685800" y="1280160"/>
            <a:ext cx="2377440" cy="457200"/>
          </a:xfrm>
          <a:prstGeom prst="rect">
            <a:avLst/>
          </a:prstGeom>
          <a:noFill/>
          <a:ln/>
        </p:spPr>
        <p:txBody>
          <a:bodyPr wrap="square" lIns="0" tIns="0" rIns="0" bIns="0" rtlCol="0" anchor="ctr"/>
          <a:lstStyle/>
          <a:p>
            <a:pPr marL="0" indent="0">
              <a:buNone/>
            </a:pPr>
            <a:r>
              <a:rPr lang="en-US" sz="3000" b="1" dirty="0">
                <a:solidFill>
                  <a:srgbClr val="00B4D8"/>
                </a:solidFill>
                <a:latin typeface="Trebuchet MS" pitchFamily="34" charset="0"/>
                <a:ea typeface="Trebuchet MS" pitchFamily="34" charset="-122"/>
                <a:cs typeface="Trebuchet MS" pitchFamily="34" charset="-120"/>
              </a:rPr>
              <a:t>47.000+</a:t>
            </a:r>
            <a:endParaRPr lang="en-US" sz="3000" dirty="0"/>
          </a:p>
        </p:txBody>
      </p:sp>
      <p:sp>
        <p:nvSpPr>
          <p:cNvPr id="9" name="Text 7"/>
          <p:cNvSpPr/>
          <p:nvPr/>
        </p:nvSpPr>
        <p:spPr>
          <a:xfrm>
            <a:off x="685800" y="1783080"/>
            <a:ext cx="2377440" cy="36576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Righe di codice</a:t>
            </a:r>
            <a:endParaRPr lang="en-US" sz="1100" dirty="0"/>
          </a:p>
        </p:txBody>
      </p:sp>
      <p:sp>
        <p:nvSpPr>
          <p:cNvPr id="10" name="Shape 8"/>
          <p:cNvSpPr/>
          <p:nvPr/>
        </p:nvSpPr>
        <p:spPr>
          <a:xfrm>
            <a:off x="3337560" y="1143000"/>
            <a:ext cx="2651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1" name="Shape 9"/>
          <p:cNvSpPr/>
          <p:nvPr/>
        </p:nvSpPr>
        <p:spPr>
          <a:xfrm>
            <a:off x="3337560" y="1143000"/>
            <a:ext cx="2651760" cy="45720"/>
          </a:xfrm>
          <a:prstGeom prst="rect">
            <a:avLst/>
          </a:prstGeom>
          <a:solidFill>
            <a:srgbClr val="06D6A0"/>
          </a:solidFill>
          <a:ln/>
        </p:spPr>
        <p:txBody>
          <a:bodyPr/>
          <a:lstStyle/>
          <a:p>
            <a:endParaRPr lang="it-IT"/>
          </a:p>
        </p:txBody>
      </p:sp>
      <p:sp>
        <p:nvSpPr>
          <p:cNvPr id="12" name="Text 10"/>
          <p:cNvSpPr/>
          <p:nvPr/>
        </p:nvSpPr>
        <p:spPr>
          <a:xfrm>
            <a:off x="3474720" y="1280160"/>
            <a:ext cx="2377440" cy="457200"/>
          </a:xfrm>
          <a:prstGeom prst="rect">
            <a:avLst/>
          </a:prstGeom>
          <a:noFill/>
          <a:ln/>
        </p:spPr>
        <p:txBody>
          <a:bodyPr wrap="square" lIns="0" tIns="0" rIns="0" bIns="0" rtlCol="0" anchor="ctr"/>
          <a:lstStyle/>
          <a:p>
            <a:pPr marL="0" indent="0">
              <a:buNone/>
            </a:pPr>
            <a:r>
              <a:rPr lang="en-US" sz="3000" b="1" dirty="0">
                <a:solidFill>
                  <a:srgbClr val="06D6A0"/>
                </a:solidFill>
                <a:latin typeface="Trebuchet MS" pitchFamily="34" charset="0"/>
                <a:ea typeface="Trebuchet MS" pitchFamily="34" charset="-122"/>
                <a:cs typeface="Trebuchet MS" pitchFamily="34" charset="-120"/>
              </a:rPr>
              <a:t>395</a:t>
            </a:r>
            <a:endParaRPr lang="en-US" sz="3000" dirty="0"/>
          </a:p>
        </p:txBody>
      </p:sp>
      <p:sp>
        <p:nvSpPr>
          <p:cNvPr id="13" name="Text 11"/>
          <p:cNvSpPr/>
          <p:nvPr/>
        </p:nvSpPr>
        <p:spPr>
          <a:xfrm>
            <a:off x="3474720" y="1783080"/>
            <a:ext cx="2377440" cy="36576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Test automatici</a:t>
            </a:r>
            <a:endParaRPr lang="en-US" sz="1100" dirty="0"/>
          </a:p>
        </p:txBody>
      </p:sp>
      <p:sp>
        <p:nvSpPr>
          <p:cNvPr id="14" name="Shape 12"/>
          <p:cNvSpPr/>
          <p:nvPr/>
        </p:nvSpPr>
        <p:spPr>
          <a:xfrm>
            <a:off x="6126480" y="1143000"/>
            <a:ext cx="2651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5" name="Shape 13"/>
          <p:cNvSpPr/>
          <p:nvPr/>
        </p:nvSpPr>
        <p:spPr>
          <a:xfrm>
            <a:off x="6126480" y="1143000"/>
            <a:ext cx="2651760" cy="45720"/>
          </a:xfrm>
          <a:prstGeom prst="rect">
            <a:avLst/>
          </a:prstGeom>
          <a:solidFill>
            <a:srgbClr val="FFD166"/>
          </a:solidFill>
          <a:ln/>
        </p:spPr>
        <p:txBody>
          <a:bodyPr/>
          <a:lstStyle/>
          <a:p>
            <a:endParaRPr lang="it-IT"/>
          </a:p>
        </p:txBody>
      </p:sp>
      <p:sp>
        <p:nvSpPr>
          <p:cNvPr id="16" name="Text 14"/>
          <p:cNvSpPr/>
          <p:nvPr/>
        </p:nvSpPr>
        <p:spPr>
          <a:xfrm>
            <a:off x="6263640" y="1280160"/>
            <a:ext cx="2377440" cy="457200"/>
          </a:xfrm>
          <a:prstGeom prst="rect">
            <a:avLst/>
          </a:prstGeom>
          <a:noFill/>
          <a:ln/>
        </p:spPr>
        <p:txBody>
          <a:bodyPr wrap="square" lIns="0" tIns="0" rIns="0" bIns="0" rtlCol="0" anchor="ctr"/>
          <a:lstStyle/>
          <a:p>
            <a:pPr marL="0" indent="0">
              <a:buNone/>
            </a:pPr>
            <a:r>
              <a:rPr lang="en-US" sz="3000" b="1" dirty="0">
                <a:solidFill>
                  <a:srgbClr val="FFD166"/>
                </a:solidFill>
                <a:latin typeface="Trebuchet MS" pitchFamily="34" charset="0"/>
                <a:ea typeface="Trebuchet MS" pitchFamily="34" charset="-122"/>
                <a:cs typeface="Trebuchet MS" pitchFamily="34" charset="-120"/>
              </a:rPr>
              <a:t>500</a:t>
            </a:r>
            <a:endParaRPr lang="en-US" sz="3000" dirty="0"/>
          </a:p>
        </p:txBody>
      </p:sp>
      <p:sp>
        <p:nvSpPr>
          <p:cNvPr id="17" name="Text 15"/>
          <p:cNvSpPr/>
          <p:nvPr/>
        </p:nvSpPr>
        <p:spPr>
          <a:xfrm>
            <a:off x="6263640" y="1783080"/>
            <a:ext cx="2377440" cy="36576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Esercizi con biomeccanica</a:t>
            </a:r>
            <a:endParaRPr lang="en-US" sz="1100" dirty="0"/>
          </a:p>
        </p:txBody>
      </p:sp>
      <p:sp>
        <p:nvSpPr>
          <p:cNvPr id="18" name="Shape 16"/>
          <p:cNvSpPr/>
          <p:nvPr/>
        </p:nvSpPr>
        <p:spPr>
          <a:xfrm>
            <a:off x="548640" y="2377440"/>
            <a:ext cx="2651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9" name="Shape 17"/>
          <p:cNvSpPr/>
          <p:nvPr/>
        </p:nvSpPr>
        <p:spPr>
          <a:xfrm>
            <a:off x="548640" y="2377440"/>
            <a:ext cx="2651760" cy="45720"/>
          </a:xfrm>
          <a:prstGeom prst="rect">
            <a:avLst/>
          </a:prstGeom>
          <a:solidFill>
            <a:srgbClr val="F4A261"/>
          </a:solidFill>
          <a:ln/>
        </p:spPr>
        <p:txBody>
          <a:bodyPr/>
          <a:lstStyle/>
          <a:p>
            <a:endParaRPr lang="it-IT"/>
          </a:p>
        </p:txBody>
      </p:sp>
      <p:sp>
        <p:nvSpPr>
          <p:cNvPr id="20" name="Text 18"/>
          <p:cNvSpPr/>
          <p:nvPr/>
        </p:nvSpPr>
        <p:spPr>
          <a:xfrm>
            <a:off x="685800" y="2514600"/>
            <a:ext cx="2377440" cy="457200"/>
          </a:xfrm>
          <a:prstGeom prst="rect">
            <a:avLst/>
          </a:prstGeom>
          <a:noFill/>
          <a:ln/>
        </p:spPr>
        <p:txBody>
          <a:bodyPr wrap="square" lIns="0" tIns="0" rIns="0" bIns="0" rtlCol="0" anchor="ctr"/>
          <a:lstStyle/>
          <a:p>
            <a:pPr marL="0" indent="0">
              <a:buNone/>
            </a:pPr>
            <a:r>
              <a:rPr lang="en-US" sz="3000" b="1" dirty="0">
                <a:solidFill>
                  <a:srgbClr val="F4A261"/>
                </a:solidFill>
                <a:latin typeface="Trebuchet MS" pitchFamily="34" charset="0"/>
                <a:ea typeface="Trebuchet MS" pitchFamily="34" charset="-122"/>
                <a:cs typeface="Trebuchet MS" pitchFamily="34" charset="-120"/>
              </a:rPr>
              <a:t>880</a:t>
            </a:r>
            <a:endParaRPr lang="en-US" sz="3000" dirty="0"/>
          </a:p>
        </p:txBody>
      </p:sp>
      <p:sp>
        <p:nvSpPr>
          <p:cNvPr id="21" name="Text 19"/>
          <p:cNvSpPr/>
          <p:nvPr/>
        </p:nvSpPr>
        <p:spPr>
          <a:xfrm>
            <a:off x="685800" y="3017520"/>
            <a:ext cx="2377440" cy="36576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Alimenti CREA</a:t>
            </a:r>
            <a:endParaRPr lang="en-US" sz="1100" dirty="0"/>
          </a:p>
        </p:txBody>
      </p:sp>
      <p:sp>
        <p:nvSpPr>
          <p:cNvPr id="22" name="Shape 20"/>
          <p:cNvSpPr/>
          <p:nvPr/>
        </p:nvSpPr>
        <p:spPr>
          <a:xfrm>
            <a:off x="3337560" y="2377440"/>
            <a:ext cx="2651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3" name="Shape 21"/>
          <p:cNvSpPr/>
          <p:nvPr/>
        </p:nvSpPr>
        <p:spPr>
          <a:xfrm>
            <a:off x="3337560" y="2377440"/>
            <a:ext cx="2651760" cy="45720"/>
          </a:xfrm>
          <a:prstGeom prst="rect">
            <a:avLst/>
          </a:prstGeom>
          <a:solidFill>
            <a:srgbClr val="00B4D8"/>
          </a:solidFill>
          <a:ln/>
        </p:spPr>
        <p:txBody>
          <a:bodyPr/>
          <a:lstStyle/>
          <a:p>
            <a:endParaRPr lang="it-IT"/>
          </a:p>
        </p:txBody>
      </p:sp>
      <p:sp>
        <p:nvSpPr>
          <p:cNvPr id="24" name="Text 22"/>
          <p:cNvSpPr/>
          <p:nvPr/>
        </p:nvSpPr>
        <p:spPr>
          <a:xfrm>
            <a:off x="3474720" y="2514600"/>
            <a:ext cx="2377440" cy="457200"/>
          </a:xfrm>
          <a:prstGeom prst="rect">
            <a:avLst/>
          </a:prstGeom>
          <a:noFill/>
          <a:ln/>
        </p:spPr>
        <p:txBody>
          <a:bodyPr wrap="square" lIns="0" tIns="0" rIns="0" bIns="0" rtlCol="0" anchor="ctr"/>
          <a:lstStyle/>
          <a:p>
            <a:pPr marL="0" indent="0">
              <a:buNone/>
            </a:pPr>
            <a:r>
              <a:rPr lang="en-US" sz="3000" b="1" dirty="0">
                <a:solidFill>
                  <a:srgbClr val="00B4D8"/>
                </a:solidFill>
                <a:latin typeface="Trebuchet MS" pitchFamily="34" charset="0"/>
                <a:ea typeface="Trebuchet MS" pitchFamily="34" charset="-122"/>
                <a:cs typeface="Trebuchet MS" pitchFamily="34" charset="-120"/>
              </a:rPr>
              <a:t>7</a:t>
            </a:r>
            <a:endParaRPr lang="en-US" sz="3000" dirty="0"/>
          </a:p>
        </p:txBody>
      </p:sp>
      <p:sp>
        <p:nvSpPr>
          <p:cNvPr id="25" name="Text 23"/>
          <p:cNvSpPr/>
          <p:nvPr/>
        </p:nvSpPr>
        <p:spPr>
          <a:xfrm>
            <a:off x="3474720" y="3017520"/>
            <a:ext cx="2377440" cy="36576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Motori scientifici</a:t>
            </a:r>
            <a:endParaRPr lang="en-US" sz="1100" dirty="0"/>
          </a:p>
        </p:txBody>
      </p:sp>
      <p:sp>
        <p:nvSpPr>
          <p:cNvPr id="26" name="Shape 24"/>
          <p:cNvSpPr/>
          <p:nvPr/>
        </p:nvSpPr>
        <p:spPr>
          <a:xfrm>
            <a:off x="6126480" y="2377440"/>
            <a:ext cx="2651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7" name="Shape 25"/>
          <p:cNvSpPr/>
          <p:nvPr/>
        </p:nvSpPr>
        <p:spPr>
          <a:xfrm>
            <a:off x="6126480" y="2377440"/>
            <a:ext cx="2651760" cy="45720"/>
          </a:xfrm>
          <a:prstGeom prst="rect">
            <a:avLst/>
          </a:prstGeom>
          <a:solidFill>
            <a:srgbClr val="EF476F"/>
          </a:solidFill>
          <a:ln/>
        </p:spPr>
        <p:txBody>
          <a:bodyPr/>
          <a:lstStyle/>
          <a:p>
            <a:endParaRPr lang="it-IT"/>
          </a:p>
        </p:txBody>
      </p:sp>
      <p:sp>
        <p:nvSpPr>
          <p:cNvPr id="28" name="Text 26"/>
          <p:cNvSpPr/>
          <p:nvPr/>
        </p:nvSpPr>
        <p:spPr>
          <a:xfrm>
            <a:off x="6263640" y="2514600"/>
            <a:ext cx="2377440" cy="457200"/>
          </a:xfrm>
          <a:prstGeom prst="rect">
            <a:avLst/>
          </a:prstGeom>
          <a:noFill/>
          <a:ln/>
        </p:spPr>
        <p:txBody>
          <a:bodyPr wrap="square" lIns="0" tIns="0" rIns="0" bIns="0" rtlCol="0" anchor="ctr"/>
          <a:lstStyle/>
          <a:p>
            <a:pPr marL="0" indent="0">
              <a:buNone/>
            </a:pPr>
            <a:r>
              <a:rPr lang="en-US" sz="3000" b="1" dirty="0">
                <a:solidFill>
                  <a:srgbClr val="EF476F"/>
                </a:solidFill>
                <a:latin typeface="Trebuchet MS" pitchFamily="34" charset="0"/>
                <a:ea typeface="Trebuchet MS" pitchFamily="34" charset="-122"/>
                <a:cs typeface="Trebuchet MS" pitchFamily="34" charset="-120"/>
              </a:rPr>
              <a:t>47</a:t>
            </a:r>
            <a:endParaRPr lang="en-US" sz="3000" dirty="0"/>
          </a:p>
        </p:txBody>
      </p:sp>
      <p:sp>
        <p:nvSpPr>
          <p:cNvPr id="29" name="Text 27"/>
          <p:cNvSpPr/>
          <p:nvPr/>
        </p:nvSpPr>
        <p:spPr>
          <a:xfrm>
            <a:off x="6263640" y="3017520"/>
            <a:ext cx="2377440" cy="36576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Condizioni cliniche</a:t>
            </a:r>
            <a:endParaRPr lang="en-US" sz="1100" dirty="0"/>
          </a:p>
          <a:p>
            <a:pPr marL="0" indent="0">
              <a:buNone/>
            </a:pPr>
            <a:r>
              <a:rPr lang="en-US" sz="1100" dirty="0">
                <a:solidFill>
                  <a:srgbClr val="A0AEC0"/>
                </a:solidFill>
                <a:latin typeface="Calibri" pitchFamily="34" charset="0"/>
                <a:ea typeface="Calibri" pitchFamily="34" charset="-122"/>
                <a:cs typeface="Calibri" pitchFamily="34" charset="-120"/>
              </a:rPr>
              <a:t>(80 regole)</a:t>
            </a:r>
            <a:endParaRPr lang="en-US" sz="1100" dirty="0"/>
          </a:p>
        </p:txBody>
      </p:sp>
      <p:sp>
        <p:nvSpPr>
          <p:cNvPr id="30" name="Text 28"/>
          <p:cNvSpPr/>
          <p:nvPr/>
        </p:nvSpPr>
        <p:spPr>
          <a:xfrm>
            <a:off x="548640" y="3520440"/>
            <a:ext cx="8046720" cy="54864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La prima utilizzatrice reale (chinesiologa e nutrizionista, Genova) lo usa ogni giorno da 4 </a:t>
            </a:r>
            <a:r>
              <a:rPr lang="en-US" sz="1100" dirty="0" err="1">
                <a:solidFill>
                  <a:srgbClr val="A0AEC0"/>
                </a:solidFill>
                <a:latin typeface="Calibri" pitchFamily="34" charset="0"/>
                <a:ea typeface="Calibri" pitchFamily="34" charset="-122"/>
                <a:cs typeface="Calibri" pitchFamily="34" charset="-120"/>
              </a:rPr>
              <a:t>settimane</a:t>
            </a:r>
            <a:r>
              <a:rPr lang="en-US" sz="1100" dirty="0">
                <a:solidFill>
                  <a:srgbClr val="A0AEC0"/>
                </a:solidFill>
                <a:latin typeface="Calibri" pitchFamily="34" charset="0"/>
                <a:ea typeface="Calibri" pitchFamily="34" charset="-122"/>
                <a:cs typeface="Calibri" pitchFamily="34" charset="-120"/>
              </a:rPr>
              <a:t>.</a:t>
            </a:r>
            <a:endParaRPr lang="en-US" sz="1100" dirty="0"/>
          </a:p>
          <a:p>
            <a:pPr marL="0" indent="0">
              <a:buNone/>
            </a:pPr>
            <a:r>
              <a:rPr lang="en-US" sz="1100" dirty="0">
                <a:solidFill>
                  <a:srgbClr val="A0AEC0"/>
                </a:solidFill>
                <a:latin typeface="Calibri" pitchFamily="34" charset="0"/>
                <a:ea typeface="Calibri" pitchFamily="34" charset="-122"/>
                <a:cs typeface="Calibri" pitchFamily="34" charset="-120"/>
              </a:rPr>
              <a:t>Le sue clienti ricevono schede professionali, compilano anamnesi dal telefono e da questa settimana registrano l’allenamento in tempo reale dalla nuova Workout Intelligence.</a:t>
            </a:r>
            <a:endParaRPr lang="en-US" sz="1100" dirty="0"/>
          </a:p>
        </p:txBody>
      </p:sp>
      <p:sp>
        <p:nvSpPr>
          <p:cNvPr id="31" name="Shape 29"/>
          <p:cNvSpPr/>
          <p:nvPr/>
        </p:nvSpPr>
        <p:spPr>
          <a:xfrm>
            <a:off x="548640" y="4114800"/>
            <a:ext cx="8046720" cy="502920"/>
          </a:xfrm>
          <a:prstGeom prst="rect">
            <a:avLst/>
          </a:prstGeom>
          <a:solidFill>
            <a:srgbClr val="1E2D45"/>
          </a:solidFill>
          <a:ln/>
          <a:effectLst>
            <a:outerShdw blurRad="101600" dist="38100" dir="8100000" algn="bl" rotWithShape="0">
              <a:srgbClr val="000000">
                <a:alpha val="25000"/>
              </a:srgbClr>
            </a:outerShdw>
          </a:effectLst>
        </p:spPr>
        <p:txBody>
          <a:bodyPr/>
          <a:lstStyle/>
          <a:p>
            <a:endParaRPr lang="it-IT"/>
          </a:p>
        </p:txBody>
      </p:sp>
      <p:sp>
        <p:nvSpPr>
          <p:cNvPr id="32" name="Text 30"/>
          <p:cNvSpPr/>
          <p:nvPr/>
        </p:nvSpPr>
        <p:spPr>
          <a:xfrm>
            <a:off x="731520" y="4160520"/>
            <a:ext cx="7680960" cy="365760"/>
          </a:xfrm>
          <a:prstGeom prst="rect">
            <a:avLst/>
          </a:prstGeom>
          <a:noFill/>
          <a:ln/>
        </p:spPr>
        <p:txBody>
          <a:bodyPr wrap="square" lIns="0" tIns="0" rIns="0" bIns="0" rtlCol="0" anchor="ctr"/>
          <a:lstStyle/>
          <a:p>
            <a:pPr marL="0" indent="0">
              <a:buNone/>
            </a:pPr>
            <a:r>
              <a:rPr lang="en-US" sz="1300" b="1" dirty="0">
                <a:solidFill>
                  <a:srgbClr val="FFD166"/>
                </a:solidFill>
                <a:latin typeface="Calibri" pitchFamily="34" charset="0"/>
                <a:ea typeface="Calibri" pitchFamily="34" charset="-122"/>
                <a:cs typeface="Calibri" pitchFamily="34" charset="-120"/>
              </a:rPr>
              <a:t>Cosa manca: non il prodotto. La leva commerciale per portarlo al mercato — in Italia e (</a:t>
            </a:r>
            <a:r>
              <a:rPr lang="en-US" sz="1300" b="1" dirty="0" err="1">
                <a:solidFill>
                  <a:srgbClr val="FFD166"/>
                </a:solidFill>
                <a:latin typeface="Calibri" pitchFamily="34" charset="0"/>
                <a:ea typeface="Calibri" pitchFamily="34" charset="-122"/>
                <a:cs typeface="Calibri" pitchFamily="34" charset="-120"/>
              </a:rPr>
              <a:t>soprattutto</a:t>
            </a:r>
            <a:r>
              <a:rPr lang="en-US" sz="1300" b="1" dirty="0">
                <a:solidFill>
                  <a:srgbClr val="FFD166"/>
                </a:solidFill>
                <a:latin typeface="Calibri" pitchFamily="34" charset="0"/>
                <a:ea typeface="Calibri" pitchFamily="34" charset="-122"/>
                <a:cs typeface="Calibri" pitchFamily="34" charset="-120"/>
              </a:rPr>
              <a:t>) fuori.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Il pricing</a:t>
            </a:r>
            <a:endParaRPr lang="en-US" sz="2800" dirty="0"/>
          </a:p>
        </p:txBody>
      </p:sp>
      <p:sp>
        <p:nvSpPr>
          <p:cNvPr id="3" name="Text 1"/>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4" name="Text 2"/>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3 / 22</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1828800"/>
        </p:xfrm>
        <a:graphic>
          <a:graphicData uri="http://schemas.openxmlformats.org/drawingml/2006/table">
            <a:tbl>
              <a:tblPr/>
              <a:tblGrid>
                <a:gridCol w="2560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Prodotto</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Prezzo</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Costo vivo</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Margine lordo</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Licenza software</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€249</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100" b="1" dirty="0">
                          <a:solidFill>
                            <a:srgbClr val="06D6A0"/>
                          </a:solidFill>
                          <a:latin typeface="Calibri" pitchFamily="34" charset="0"/>
                          <a:ea typeface="Calibri" pitchFamily="34" charset="-122"/>
                          <a:cs typeface="Calibri" pitchFamily="34" charset="-120"/>
                        </a:rPr>
                        <a:t>€219 (88%)</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FitManager Box</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€449</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100" b="1" dirty="0">
                          <a:solidFill>
                            <a:srgbClr val="06D6A0"/>
                          </a:solidFill>
                          <a:latin typeface="Calibri" pitchFamily="34" charset="0"/>
                          <a:ea typeface="Calibri" pitchFamily="34" charset="-122"/>
                          <a:cs typeface="Calibri" pitchFamily="34" charset="-120"/>
                        </a:rPr>
                        <a:t>€299 (67%)</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Assistenza PRO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€79/anno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100" b="1" dirty="0">
                          <a:solidFill>
                            <a:srgbClr val="06D6A0"/>
                          </a:solidFill>
                          <a:latin typeface="Calibri" pitchFamily="34" charset="0"/>
                          <a:ea typeface="Calibri" pitchFamily="34" charset="-122"/>
                          <a:cs typeface="Calibri" pitchFamily="34" charset="-120"/>
                        </a:rPr>
                        <a:t>€79 (100%)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Inner Circle</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€249/anno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100" b="1" dirty="0">
                          <a:solidFill>
                            <a:srgbClr val="06D6A0"/>
                          </a:solidFill>
                          <a:latin typeface="Calibri" pitchFamily="34" charset="0"/>
                          <a:ea typeface="Calibri" pitchFamily="34" charset="-122"/>
                          <a:cs typeface="Calibri" pitchFamily="34" charset="-120"/>
                        </a:rPr>
                        <a:t>€249 (100%)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bl>
          </a:graphicData>
        </a:graphic>
      </p:graphicFrame>
      <p:sp>
        <p:nvSpPr>
          <p:cNvPr id="6" name="Text 3"/>
          <p:cNvSpPr/>
          <p:nvPr/>
        </p:nvSpPr>
        <p:spPr>
          <a:xfrm>
            <a:off x="548640" y="3017520"/>
            <a:ext cx="8046720" cy="320040"/>
          </a:xfrm>
          <a:prstGeom prst="rect">
            <a:avLst/>
          </a:prstGeom>
          <a:noFill/>
          <a:ln/>
        </p:spPr>
        <p:txBody>
          <a:bodyPr wrap="square" lIns="0" tIns="0" rIns="0" bIns="0" rtlCol="0" anchor="ctr"/>
          <a:lstStyle/>
          <a:p>
            <a:pPr marL="0" indent="0">
              <a:buNone/>
            </a:pPr>
            <a:r>
              <a:rPr lang="en-US" sz="1200" dirty="0">
                <a:solidFill>
                  <a:srgbClr val="A0AEC0"/>
                </a:solidFill>
                <a:latin typeface="Calibri" pitchFamily="34" charset="0"/>
                <a:ea typeface="Calibri" pitchFamily="34" charset="-122"/>
                <a:cs typeface="Calibri" pitchFamily="34" charset="-120"/>
              </a:rPr>
              <a:t>Licenza perpetua: il trainer compra una volta, il software è suo. Nessun server — i dati sono locali.</a:t>
            </a:r>
            <a:endParaRPr lang="en-US" sz="1200" dirty="0"/>
          </a:p>
        </p:txBody>
      </p:sp>
      <p:sp>
        <p:nvSpPr>
          <p:cNvPr id="7" name="Shape 4"/>
          <p:cNvSpPr/>
          <p:nvPr/>
        </p:nvSpPr>
        <p:spPr>
          <a:xfrm>
            <a:off x="548640" y="3520440"/>
            <a:ext cx="3794760" cy="100584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8" name="Shape 5"/>
          <p:cNvSpPr/>
          <p:nvPr/>
        </p:nvSpPr>
        <p:spPr>
          <a:xfrm>
            <a:off x="548640" y="3520440"/>
            <a:ext cx="54864" cy="1005840"/>
          </a:xfrm>
          <a:prstGeom prst="rect">
            <a:avLst/>
          </a:prstGeom>
          <a:solidFill>
            <a:srgbClr val="00B4D8"/>
          </a:solidFill>
          <a:ln/>
        </p:spPr>
        <p:txBody>
          <a:bodyPr/>
          <a:lstStyle/>
          <a:p>
            <a:endParaRPr lang="it-IT"/>
          </a:p>
        </p:txBody>
      </p:sp>
      <p:sp>
        <p:nvSpPr>
          <p:cNvPr id="9" name="Text 6"/>
          <p:cNvSpPr/>
          <p:nvPr/>
        </p:nvSpPr>
        <p:spPr>
          <a:xfrm>
            <a:off x="777240" y="3611880"/>
            <a:ext cx="3474720" cy="365760"/>
          </a:xfrm>
          <a:prstGeom prst="rect">
            <a:avLst/>
          </a:prstGeom>
          <a:noFill/>
          <a:ln/>
        </p:spPr>
        <p:txBody>
          <a:bodyPr wrap="square" lIns="0" tIns="0" rIns="0" bIns="0" rtlCol="0" anchor="ctr"/>
          <a:lstStyle/>
          <a:p>
            <a:pPr marL="0" indent="0">
              <a:buNone/>
            </a:pPr>
            <a:r>
              <a:rPr lang="en-US" sz="2200" b="1" dirty="0">
                <a:solidFill>
                  <a:srgbClr val="00B4D8"/>
                </a:solidFill>
                <a:latin typeface="Trebuchet MS" pitchFamily="34" charset="0"/>
                <a:ea typeface="Trebuchet MS" pitchFamily="34" charset="-122"/>
                <a:cs typeface="Trebuchet MS" pitchFamily="34" charset="-120"/>
              </a:rPr>
              <a:t>~3 vendite/mese</a:t>
            </a:r>
            <a:endParaRPr lang="en-US" sz="2200" dirty="0"/>
          </a:p>
        </p:txBody>
      </p:sp>
      <p:sp>
        <p:nvSpPr>
          <p:cNvPr id="10" name="Text 7"/>
          <p:cNvSpPr/>
          <p:nvPr/>
        </p:nvSpPr>
        <p:spPr>
          <a:xfrm>
            <a:off x="777240" y="4023360"/>
            <a:ext cx="3474720" cy="27432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Break-even operativo</a:t>
            </a:r>
            <a:endParaRPr lang="en-US" sz="1100" dirty="0"/>
          </a:p>
        </p:txBody>
      </p:sp>
      <p:sp>
        <p:nvSpPr>
          <p:cNvPr id="11" name="Shape 8"/>
          <p:cNvSpPr/>
          <p:nvPr/>
        </p:nvSpPr>
        <p:spPr>
          <a:xfrm>
            <a:off x="4800600" y="3520440"/>
            <a:ext cx="3794760" cy="100584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2" name="Shape 9"/>
          <p:cNvSpPr/>
          <p:nvPr/>
        </p:nvSpPr>
        <p:spPr>
          <a:xfrm>
            <a:off x="4800600" y="3520440"/>
            <a:ext cx="54864" cy="1005840"/>
          </a:xfrm>
          <a:prstGeom prst="rect">
            <a:avLst/>
          </a:prstGeom>
          <a:solidFill>
            <a:srgbClr val="FFD166"/>
          </a:solidFill>
          <a:ln/>
        </p:spPr>
        <p:txBody>
          <a:bodyPr/>
          <a:lstStyle/>
          <a:p>
            <a:endParaRPr lang="it-IT"/>
          </a:p>
        </p:txBody>
      </p:sp>
      <p:sp>
        <p:nvSpPr>
          <p:cNvPr id="13" name="Text 10"/>
          <p:cNvSpPr/>
          <p:nvPr/>
        </p:nvSpPr>
        <p:spPr>
          <a:xfrm>
            <a:off x="5029200" y="3611880"/>
            <a:ext cx="3474720" cy="365760"/>
          </a:xfrm>
          <a:prstGeom prst="rect">
            <a:avLst/>
          </a:prstGeom>
          <a:noFill/>
          <a:ln/>
        </p:spPr>
        <p:txBody>
          <a:bodyPr wrap="square" lIns="0" tIns="0" rIns="0" bIns="0" rtlCol="0" anchor="ctr"/>
          <a:lstStyle/>
          <a:p>
            <a:pPr marL="0" indent="0">
              <a:buNone/>
            </a:pPr>
            <a:r>
              <a:rPr lang="en-US" sz="2200" b="1" dirty="0">
                <a:solidFill>
                  <a:srgbClr val="FFD166"/>
                </a:solidFill>
                <a:latin typeface="Trebuchet MS" pitchFamily="34" charset="0"/>
                <a:ea typeface="Trebuchet MS" pitchFamily="34" charset="-122"/>
                <a:cs typeface="Trebuchet MS" pitchFamily="34" charset="-120"/>
              </a:rPr>
              <a:t>Pricing internazionale</a:t>
            </a:r>
            <a:endParaRPr lang="en-US" sz="2200" dirty="0"/>
          </a:p>
        </p:txBody>
      </p:sp>
      <p:sp>
        <p:nvSpPr>
          <p:cNvPr id="14" name="Text 11"/>
          <p:cNvSpPr/>
          <p:nvPr/>
        </p:nvSpPr>
        <p:spPr>
          <a:xfrm>
            <a:off x="5029200" y="4023360"/>
            <a:ext cx="3474720" cy="36576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Margine per posizionarsi più in alto in Scandinavia e mercati maturi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Cosa porti tu al tavolo</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Per muovere un mercato che non sa di avere un problema servono asset specifici. Questi sono i tuoi.</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4 / 22</a:t>
            </a:r>
            <a:endParaRPr lang="en-US" sz="800" dirty="0"/>
          </a:p>
        </p:txBody>
      </p:sp>
      <p:sp>
        <p:nvSpPr>
          <p:cNvPr id="6" name="Shape 4"/>
          <p:cNvSpPr/>
          <p:nvPr/>
        </p:nvSpPr>
        <p:spPr>
          <a:xfrm>
            <a:off x="548640" y="1097280"/>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5"/>
          <p:cNvSpPr/>
          <p:nvPr/>
        </p:nvSpPr>
        <p:spPr>
          <a:xfrm>
            <a:off x="548640" y="1097280"/>
            <a:ext cx="54864" cy="749808"/>
          </a:xfrm>
          <a:prstGeom prst="rect">
            <a:avLst/>
          </a:prstGeom>
          <a:solidFill>
            <a:srgbClr val="00B4D8"/>
          </a:solidFill>
          <a:ln/>
        </p:spPr>
        <p:txBody>
          <a:bodyPr/>
          <a:lstStyle/>
          <a:p>
            <a:endParaRPr lang="it-IT"/>
          </a:p>
        </p:txBody>
      </p:sp>
      <p:pic>
        <p:nvPicPr>
          <p:cNvPr id="8" name="Image 0" descr="preencoded.png"/>
          <p:cNvPicPr>
            <a:picLocks noChangeAspect="1"/>
          </p:cNvPicPr>
          <p:nvPr/>
        </p:nvPicPr>
        <p:blipFill>
          <a:blip r:embed="rId3"/>
          <a:stretch>
            <a:fillRect/>
          </a:stretch>
        </p:blipFill>
        <p:spPr>
          <a:xfrm>
            <a:off x="777240" y="1234440"/>
            <a:ext cx="365760" cy="365760"/>
          </a:xfrm>
          <a:prstGeom prst="rect">
            <a:avLst/>
          </a:prstGeom>
        </p:spPr>
      </p:pic>
      <p:sp>
        <p:nvSpPr>
          <p:cNvPr id="9" name="Text 6"/>
          <p:cNvSpPr/>
          <p:nvPr/>
        </p:nvSpPr>
        <p:spPr>
          <a:xfrm>
            <a:off x="1280160" y="1143000"/>
            <a:ext cx="71323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Credibilità istituzionale nel mercato nordico</a:t>
            </a:r>
            <a:endParaRPr lang="en-US" sz="1300" dirty="0"/>
          </a:p>
        </p:txBody>
      </p:sp>
      <p:sp>
        <p:nvSpPr>
          <p:cNvPr id="10" name="Text 7"/>
          <p:cNvSpPr/>
          <p:nvPr/>
        </p:nvSpPr>
        <p:spPr>
          <a:xfrm>
            <a:off x="1280160" y="1444752"/>
            <a:ext cx="713232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5 anni miglior PT nazionale Nordic Wellness. Insegnante alla Nordic Academy of Sweden.</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Non è un contatto commerciale — è un posizionamento costruito in anni.</a:t>
            </a:r>
            <a:endParaRPr lang="en-US" sz="1050" dirty="0"/>
          </a:p>
        </p:txBody>
      </p:sp>
      <p:sp>
        <p:nvSpPr>
          <p:cNvPr id="11" name="Shape 8"/>
          <p:cNvSpPr/>
          <p:nvPr/>
        </p:nvSpPr>
        <p:spPr>
          <a:xfrm>
            <a:off x="548640" y="1938528"/>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2" name="Shape 9"/>
          <p:cNvSpPr/>
          <p:nvPr/>
        </p:nvSpPr>
        <p:spPr>
          <a:xfrm>
            <a:off x="548640" y="1938528"/>
            <a:ext cx="54864" cy="749808"/>
          </a:xfrm>
          <a:prstGeom prst="rect">
            <a:avLst/>
          </a:prstGeom>
          <a:solidFill>
            <a:srgbClr val="06D6A0"/>
          </a:solidFill>
          <a:ln/>
        </p:spPr>
        <p:txBody>
          <a:bodyPr/>
          <a:lstStyle/>
          <a:p>
            <a:endParaRPr lang="it-IT"/>
          </a:p>
        </p:txBody>
      </p:sp>
      <p:pic>
        <p:nvPicPr>
          <p:cNvPr id="13" name="Image 1" descr="preencoded.png"/>
          <p:cNvPicPr>
            <a:picLocks noChangeAspect="1"/>
          </p:cNvPicPr>
          <p:nvPr/>
        </p:nvPicPr>
        <p:blipFill>
          <a:blip r:embed="rId4"/>
          <a:stretch>
            <a:fillRect/>
          </a:stretch>
        </p:blipFill>
        <p:spPr>
          <a:xfrm>
            <a:off x="777240" y="2075688"/>
            <a:ext cx="365760" cy="365760"/>
          </a:xfrm>
          <a:prstGeom prst="rect">
            <a:avLst/>
          </a:prstGeom>
        </p:spPr>
      </p:pic>
      <p:sp>
        <p:nvSpPr>
          <p:cNvPr id="14" name="Text 10"/>
          <p:cNvSpPr/>
          <p:nvPr/>
        </p:nvSpPr>
        <p:spPr>
          <a:xfrm>
            <a:off x="1280160" y="1984248"/>
            <a:ext cx="71323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Gestione di reti di professionisti</a:t>
            </a:r>
            <a:endParaRPr lang="en-US" sz="1300" dirty="0"/>
          </a:p>
        </p:txBody>
      </p:sp>
      <p:sp>
        <p:nvSpPr>
          <p:cNvPr id="15" name="Text 11"/>
          <p:cNvSpPr/>
          <p:nvPr/>
        </p:nvSpPr>
        <p:spPr>
          <a:xfrm>
            <a:off x="1280160" y="2286000"/>
            <a:ext cx="713232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Coordinatore nazionale rete PT Technogym. Sai costruire, gestire</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e far crescere network di trainer su scala nazionale.</a:t>
            </a:r>
            <a:endParaRPr lang="en-US" sz="1050" dirty="0"/>
          </a:p>
        </p:txBody>
      </p:sp>
      <p:sp>
        <p:nvSpPr>
          <p:cNvPr id="16" name="Shape 12"/>
          <p:cNvSpPr/>
          <p:nvPr/>
        </p:nvSpPr>
        <p:spPr>
          <a:xfrm>
            <a:off x="548640" y="2779776"/>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7" name="Shape 13"/>
          <p:cNvSpPr/>
          <p:nvPr/>
        </p:nvSpPr>
        <p:spPr>
          <a:xfrm>
            <a:off x="548640" y="2779776"/>
            <a:ext cx="54864" cy="749808"/>
          </a:xfrm>
          <a:prstGeom prst="rect">
            <a:avLst/>
          </a:prstGeom>
          <a:solidFill>
            <a:srgbClr val="FFD166"/>
          </a:solidFill>
          <a:ln/>
        </p:spPr>
        <p:txBody>
          <a:bodyPr/>
          <a:lstStyle/>
          <a:p>
            <a:endParaRPr lang="it-IT"/>
          </a:p>
        </p:txBody>
      </p:sp>
      <p:pic>
        <p:nvPicPr>
          <p:cNvPr id="18" name="Image 2" descr="preencoded.png"/>
          <p:cNvPicPr>
            <a:picLocks noChangeAspect="1"/>
          </p:cNvPicPr>
          <p:nvPr/>
        </p:nvPicPr>
        <p:blipFill>
          <a:blip r:embed="rId5"/>
          <a:stretch>
            <a:fillRect/>
          </a:stretch>
        </p:blipFill>
        <p:spPr>
          <a:xfrm>
            <a:off x="777240" y="2916936"/>
            <a:ext cx="365760" cy="365760"/>
          </a:xfrm>
          <a:prstGeom prst="rect">
            <a:avLst/>
          </a:prstGeom>
        </p:spPr>
      </p:pic>
      <p:sp>
        <p:nvSpPr>
          <p:cNvPr id="19" name="Text 14"/>
          <p:cNvSpPr/>
          <p:nvPr/>
        </p:nvSpPr>
        <p:spPr>
          <a:xfrm>
            <a:off x="1280160" y="2825496"/>
            <a:ext cx="71323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Corporate wellness per brand internazionali</a:t>
            </a:r>
            <a:endParaRPr lang="en-US" sz="1300" dirty="0"/>
          </a:p>
        </p:txBody>
      </p:sp>
      <p:sp>
        <p:nvSpPr>
          <p:cNvPr id="20" name="Text 15"/>
          <p:cNvSpPr/>
          <p:nvPr/>
        </p:nvSpPr>
        <p:spPr>
          <a:xfrm>
            <a:off x="1280160" y="3127248"/>
            <a:ext cx="713232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Ferrari, Vodafone, Philip Morris, Volvo, Barilla, Marriott.</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Un verticale che FitManager non copre ancora — e che tu puoi aprire.</a:t>
            </a:r>
            <a:endParaRPr lang="en-US" sz="1050" dirty="0"/>
          </a:p>
        </p:txBody>
      </p:sp>
      <p:sp>
        <p:nvSpPr>
          <p:cNvPr id="21" name="Shape 16"/>
          <p:cNvSpPr/>
          <p:nvPr/>
        </p:nvSpPr>
        <p:spPr>
          <a:xfrm>
            <a:off x="548640" y="3621024"/>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2" name="Shape 17"/>
          <p:cNvSpPr/>
          <p:nvPr/>
        </p:nvSpPr>
        <p:spPr>
          <a:xfrm>
            <a:off x="548640" y="3621024"/>
            <a:ext cx="54864" cy="749808"/>
          </a:xfrm>
          <a:prstGeom prst="rect">
            <a:avLst/>
          </a:prstGeom>
          <a:solidFill>
            <a:srgbClr val="F4A261"/>
          </a:solidFill>
          <a:ln/>
        </p:spPr>
        <p:txBody>
          <a:bodyPr/>
          <a:lstStyle/>
          <a:p>
            <a:endParaRPr lang="it-IT"/>
          </a:p>
        </p:txBody>
      </p:sp>
      <p:pic>
        <p:nvPicPr>
          <p:cNvPr id="23" name="Image 3" descr="preencoded.png"/>
          <p:cNvPicPr>
            <a:picLocks noChangeAspect="1"/>
          </p:cNvPicPr>
          <p:nvPr/>
        </p:nvPicPr>
        <p:blipFill>
          <a:blip r:embed="rId6"/>
          <a:stretch>
            <a:fillRect/>
          </a:stretch>
        </p:blipFill>
        <p:spPr>
          <a:xfrm>
            <a:off x="777240" y="3758184"/>
            <a:ext cx="365760" cy="365760"/>
          </a:xfrm>
          <a:prstGeom prst="rect">
            <a:avLst/>
          </a:prstGeom>
        </p:spPr>
      </p:pic>
      <p:sp>
        <p:nvSpPr>
          <p:cNvPr id="24" name="Text 18"/>
          <p:cNvSpPr/>
          <p:nvPr/>
        </p:nvSpPr>
        <p:spPr>
          <a:xfrm>
            <a:off x="1280160" y="3666744"/>
            <a:ext cx="71323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18.000+ ore di metodo testato sul campo</a:t>
            </a:r>
            <a:endParaRPr lang="en-US" sz="1300" dirty="0"/>
          </a:p>
        </p:txBody>
      </p:sp>
      <p:sp>
        <p:nvSpPr>
          <p:cNvPr id="25" name="Text 19"/>
          <p:cNvSpPr/>
          <p:nvPr/>
        </p:nvSpPr>
        <p:spPr>
          <a:xfrm>
            <a:off x="1280160" y="3968496"/>
            <a:ext cx="713232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27 anni di pratica 1-to-1, mental coaching, chinesiologia.</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Una base metodologica reale per costruire insieme il percorso Inner Circle.</a:t>
            </a:r>
            <a:endParaRPr lang="en-US" sz="1050" dirty="0"/>
          </a:p>
        </p:txBody>
      </p:sp>
      <p:sp>
        <p:nvSpPr>
          <p:cNvPr id="26" name="Text 20"/>
          <p:cNvSpPr/>
          <p:nvPr/>
        </p:nvSpPr>
        <p:spPr>
          <a:xfrm>
            <a:off x="548640" y="4526280"/>
            <a:ext cx="8046720" cy="228600"/>
          </a:xfrm>
          <a:prstGeom prst="rect">
            <a:avLst/>
          </a:prstGeom>
          <a:noFill/>
          <a:ln/>
        </p:spPr>
        <p:txBody>
          <a:bodyPr wrap="square" lIns="0" tIns="0" rIns="0" bIns="0" rtlCol="0" anchor="ctr"/>
          <a:lstStyle/>
          <a:p>
            <a:pPr marL="0" indent="0">
              <a:buNone/>
            </a:pPr>
            <a:r>
              <a:rPr lang="en-US" sz="1100" i="1" dirty="0">
                <a:solidFill>
                  <a:srgbClr val="A0AEC0"/>
                </a:solidFill>
                <a:latin typeface="Calibri" pitchFamily="34" charset="0"/>
                <a:ea typeface="Calibri" pitchFamily="34" charset="-122"/>
                <a:cs typeface="Calibri" pitchFamily="34" charset="-120"/>
              </a:rPr>
              <a:t>FitManager è il motore. Quello che porti tu è la leva per metterlo in moto — in Italia e fuori.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L'architettura è pronta per l'internazionale</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Progettato con l'internazionalizzazione nell'architettura, non come adattamento.</a:t>
            </a:r>
            <a:endParaRPr lang="en-US" sz="1300" dirty="0"/>
          </a:p>
        </p:txBody>
      </p:sp>
      <p:sp>
        <p:nvSpPr>
          <p:cNvPr id="4" name="Shape 2"/>
          <p:cNvSpPr/>
          <p:nvPr/>
        </p:nvSpPr>
        <p:spPr>
          <a:xfrm>
            <a:off x="548640" y="1097280"/>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5" name="Shape 3"/>
          <p:cNvSpPr/>
          <p:nvPr/>
        </p:nvSpPr>
        <p:spPr>
          <a:xfrm>
            <a:off x="685800" y="1243584"/>
            <a:ext cx="457200" cy="457200"/>
          </a:xfrm>
          <a:prstGeom prst="ellipse">
            <a:avLst/>
          </a:prstGeom>
          <a:solidFill>
            <a:srgbClr val="00B4D8"/>
          </a:solidFill>
          <a:ln/>
        </p:spPr>
        <p:txBody>
          <a:bodyPr/>
          <a:lstStyle/>
          <a:p>
            <a:endParaRPr lang="it-IT"/>
          </a:p>
        </p:txBody>
      </p:sp>
      <p:sp>
        <p:nvSpPr>
          <p:cNvPr id="6" name="Text 4"/>
          <p:cNvSpPr/>
          <p:nvPr/>
        </p:nvSpPr>
        <p:spPr>
          <a:xfrm>
            <a:off x="685800" y="1243584"/>
            <a:ext cx="457200" cy="457200"/>
          </a:xfrm>
          <a:prstGeom prst="rect">
            <a:avLst/>
          </a:prstGeom>
          <a:noFill/>
          <a:ln/>
        </p:spPr>
        <p:txBody>
          <a:bodyPr wrap="square" lIns="0" tIns="0" rIns="0" bIns="0" rtlCol="0" anchor="ctr"/>
          <a:lstStyle/>
          <a:p>
            <a:pPr marL="0" indent="0" algn="ctr">
              <a:buNone/>
            </a:pPr>
            <a:r>
              <a:rPr lang="en-US" sz="1800" b="1" dirty="0">
                <a:solidFill>
                  <a:srgbClr val="0F1629"/>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1325880" y="1170432"/>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Interfaccia e core</a:t>
            </a:r>
            <a:endParaRPr lang="en-US" sz="1300" dirty="0"/>
          </a:p>
        </p:txBody>
      </p:sp>
      <p:sp>
        <p:nvSpPr>
          <p:cNvPr id="8" name="Text 6"/>
          <p:cNvSpPr/>
          <p:nvPr/>
        </p:nvSpPr>
        <p:spPr>
          <a:xfrm>
            <a:off x="1325880" y="1463040"/>
            <a:ext cx="5029200" cy="32004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Traduzione UI, template, formati data/valuta. ~1 settimana per lingua.</a:t>
            </a:r>
            <a:endParaRPr lang="en-US" sz="1050" dirty="0"/>
          </a:p>
        </p:txBody>
      </p:sp>
      <p:sp>
        <p:nvSpPr>
          <p:cNvPr id="9" name="Shape 7"/>
          <p:cNvSpPr/>
          <p:nvPr/>
        </p:nvSpPr>
        <p:spPr>
          <a:xfrm>
            <a:off x="7132320" y="1280160"/>
            <a:ext cx="1280160" cy="365760"/>
          </a:xfrm>
          <a:prstGeom prst="rect">
            <a:avLst/>
          </a:prstGeom>
          <a:solidFill>
            <a:srgbClr val="06D6A0"/>
          </a:solidFill>
          <a:ln/>
          <a:effectLst>
            <a:outerShdw blurRad="101600" dist="38100" dir="8100000" algn="bl" rotWithShape="0">
              <a:srgbClr val="000000">
                <a:alpha val="25000"/>
              </a:srgbClr>
            </a:outerShdw>
          </a:effectLst>
        </p:spPr>
        <p:txBody>
          <a:bodyPr/>
          <a:lstStyle/>
          <a:p>
            <a:endParaRPr lang="it-IT"/>
          </a:p>
        </p:txBody>
      </p:sp>
      <p:sp>
        <p:nvSpPr>
          <p:cNvPr id="10" name="Text 8"/>
          <p:cNvSpPr/>
          <p:nvPr/>
        </p:nvSpPr>
        <p:spPr>
          <a:xfrm>
            <a:off x="7132320" y="1280160"/>
            <a:ext cx="1280160" cy="365760"/>
          </a:xfrm>
          <a:prstGeom prst="rect">
            <a:avLst/>
          </a:prstGeom>
          <a:noFill/>
          <a:ln/>
        </p:spPr>
        <p:txBody>
          <a:bodyPr wrap="square" lIns="0" tIns="0" rIns="0" bIns="0" rtlCol="0" anchor="ctr"/>
          <a:lstStyle/>
          <a:p>
            <a:pPr marL="0" indent="0" algn="ctr">
              <a:buNone/>
            </a:pPr>
            <a:r>
              <a:rPr lang="en-US" sz="1100" b="1" dirty="0">
                <a:solidFill>
                  <a:srgbClr val="0F1629"/>
                </a:solidFill>
                <a:latin typeface="Calibri" pitchFamily="34" charset="0"/>
                <a:ea typeface="Calibri" pitchFamily="34" charset="-122"/>
                <a:cs typeface="Calibri" pitchFamily="34" charset="-120"/>
              </a:rPr>
              <a:t>BASSA</a:t>
            </a:r>
            <a:endParaRPr lang="en-US" sz="1100" dirty="0"/>
          </a:p>
        </p:txBody>
      </p:sp>
      <p:sp>
        <p:nvSpPr>
          <p:cNvPr id="11" name="Shape 9"/>
          <p:cNvSpPr/>
          <p:nvPr/>
        </p:nvSpPr>
        <p:spPr>
          <a:xfrm>
            <a:off x="548640" y="1938528"/>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2" name="Shape 10"/>
          <p:cNvSpPr/>
          <p:nvPr/>
        </p:nvSpPr>
        <p:spPr>
          <a:xfrm>
            <a:off x="685800" y="2084832"/>
            <a:ext cx="457200" cy="457200"/>
          </a:xfrm>
          <a:prstGeom prst="ellipse">
            <a:avLst/>
          </a:prstGeom>
          <a:solidFill>
            <a:srgbClr val="00B4D8"/>
          </a:solidFill>
          <a:ln/>
        </p:spPr>
        <p:txBody>
          <a:bodyPr/>
          <a:lstStyle/>
          <a:p>
            <a:endParaRPr lang="it-IT"/>
          </a:p>
        </p:txBody>
      </p:sp>
      <p:sp>
        <p:nvSpPr>
          <p:cNvPr id="13" name="Text 11"/>
          <p:cNvSpPr/>
          <p:nvPr/>
        </p:nvSpPr>
        <p:spPr>
          <a:xfrm>
            <a:off x="685800" y="2084832"/>
            <a:ext cx="457200" cy="457200"/>
          </a:xfrm>
          <a:prstGeom prst="rect">
            <a:avLst/>
          </a:prstGeom>
          <a:noFill/>
          <a:ln/>
        </p:spPr>
        <p:txBody>
          <a:bodyPr wrap="square" lIns="0" tIns="0" rIns="0" bIns="0" rtlCol="0" anchor="ctr"/>
          <a:lstStyle/>
          <a:p>
            <a:pPr marL="0" indent="0" algn="ctr">
              <a:buNone/>
            </a:pPr>
            <a:r>
              <a:rPr lang="en-US" sz="1800" b="1" dirty="0">
                <a:solidFill>
                  <a:srgbClr val="0F1629"/>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1325880" y="2011680"/>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Esercizi e Safety Engine</a:t>
            </a:r>
            <a:endParaRPr lang="en-US" sz="1300" dirty="0"/>
          </a:p>
        </p:txBody>
      </p:sp>
      <p:sp>
        <p:nvSpPr>
          <p:cNvPr id="15" name="Text 13"/>
          <p:cNvSpPr/>
          <p:nvPr/>
        </p:nvSpPr>
        <p:spPr>
          <a:xfrm>
            <a:off x="1325880" y="2304288"/>
            <a:ext cx="5029200" cy="32004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La scienza è universale. Serve adattamento terminologico professionale. 2-4 settimane.</a:t>
            </a:r>
            <a:endParaRPr lang="en-US" sz="1050" dirty="0"/>
          </a:p>
        </p:txBody>
      </p:sp>
      <p:sp>
        <p:nvSpPr>
          <p:cNvPr id="16" name="Shape 14"/>
          <p:cNvSpPr/>
          <p:nvPr/>
        </p:nvSpPr>
        <p:spPr>
          <a:xfrm>
            <a:off x="7132320" y="2121408"/>
            <a:ext cx="1280160" cy="365760"/>
          </a:xfrm>
          <a:prstGeom prst="rect">
            <a:avLst/>
          </a:prstGeom>
          <a:solidFill>
            <a:srgbClr val="FFD166"/>
          </a:solidFill>
          <a:ln/>
          <a:effectLst>
            <a:outerShdw blurRad="101600" dist="38100" dir="8100000" algn="bl" rotWithShape="0">
              <a:srgbClr val="000000">
                <a:alpha val="25000"/>
              </a:srgbClr>
            </a:outerShdw>
          </a:effectLst>
        </p:spPr>
        <p:txBody>
          <a:bodyPr/>
          <a:lstStyle/>
          <a:p>
            <a:endParaRPr lang="it-IT"/>
          </a:p>
        </p:txBody>
      </p:sp>
      <p:sp>
        <p:nvSpPr>
          <p:cNvPr id="17" name="Text 15"/>
          <p:cNvSpPr/>
          <p:nvPr/>
        </p:nvSpPr>
        <p:spPr>
          <a:xfrm>
            <a:off x="7132320" y="2121408"/>
            <a:ext cx="1280160" cy="365760"/>
          </a:xfrm>
          <a:prstGeom prst="rect">
            <a:avLst/>
          </a:prstGeom>
          <a:noFill/>
          <a:ln/>
        </p:spPr>
        <p:txBody>
          <a:bodyPr wrap="square" lIns="0" tIns="0" rIns="0" bIns="0" rtlCol="0" anchor="ctr"/>
          <a:lstStyle/>
          <a:p>
            <a:pPr marL="0" indent="0" algn="ctr">
              <a:buNone/>
            </a:pPr>
            <a:r>
              <a:rPr lang="en-US" sz="1100" b="1" dirty="0">
                <a:solidFill>
                  <a:srgbClr val="0F1629"/>
                </a:solidFill>
                <a:latin typeface="Calibri" pitchFamily="34" charset="0"/>
                <a:ea typeface="Calibri" pitchFamily="34" charset="-122"/>
                <a:cs typeface="Calibri" pitchFamily="34" charset="-120"/>
              </a:rPr>
              <a:t>MEDIA</a:t>
            </a:r>
            <a:endParaRPr lang="en-US" sz="1100" dirty="0"/>
          </a:p>
        </p:txBody>
      </p:sp>
      <p:sp>
        <p:nvSpPr>
          <p:cNvPr id="18" name="Shape 16"/>
          <p:cNvSpPr/>
          <p:nvPr/>
        </p:nvSpPr>
        <p:spPr>
          <a:xfrm>
            <a:off x="548640" y="2779776"/>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9" name="Shape 17"/>
          <p:cNvSpPr/>
          <p:nvPr/>
        </p:nvSpPr>
        <p:spPr>
          <a:xfrm>
            <a:off x="685800" y="2926080"/>
            <a:ext cx="457200" cy="457200"/>
          </a:xfrm>
          <a:prstGeom prst="ellipse">
            <a:avLst/>
          </a:prstGeom>
          <a:solidFill>
            <a:srgbClr val="00B4D8"/>
          </a:solidFill>
          <a:ln/>
        </p:spPr>
        <p:txBody>
          <a:bodyPr/>
          <a:lstStyle/>
          <a:p>
            <a:endParaRPr lang="it-IT"/>
          </a:p>
        </p:txBody>
      </p:sp>
      <p:sp>
        <p:nvSpPr>
          <p:cNvPr id="20" name="Text 18"/>
          <p:cNvSpPr/>
          <p:nvPr/>
        </p:nvSpPr>
        <p:spPr>
          <a:xfrm>
            <a:off x="685800" y="2926080"/>
            <a:ext cx="457200" cy="457200"/>
          </a:xfrm>
          <a:prstGeom prst="rect">
            <a:avLst/>
          </a:prstGeom>
          <a:noFill/>
          <a:ln/>
        </p:spPr>
        <p:txBody>
          <a:bodyPr wrap="square" lIns="0" tIns="0" rIns="0" bIns="0" rtlCol="0" anchor="ctr"/>
          <a:lstStyle/>
          <a:p>
            <a:pPr marL="0" indent="0" algn="ctr">
              <a:buNone/>
            </a:pPr>
            <a:r>
              <a:rPr lang="en-US" sz="1800" b="1" dirty="0">
                <a:solidFill>
                  <a:srgbClr val="0F1629"/>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1325880" y="2852928"/>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Nutrizione e compliance</a:t>
            </a:r>
            <a:endParaRPr lang="en-US" sz="1300" dirty="0"/>
          </a:p>
        </p:txBody>
      </p:sp>
      <p:sp>
        <p:nvSpPr>
          <p:cNvPr id="22" name="Text 20"/>
          <p:cNvSpPr/>
          <p:nvPr/>
        </p:nvSpPr>
        <p:spPr>
          <a:xfrm>
            <a:off x="1325880" y="3145536"/>
            <a:ext cx="5029200" cy="32004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Database nutrizionali locali (Livsmedelsverket per Svezia, USDA per USA). 2-3 mesi.</a:t>
            </a:r>
            <a:endParaRPr lang="en-US" sz="1050" dirty="0"/>
          </a:p>
        </p:txBody>
      </p:sp>
      <p:sp>
        <p:nvSpPr>
          <p:cNvPr id="23" name="Shape 21"/>
          <p:cNvSpPr/>
          <p:nvPr/>
        </p:nvSpPr>
        <p:spPr>
          <a:xfrm>
            <a:off x="7132320" y="2962656"/>
            <a:ext cx="1280160" cy="365760"/>
          </a:xfrm>
          <a:prstGeom prst="rect">
            <a:avLst/>
          </a:prstGeom>
          <a:solidFill>
            <a:srgbClr val="F4A261"/>
          </a:solidFill>
          <a:ln/>
          <a:effectLst>
            <a:outerShdw blurRad="101600" dist="38100" dir="8100000" algn="bl" rotWithShape="0">
              <a:srgbClr val="000000">
                <a:alpha val="25000"/>
              </a:srgbClr>
            </a:outerShdw>
          </a:effectLst>
        </p:spPr>
        <p:txBody>
          <a:bodyPr/>
          <a:lstStyle/>
          <a:p>
            <a:endParaRPr lang="it-IT"/>
          </a:p>
        </p:txBody>
      </p:sp>
      <p:sp>
        <p:nvSpPr>
          <p:cNvPr id="24" name="Text 22"/>
          <p:cNvSpPr/>
          <p:nvPr/>
        </p:nvSpPr>
        <p:spPr>
          <a:xfrm>
            <a:off x="7132320" y="2962656"/>
            <a:ext cx="1280160" cy="365760"/>
          </a:xfrm>
          <a:prstGeom prst="rect">
            <a:avLst/>
          </a:prstGeom>
          <a:noFill/>
          <a:ln/>
        </p:spPr>
        <p:txBody>
          <a:bodyPr wrap="square" lIns="0" tIns="0" rIns="0" bIns="0" rtlCol="0" anchor="ctr"/>
          <a:lstStyle/>
          <a:p>
            <a:pPr marL="0" indent="0" algn="ctr">
              <a:buNone/>
            </a:pPr>
            <a:r>
              <a:rPr lang="en-US" sz="1100" b="1" dirty="0">
                <a:solidFill>
                  <a:srgbClr val="0F1629"/>
                </a:solidFill>
                <a:latin typeface="Calibri" pitchFamily="34" charset="0"/>
                <a:ea typeface="Calibri" pitchFamily="34" charset="-122"/>
                <a:cs typeface="Calibri" pitchFamily="34" charset="-120"/>
              </a:rPr>
              <a:t>ALTA</a:t>
            </a:r>
            <a:endParaRPr lang="en-US" sz="1100" dirty="0"/>
          </a:p>
        </p:txBody>
      </p:sp>
      <p:sp>
        <p:nvSpPr>
          <p:cNvPr id="25" name="Shape 23"/>
          <p:cNvSpPr/>
          <p:nvPr/>
        </p:nvSpPr>
        <p:spPr>
          <a:xfrm>
            <a:off x="548640" y="3621024"/>
            <a:ext cx="804672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6" name="Shape 24"/>
          <p:cNvSpPr/>
          <p:nvPr/>
        </p:nvSpPr>
        <p:spPr>
          <a:xfrm>
            <a:off x="685800" y="3767328"/>
            <a:ext cx="457200" cy="457200"/>
          </a:xfrm>
          <a:prstGeom prst="ellipse">
            <a:avLst/>
          </a:prstGeom>
          <a:solidFill>
            <a:srgbClr val="00B4D8"/>
          </a:solidFill>
          <a:ln/>
        </p:spPr>
        <p:txBody>
          <a:bodyPr/>
          <a:lstStyle/>
          <a:p>
            <a:endParaRPr lang="it-IT"/>
          </a:p>
        </p:txBody>
      </p:sp>
      <p:sp>
        <p:nvSpPr>
          <p:cNvPr id="27" name="Text 25"/>
          <p:cNvSpPr/>
          <p:nvPr/>
        </p:nvSpPr>
        <p:spPr>
          <a:xfrm>
            <a:off x="685800" y="3767328"/>
            <a:ext cx="457200" cy="457200"/>
          </a:xfrm>
          <a:prstGeom prst="rect">
            <a:avLst/>
          </a:prstGeom>
          <a:noFill/>
          <a:ln/>
        </p:spPr>
        <p:txBody>
          <a:bodyPr wrap="square" lIns="0" tIns="0" rIns="0" bIns="0" rtlCol="0" anchor="ctr"/>
          <a:lstStyle/>
          <a:p>
            <a:pPr marL="0" indent="0" algn="ctr">
              <a:buNone/>
            </a:pPr>
            <a:r>
              <a:rPr lang="en-US" sz="1800" b="1" dirty="0">
                <a:solidFill>
                  <a:srgbClr val="0F1629"/>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1325880" y="3694176"/>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Moduli fiscali ed economici</a:t>
            </a:r>
            <a:endParaRPr lang="en-US" sz="1300" dirty="0"/>
          </a:p>
        </p:txBody>
      </p:sp>
      <p:sp>
        <p:nvSpPr>
          <p:cNvPr id="29" name="Text 27"/>
          <p:cNvSpPr/>
          <p:nvPr/>
        </p:nvSpPr>
        <p:spPr>
          <a:xfrm>
            <a:off x="1325880" y="3986784"/>
            <a:ext cx="5029200" cy="32004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Pagamenti, fatturazione per giurisdizione. Da definire per mercato.</a:t>
            </a:r>
            <a:endParaRPr lang="en-US" sz="1050" dirty="0"/>
          </a:p>
        </p:txBody>
      </p:sp>
      <p:sp>
        <p:nvSpPr>
          <p:cNvPr id="30" name="Shape 28"/>
          <p:cNvSpPr/>
          <p:nvPr/>
        </p:nvSpPr>
        <p:spPr>
          <a:xfrm>
            <a:off x="7132320" y="3803904"/>
            <a:ext cx="1280160" cy="365760"/>
          </a:xfrm>
          <a:prstGeom prst="rect">
            <a:avLst/>
          </a:prstGeom>
          <a:solidFill>
            <a:srgbClr val="EF476F"/>
          </a:solidFill>
          <a:ln/>
          <a:effectLst>
            <a:outerShdw blurRad="101600" dist="38100" dir="8100000" algn="bl" rotWithShape="0">
              <a:srgbClr val="000000">
                <a:alpha val="25000"/>
              </a:srgbClr>
            </a:outerShdw>
          </a:effectLst>
        </p:spPr>
        <p:txBody>
          <a:bodyPr/>
          <a:lstStyle/>
          <a:p>
            <a:endParaRPr lang="it-IT"/>
          </a:p>
        </p:txBody>
      </p:sp>
      <p:sp>
        <p:nvSpPr>
          <p:cNvPr id="31" name="Text 29"/>
          <p:cNvSpPr/>
          <p:nvPr/>
        </p:nvSpPr>
        <p:spPr>
          <a:xfrm>
            <a:off x="7132320" y="3803904"/>
            <a:ext cx="1280160" cy="365760"/>
          </a:xfrm>
          <a:prstGeom prst="rect">
            <a:avLst/>
          </a:prstGeom>
          <a:noFill/>
          <a:ln/>
        </p:spPr>
        <p:txBody>
          <a:bodyPr wrap="square" lIns="0" tIns="0" rIns="0" bIns="0" rtlCol="0" anchor="ctr"/>
          <a:lstStyle/>
          <a:p>
            <a:pPr marL="0" indent="0" algn="ctr">
              <a:buNone/>
            </a:pPr>
            <a:r>
              <a:rPr lang="en-US" sz="1100" b="1" dirty="0">
                <a:solidFill>
                  <a:srgbClr val="0F1629"/>
                </a:solidFill>
                <a:latin typeface="Calibri" pitchFamily="34" charset="0"/>
                <a:ea typeface="Calibri" pitchFamily="34" charset="-122"/>
                <a:cs typeface="Calibri" pitchFamily="34" charset="-120"/>
              </a:rPr>
              <a:t>VARIABILE</a:t>
            </a:r>
            <a:endParaRPr lang="en-US" sz="1100" dirty="0"/>
          </a:p>
        </p:txBody>
      </p:sp>
      <p:sp>
        <p:nvSpPr>
          <p:cNvPr id="32" name="Shape 30"/>
          <p:cNvSpPr/>
          <p:nvPr/>
        </p:nvSpPr>
        <p:spPr>
          <a:xfrm>
            <a:off x="548640" y="4526280"/>
            <a:ext cx="8046720" cy="365760"/>
          </a:xfrm>
          <a:prstGeom prst="rect">
            <a:avLst/>
          </a:prstGeom>
          <a:solidFill>
            <a:srgbClr val="232F42"/>
          </a:solidFill>
          <a:ln/>
          <a:effectLst>
            <a:outerShdw blurRad="101600" dist="38100" dir="8100000" algn="bl" rotWithShape="0">
              <a:srgbClr val="000000">
                <a:alpha val="25000"/>
              </a:srgbClr>
            </a:outerShdw>
          </a:effectLst>
        </p:spPr>
        <p:txBody>
          <a:bodyPr/>
          <a:lstStyle/>
          <a:p>
            <a:endParaRPr lang="it-IT"/>
          </a:p>
        </p:txBody>
      </p:sp>
      <p:sp>
        <p:nvSpPr>
          <p:cNvPr id="33" name="Text 31"/>
          <p:cNvSpPr/>
          <p:nvPr/>
        </p:nvSpPr>
        <p:spPr>
          <a:xfrm>
            <a:off x="731520" y="4553712"/>
            <a:ext cx="7680960" cy="320040"/>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I Blocchi 1-2 possono essere pronti in svedese in 4-6 settimane. Il prodotto è pienamente utilizzabile senza i Blocchi 3-4.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Italia prima, internazionale subito dopo</a:t>
            </a:r>
            <a:endParaRPr lang="en-US" sz="2800" dirty="0"/>
          </a:p>
        </p:txBody>
      </p:sp>
      <p:sp>
        <p:nvSpPr>
          <p:cNvPr id="3" name="Text 1"/>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4" name="Text 2"/>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6 / 22</a:t>
            </a:r>
            <a:endParaRPr lang="en-US" sz="800" dirty="0"/>
          </a:p>
        </p:txBody>
      </p:sp>
      <p:sp>
        <p:nvSpPr>
          <p:cNvPr id="5" name="Shape 3"/>
          <p:cNvSpPr/>
          <p:nvPr/>
        </p:nvSpPr>
        <p:spPr>
          <a:xfrm>
            <a:off x="1417320" y="1051560"/>
            <a:ext cx="36576" cy="3246120"/>
          </a:xfrm>
          <a:prstGeom prst="rect">
            <a:avLst/>
          </a:prstGeom>
          <a:solidFill>
            <a:srgbClr val="2D3E56"/>
          </a:solidFill>
          <a:ln/>
        </p:spPr>
        <p:txBody>
          <a:bodyPr/>
          <a:lstStyle/>
          <a:p>
            <a:endParaRPr lang="it-IT"/>
          </a:p>
        </p:txBody>
      </p:sp>
      <p:sp>
        <p:nvSpPr>
          <p:cNvPr id="6" name="Shape 4"/>
          <p:cNvSpPr/>
          <p:nvPr/>
        </p:nvSpPr>
        <p:spPr>
          <a:xfrm>
            <a:off x="1271016" y="1115568"/>
            <a:ext cx="329184" cy="329184"/>
          </a:xfrm>
          <a:prstGeom prst="ellipse">
            <a:avLst/>
          </a:prstGeom>
          <a:solidFill>
            <a:srgbClr val="00B4D8"/>
          </a:solidFill>
          <a:ln/>
        </p:spPr>
        <p:txBody>
          <a:bodyPr/>
          <a:lstStyle/>
          <a:p>
            <a:endParaRPr lang="it-IT"/>
          </a:p>
        </p:txBody>
      </p:sp>
      <p:sp>
        <p:nvSpPr>
          <p:cNvPr id="7" name="Text 5"/>
          <p:cNvSpPr/>
          <p:nvPr/>
        </p:nvSpPr>
        <p:spPr>
          <a:xfrm>
            <a:off x="91440" y="1115568"/>
            <a:ext cx="1097280" cy="329184"/>
          </a:xfrm>
          <a:prstGeom prst="rect">
            <a:avLst/>
          </a:prstGeom>
          <a:noFill/>
          <a:ln/>
        </p:spPr>
        <p:txBody>
          <a:bodyPr wrap="square" lIns="0" tIns="0" rIns="0" bIns="0" rtlCol="0" anchor="ctr"/>
          <a:lstStyle/>
          <a:p>
            <a:pPr marL="0" indent="0" algn="r">
              <a:buNone/>
            </a:pPr>
            <a:r>
              <a:rPr lang="en-US" sz="900" b="1" dirty="0">
                <a:solidFill>
                  <a:srgbClr val="00B4D8"/>
                </a:solidFill>
                <a:latin typeface="Calibri" pitchFamily="34" charset="0"/>
                <a:ea typeface="Calibri" pitchFamily="34" charset="-122"/>
                <a:cs typeface="Calibri" pitchFamily="34" charset="-120"/>
              </a:rPr>
              <a:t>MESI 1-6</a:t>
            </a:r>
            <a:endParaRPr lang="en-US" sz="900" dirty="0"/>
          </a:p>
        </p:txBody>
      </p:sp>
      <p:sp>
        <p:nvSpPr>
          <p:cNvPr id="8" name="Shape 6"/>
          <p:cNvSpPr/>
          <p:nvPr/>
        </p:nvSpPr>
        <p:spPr>
          <a:xfrm>
            <a:off x="1874520" y="1005840"/>
            <a:ext cx="672084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9" name="Shape 7"/>
          <p:cNvSpPr/>
          <p:nvPr/>
        </p:nvSpPr>
        <p:spPr>
          <a:xfrm>
            <a:off x="1874520" y="1005840"/>
            <a:ext cx="54864" cy="749808"/>
          </a:xfrm>
          <a:prstGeom prst="rect">
            <a:avLst/>
          </a:prstGeom>
          <a:solidFill>
            <a:srgbClr val="00B4D8"/>
          </a:solidFill>
          <a:ln/>
        </p:spPr>
        <p:txBody>
          <a:bodyPr/>
          <a:lstStyle/>
          <a:p>
            <a:endParaRPr lang="it-IT"/>
          </a:p>
        </p:txBody>
      </p:sp>
      <p:sp>
        <p:nvSpPr>
          <p:cNvPr id="10" name="Text 8"/>
          <p:cNvSpPr/>
          <p:nvPr/>
        </p:nvSpPr>
        <p:spPr>
          <a:xfrm>
            <a:off x="2057400" y="1051560"/>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Italia. Focus totale.</a:t>
            </a:r>
            <a:endParaRPr lang="en-US" sz="1300" dirty="0"/>
          </a:p>
        </p:txBody>
      </p:sp>
      <p:sp>
        <p:nvSpPr>
          <p:cNvPr id="11" name="Text 9"/>
          <p:cNvSpPr/>
          <p:nvPr/>
        </p:nvSpPr>
        <p:spPr>
          <a:xfrm>
            <a:off x="2057400" y="1353312"/>
            <a:ext cx="640080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POC 10 Fondatori. Consolidamento tecnico con utenti reali.</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Social proof. Validazione pricing e categoria.</a:t>
            </a:r>
            <a:endParaRPr lang="en-US" sz="1050" dirty="0"/>
          </a:p>
        </p:txBody>
      </p:sp>
      <p:sp>
        <p:nvSpPr>
          <p:cNvPr id="12" name="Shape 10"/>
          <p:cNvSpPr/>
          <p:nvPr/>
        </p:nvSpPr>
        <p:spPr>
          <a:xfrm>
            <a:off x="1271016" y="1956816"/>
            <a:ext cx="329184" cy="329184"/>
          </a:xfrm>
          <a:prstGeom prst="ellipse">
            <a:avLst/>
          </a:prstGeom>
          <a:solidFill>
            <a:srgbClr val="06D6A0"/>
          </a:solidFill>
          <a:ln/>
        </p:spPr>
        <p:txBody>
          <a:bodyPr/>
          <a:lstStyle/>
          <a:p>
            <a:endParaRPr lang="it-IT"/>
          </a:p>
        </p:txBody>
      </p:sp>
      <p:sp>
        <p:nvSpPr>
          <p:cNvPr id="13" name="Text 11"/>
          <p:cNvSpPr/>
          <p:nvPr/>
        </p:nvSpPr>
        <p:spPr>
          <a:xfrm>
            <a:off x="91440" y="1956816"/>
            <a:ext cx="1097280" cy="329184"/>
          </a:xfrm>
          <a:prstGeom prst="rect">
            <a:avLst/>
          </a:prstGeom>
          <a:noFill/>
          <a:ln/>
        </p:spPr>
        <p:txBody>
          <a:bodyPr wrap="square" lIns="0" tIns="0" rIns="0" bIns="0" rtlCol="0" anchor="ctr"/>
          <a:lstStyle/>
          <a:p>
            <a:pPr marL="0" indent="0" algn="r">
              <a:buNone/>
            </a:pPr>
            <a:r>
              <a:rPr lang="en-US" sz="900" b="1" dirty="0">
                <a:solidFill>
                  <a:srgbClr val="06D6A0"/>
                </a:solidFill>
                <a:latin typeface="Calibri" pitchFamily="34" charset="0"/>
                <a:ea typeface="Calibri" pitchFamily="34" charset="-122"/>
                <a:cs typeface="Calibri" pitchFamily="34" charset="-120"/>
              </a:rPr>
              <a:t>MESI 4-6</a:t>
            </a:r>
            <a:endParaRPr lang="en-US" sz="900" dirty="0"/>
          </a:p>
        </p:txBody>
      </p:sp>
      <p:sp>
        <p:nvSpPr>
          <p:cNvPr id="14" name="Shape 12"/>
          <p:cNvSpPr/>
          <p:nvPr/>
        </p:nvSpPr>
        <p:spPr>
          <a:xfrm>
            <a:off x="1874520" y="1847088"/>
            <a:ext cx="672084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5" name="Shape 13"/>
          <p:cNvSpPr/>
          <p:nvPr/>
        </p:nvSpPr>
        <p:spPr>
          <a:xfrm>
            <a:off x="1874520" y="1847088"/>
            <a:ext cx="54864" cy="749808"/>
          </a:xfrm>
          <a:prstGeom prst="rect">
            <a:avLst/>
          </a:prstGeom>
          <a:solidFill>
            <a:srgbClr val="06D6A0"/>
          </a:solidFill>
          <a:ln/>
        </p:spPr>
        <p:txBody>
          <a:bodyPr/>
          <a:lstStyle/>
          <a:p>
            <a:endParaRPr lang="it-IT"/>
          </a:p>
        </p:txBody>
      </p:sp>
      <p:sp>
        <p:nvSpPr>
          <p:cNvPr id="16" name="Text 14"/>
          <p:cNvSpPr/>
          <p:nvPr/>
        </p:nvSpPr>
        <p:spPr>
          <a:xfrm>
            <a:off x="2057400" y="1892808"/>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Preparazione internazionale in parallelo</a:t>
            </a:r>
            <a:endParaRPr lang="en-US" sz="1300" dirty="0"/>
          </a:p>
        </p:txBody>
      </p:sp>
      <p:sp>
        <p:nvSpPr>
          <p:cNvPr id="17" name="Text 15"/>
          <p:cNvSpPr/>
          <p:nvPr/>
        </p:nvSpPr>
        <p:spPr>
          <a:xfrm>
            <a:off x="2057400" y="2194560"/>
            <a:ext cx="640080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Blocchi 1-2 tradotti. Primi contatti dalla tua rete.</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Pricing e posizionamento mercato target.</a:t>
            </a:r>
            <a:endParaRPr lang="en-US" sz="1050" dirty="0"/>
          </a:p>
        </p:txBody>
      </p:sp>
      <p:sp>
        <p:nvSpPr>
          <p:cNvPr id="18" name="Shape 16"/>
          <p:cNvSpPr/>
          <p:nvPr/>
        </p:nvSpPr>
        <p:spPr>
          <a:xfrm>
            <a:off x="1271016" y="2798064"/>
            <a:ext cx="329184" cy="329184"/>
          </a:xfrm>
          <a:prstGeom prst="ellipse">
            <a:avLst/>
          </a:prstGeom>
          <a:solidFill>
            <a:srgbClr val="FFD166"/>
          </a:solidFill>
          <a:ln/>
        </p:spPr>
        <p:txBody>
          <a:bodyPr/>
          <a:lstStyle/>
          <a:p>
            <a:endParaRPr lang="it-IT"/>
          </a:p>
        </p:txBody>
      </p:sp>
      <p:sp>
        <p:nvSpPr>
          <p:cNvPr id="19" name="Text 17"/>
          <p:cNvSpPr/>
          <p:nvPr/>
        </p:nvSpPr>
        <p:spPr>
          <a:xfrm>
            <a:off x="91440" y="2798064"/>
            <a:ext cx="1097280" cy="329184"/>
          </a:xfrm>
          <a:prstGeom prst="rect">
            <a:avLst/>
          </a:prstGeom>
          <a:noFill/>
          <a:ln/>
        </p:spPr>
        <p:txBody>
          <a:bodyPr wrap="square" lIns="0" tIns="0" rIns="0" bIns="0" rtlCol="0" anchor="ctr"/>
          <a:lstStyle/>
          <a:p>
            <a:pPr marL="0" indent="0" algn="r">
              <a:buNone/>
            </a:pPr>
            <a:r>
              <a:rPr lang="en-US" sz="900" b="1" dirty="0">
                <a:solidFill>
                  <a:srgbClr val="FFD166"/>
                </a:solidFill>
                <a:latin typeface="Calibri" pitchFamily="34" charset="0"/>
                <a:ea typeface="Calibri" pitchFamily="34" charset="-122"/>
                <a:cs typeface="Calibri" pitchFamily="34" charset="-120"/>
              </a:rPr>
              <a:t>MESI 7-12</a:t>
            </a:r>
            <a:endParaRPr lang="en-US" sz="900" dirty="0"/>
          </a:p>
        </p:txBody>
      </p:sp>
      <p:sp>
        <p:nvSpPr>
          <p:cNvPr id="20" name="Shape 18"/>
          <p:cNvSpPr/>
          <p:nvPr/>
        </p:nvSpPr>
        <p:spPr>
          <a:xfrm>
            <a:off x="1874520" y="2688336"/>
            <a:ext cx="672084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1" name="Shape 19"/>
          <p:cNvSpPr/>
          <p:nvPr/>
        </p:nvSpPr>
        <p:spPr>
          <a:xfrm>
            <a:off x="1874520" y="2688336"/>
            <a:ext cx="54864" cy="749808"/>
          </a:xfrm>
          <a:prstGeom prst="rect">
            <a:avLst/>
          </a:prstGeom>
          <a:solidFill>
            <a:srgbClr val="FFD166"/>
          </a:solidFill>
          <a:ln/>
        </p:spPr>
        <p:txBody>
          <a:bodyPr/>
          <a:lstStyle/>
          <a:p>
            <a:endParaRPr lang="it-IT"/>
          </a:p>
        </p:txBody>
      </p:sp>
      <p:sp>
        <p:nvSpPr>
          <p:cNvPr id="22" name="Text 20"/>
          <p:cNvSpPr/>
          <p:nvPr/>
        </p:nvSpPr>
        <p:spPr>
          <a:xfrm>
            <a:off x="2057400" y="2734056"/>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Pilota internazionale</a:t>
            </a:r>
            <a:endParaRPr lang="en-US" sz="1300" dirty="0"/>
          </a:p>
        </p:txBody>
      </p:sp>
      <p:sp>
        <p:nvSpPr>
          <p:cNvPr id="23" name="Text 21"/>
          <p:cNvSpPr/>
          <p:nvPr/>
        </p:nvSpPr>
        <p:spPr>
          <a:xfrm>
            <a:off x="2057400" y="3035808"/>
            <a:ext cx="640080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5-10 utenti pilota nel mercato target (es. Svezia/Nordic).</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Stessa metodologia POC, scala ridotta.</a:t>
            </a:r>
            <a:endParaRPr lang="en-US" sz="1050" dirty="0"/>
          </a:p>
        </p:txBody>
      </p:sp>
      <p:sp>
        <p:nvSpPr>
          <p:cNvPr id="24" name="Shape 22"/>
          <p:cNvSpPr/>
          <p:nvPr/>
        </p:nvSpPr>
        <p:spPr>
          <a:xfrm>
            <a:off x="1271016" y="3639312"/>
            <a:ext cx="329184" cy="329184"/>
          </a:xfrm>
          <a:prstGeom prst="ellipse">
            <a:avLst/>
          </a:prstGeom>
          <a:solidFill>
            <a:srgbClr val="F4A261"/>
          </a:solidFill>
          <a:ln/>
        </p:spPr>
        <p:txBody>
          <a:bodyPr/>
          <a:lstStyle/>
          <a:p>
            <a:endParaRPr lang="it-IT"/>
          </a:p>
        </p:txBody>
      </p:sp>
      <p:sp>
        <p:nvSpPr>
          <p:cNvPr id="25" name="Text 23"/>
          <p:cNvSpPr/>
          <p:nvPr/>
        </p:nvSpPr>
        <p:spPr>
          <a:xfrm>
            <a:off x="91440" y="3639312"/>
            <a:ext cx="1097280" cy="329184"/>
          </a:xfrm>
          <a:prstGeom prst="rect">
            <a:avLst/>
          </a:prstGeom>
          <a:noFill/>
          <a:ln/>
        </p:spPr>
        <p:txBody>
          <a:bodyPr wrap="square" lIns="0" tIns="0" rIns="0" bIns="0" rtlCol="0" anchor="ctr"/>
          <a:lstStyle/>
          <a:p>
            <a:pPr marL="0" indent="0" algn="r">
              <a:buNone/>
            </a:pPr>
            <a:r>
              <a:rPr lang="en-US" sz="900" b="1" dirty="0">
                <a:solidFill>
                  <a:srgbClr val="F4A261"/>
                </a:solidFill>
                <a:latin typeface="Calibri" pitchFamily="34" charset="0"/>
                <a:ea typeface="Calibri" pitchFamily="34" charset="-122"/>
                <a:cs typeface="Calibri" pitchFamily="34" charset="-120"/>
              </a:rPr>
              <a:t>ANNO 2+</a:t>
            </a:r>
            <a:endParaRPr lang="en-US" sz="900" dirty="0"/>
          </a:p>
        </p:txBody>
      </p:sp>
      <p:sp>
        <p:nvSpPr>
          <p:cNvPr id="26" name="Shape 24"/>
          <p:cNvSpPr/>
          <p:nvPr/>
        </p:nvSpPr>
        <p:spPr>
          <a:xfrm>
            <a:off x="1874520" y="3529584"/>
            <a:ext cx="6720840" cy="74980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7" name="Shape 25"/>
          <p:cNvSpPr/>
          <p:nvPr/>
        </p:nvSpPr>
        <p:spPr>
          <a:xfrm>
            <a:off x="1874520" y="3529584"/>
            <a:ext cx="54864" cy="749808"/>
          </a:xfrm>
          <a:prstGeom prst="rect">
            <a:avLst/>
          </a:prstGeom>
          <a:solidFill>
            <a:srgbClr val="F4A261"/>
          </a:solidFill>
          <a:ln/>
        </p:spPr>
        <p:txBody>
          <a:bodyPr/>
          <a:lstStyle/>
          <a:p>
            <a:endParaRPr lang="it-IT"/>
          </a:p>
        </p:txBody>
      </p:sp>
      <p:sp>
        <p:nvSpPr>
          <p:cNvPr id="28" name="Text 26"/>
          <p:cNvSpPr/>
          <p:nvPr/>
        </p:nvSpPr>
        <p:spPr>
          <a:xfrm>
            <a:off x="2057400" y="3575304"/>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Due mercati attivi</a:t>
            </a:r>
            <a:endParaRPr lang="en-US" sz="1300" dirty="0"/>
          </a:p>
        </p:txBody>
      </p:sp>
      <p:sp>
        <p:nvSpPr>
          <p:cNvPr id="29" name="Text 27"/>
          <p:cNvSpPr/>
          <p:nvPr/>
        </p:nvSpPr>
        <p:spPr>
          <a:xfrm>
            <a:off x="2057400" y="3877056"/>
            <a:ext cx="6400800" cy="347472"/>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Italia consolidata + lancio internazionale strutturato.</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Team, SRL, brand riconosciuto.</a:t>
            </a:r>
            <a:endParaRPr lang="en-US" sz="1050" dirty="0"/>
          </a:p>
        </p:txBody>
      </p:sp>
      <p:sp>
        <p:nvSpPr>
          <p:cNvPr id="30" name="Text 28"/>
          <p:cNvSpPr/>
          <p:nvPr/>
        </p:nvSpPr>
        <p:spPr>
          <a:xfrm>
            <a:off x="548640" y="4462272"/>
            <a:ext cx="8046720" cy="274320"/>
          </a:xfrm>
          <a:prstGeom prst="rect">
            <a:avLst/>
          </a:prstGeom>
          <a:noFill/>
          <a:ln/>
        </p:spPr>
        <p:txBody>
          <a:bodyPr wrap="square" lIns="0" tIns="0" rIns="0" bIns="0" rtlCol="0" anchor="ctr"/>
          <a:lstStyle/>
          <a:p>
            <a:pPr marL="0" indent="0">
              <a:buNone/>
            </a:pPr>
            <a:r>
              <a:rPr lang="en-US" sz="1050" i="1" dirty="0">
                <a:solidFill>
                  <a:srgbClr val="718096"/>
                </a:solidFill>
                <a:latin typeface="Calibri" pitchFamily="34" charset="0"/>
                <a:ea typeface="Calibri" pitchFamily="34" charset="-122"/>
                <a:cs typeface="Calibri" pitchFamily="34" charset="-120"/>
              </a:rPr>
              <a:t>Esportare prima di aver consolidato = portare problemi dove non hai credibilità. 6 mesi Italia non sono un freno — sono la base per partire forti fuori.</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Chi guida cosa</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Una partnership funziona se i ruoli decisionali sono chiari.</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7 / 22</a:t>
            </a:r>
            <a:endParaRPr lang="en-US" sz="800" dirty="0"/>
          </a:p>
        </p:txBody>
      </p:sp>
      <p:sp>
        <p:nvSpPr>
          <p:cNvPr id="6" name="Shape 4"/>
          <p:cNvSpPr/>
          <p:nvPr/>
        </p:nvSpPr>
        <p:spPr>
          <a:xfrm>
            <a:off x="548640" y="1097280"/>
            <a:ext cx="2560320" cy="310896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5"/>
          <p:cNvSpPr/>
          <p:nvPr/>
        </p:nvSpPr>
        <p:spPr>
          <a:xfrm>
            <a:off x="548640" y="1097280"/>
            <a:ext cx="2560320" cy="54864"/>
          </a:xfrm>
          <a:prstGeom prst="rect">
            <a:avLst/>
          </a:prstGeom>
          <a:solidFill>
            <a:srgbClr val="06D6A0"/>
          </a:solidFill>
          <a:ln/>
        </p:spPr>
        <p:txBody>
          <a:bodyPr/>
          <a:lstStyle/>
          <a:p>
            <a:endParaRPr lang="it-IT"/>
          </a:p>
        </p:txBody>
      </p:sp>
      <p:sp>
        <p:nvSpPr>
          <p:cNvPr id="8" name="Text 6"/>
          <p:cNvSpPr/>
          <p:nvPr/>
        </p:nvSpPr>
        <p:spPr>
          <a:xfrm>
            <a:off x="731520" y="1234440"/>
            <a:ext cx="2194560" cy="320040"/>
          </a:xfrm>
          <a:prstGeom prst="rect">
            <a:avLst/>
          </a:prstGeom>
          <a:noFill/>
          <a:ln/>
        </p:spPr>
        <p:txBody>
          <a:bodyPr wrap="square" lIns="0" tIns="0" rIns="0" bIns="0" rtlCol="0" anchor="ctr"/>
          <a:lstStyle/>
          <a:p>
            <a:pPr marL="0" indent="0">
              <a:buNone/>
            </a:pPr>
            <a:r>
              <a:rPr lang="en-US" sz="1500" b="1" dirty="0">
                <a:solidFill>
                  <a:srgbClr val="06D6A0"/>
                </a:solidFill>
                <a:latin typeface="Trebuchet MS" pitchFamily="34" charset="0"/>
                <a:ea typeface="Trebuchet MS" pitchFamily="34" charset="-122"/>
                <a:cs typeface="Trebuchet MS" pitchFamily="34" charset="-120"/>
              </a:rPr>
              <a:t>Tu guidi</a:t>
            </a:r>
            <a:endParaRPr lang="en-US" sz="1500" dirty="0"/>
          </a:p>
        </p:txBody>
      </p:sp>
      <p:sp>
        <p:nvSpPr>
          <p:cNvPr id="9" name="Text 7"/>
          <p:cNvSpPr/>
          <p:nvPr/>
        </p:nvSpPr>
        <p:spPr>
          <a:xfrm>
            <a:off x="731520" y="1691640"/>
            <a:ext cx="2194560" cy="22860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Selezione dei Fondatori POC</a:t>
            </a:r>
            <a:endParaRPr lang="en-US" sz="1100" dirty="0"/>
          </a:p>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Strategia di ingresso nelle catene e nel mercato internazionale</a:t>
            </a:r>
            <a:endParaRPr lang="en-US" sz="1100" dirty="0"/>
          </a:p>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Strategia corporate wellness</a:t>
            </a:r>
            <a:endParaRPr lang="en-US" sz="1100" dirty="0"/>
          </a:p>
        </p:txBody>
      </p:sp>
      <p:sp>
        <p:nvSpPr>
          <p:cNvPr id="10" name="Shape 8"/>
          <p:cNvSpPr/>
          <p:nvPr/>
        </p:nvSpPr>
        <p:spPr>
          <a:xfrm>
            <a:off x="3291840" y="1097280"/>
            <a:ext cx="2560320" cy="310896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1" name="Shape 9"/>
          <p:cNvSpPr/>
          <p:nvPr/>
        </p:nvSpPr>
        <p:spPr>
          <a:xfrm>
            <a:off x="3291840" y="1097280"/>
            <a:ext cx="2560320" cy="54864"/>
          </a:xfrm>
          <a:prstGeom prst="rect">
            <a:avLst/>
          </a:prstGeom>
          <a:solidFill>
            <a:srgbClr val="00B4D8"/>
          </a:solidFill>
          <a:ln/>
        </p:spPr>
        <p:txBody>
          <a:bodyPr/>
          <a:lstStyle/>
          <a:p>
            <a:endParaRPr lang="it-IT"/>
          </a:p>
        </p:txBody>
      </p:sp>
      <p:sp>
        <p:nvSpPr>
          <p:cNvPr id="12" name="Text 10"/>
          <p:cNvSpPr/>
          <p:nvPr/>
        </p:nvSpPr>
        <p:spPr>
          <a:xfrm>
            <a:off x="3474720" y="1234440"/>
            <a:ext cx="2194560" cy="320040"/>
          </a:xfrm>
          <a:prstGeom prst="rect">
            <a:avLst/>
          </a:prstGeom>
          <a:noFill/>
          <a:ln/>
        </p:spPr>
        <p:txBody>
          <a:bodyPr wrap="square" lIns="0" tIns="0" rIns="0" bIns="0" rtlCol="0" anchor="ctr"/>
          <a:lstStyle/>
          <a:p>
            <a:pPr marL="0" indent="0">
              <a:buNone/>
            </a:pPr>
            <a:r>
              <a:rPr lang="en-US" sz="1500" b="1" dirty="0">
                <a:solidFill>
                  <a:srgbClr val="00B4D8"/>
                </a:solidFill>
                <a:latin typeface="Trebuchet MS" pitchFamily="34" charset="0"/>
                <a:ea typeface="Trebuchet MS" pitchFamily="34" charset="-122"/>
                <a:cs typeface="Trebuchet MS" pitchFamily="34" charset="-120"/>
              </a:rPr>
              <a:t>Io guido</a:t>
            </a:r>
            <a:endParaRPr lang="en-US" sz="1500" dirty="0"/>
          </a:p>
        </p:txBody>
      </p:sp>
      <p:sp>
        <p:nvSpPr>
          <p:cNvPr id="13" name="Text 11"/>
          <p:cNvSpPr/>
          <p:nvPr/>
        </p:nvSpPr>
        <p:spPr>
          <a:xfrm>
            <a:off x="3474720" y="1691640"/>
            <a:ext cx="2194560" cy="22860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Prodotto, roadmap tecnica, architettura</a:t>
            </a:r>
            <a:endParaRPr lang="en-US" sz="1100" dirty="0"/>
          </a:p>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Supporto operativo, sviluppo e manutenzione</a:t>
            </a:r>
            <a:endParaRPr lang="en-US" sz="1100" dirty="0"/>
          </a:p>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Pricing del prodotto base (licenza, Box, PRO)</a:t>
            </a:r>
            <a:endParaRPr lang="en-US" sz="1100" dirty="0"/>
          </a:p>
        </p:txBody>
      </p:sp>
      <p:sp>
        <p:nvSpPr>
          <p:cNvPr id="14" name="Shape 12"/>
          <p:cNvSpPr/>
          <p:nvPr/>
        </p:nvSpPr>
        <p:spPr>
          <a:xfrm>
            <a:off x="6035040" y="1097280"/>
            <a:ext cx="2560320" cy="310896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5" name="Shape 13"/>
          <p:cNvSpPr/>
          <p:nvPr/>
        </p:nvSpPr>
        <p:spPr>
          <a:xfrm>
            <a:off x="6035040" y="1097280"/>
            <a:ext cx="2560320" cy="54864"/>
          </a:xfrm>
          <a:prstGeom prst="rect">
            <a:avLst/>
          </a:prstGeom>
          <a:solidFill>
            <a:srgbClr val="FFD166"/>
          </a:solidFill>
          <a:ln/>
        </p:spPr>
        <p:txBody>
          <a:bodyPr/>
          <a:lstStyle/>
          <a:p>
            <a:endParaRPr lang="it-IT"/>
          </a:p>
        </p:txBody>
      </p:sp>
      <p:sp>
        <p:nvSpPr>
          <p:cNvPr id="16" name="Text 14"/>
          <p:cNvSpPr/>
          <p:nvPr/>
        </p:nvSpPr>
        <p:spPr>
          <a:xfrm>
            <a:off x="6217920" y="1234440"/>
            <a:ext cx="2194560" cy="320040"/>
          </a:xfrm>
          <a:prstGeom prst="rect">
            <a:avLst/>
          </a:prstGeom>
          <a:noFill/>
          <a:ln/>
        </p:spPr>
        <p:txBody>
          <a:bodyPr wrap="square" lIns="0" tIns="0" rIns="0" bIns="0" rtlCol="0" anchor="ctr"/>
          <a:lstStyle/>
          <a:p>
            <a:pPr marL="0" indent="0">
              <a:buNone/>
            </a:pPr>
            <a:r>
              <a:rPr lang="en-US" sz="1500" b="1" dirty="0">
                <a:solidFill>
                  <a:srgbClr val="FFD166"/>
                </a:solidFill>
                <a:latin typeface="Trebuchet MS" pitchFamily="34" charset="0"/>
                <a:ea typeface="Trebuchet MS" pitchFamily="34" charset="-122"/>
                <a:cs typeface="Trebuchet MS" pitchFamily="34" charset="-120"/>
              </a:rPr>
              <a:t>Decidiamo insieme</a:t>
            </a:r>
            <a:endParaRPr lang="en-US" sz="1500" dirty="0"/>
          </a:p>
        </p:txBody>
      </p:sp>
      <p:sp>
        <p:nvSpPr>
          <p:cNvPr id="17" name="Text 15"/>
          <p:cNvSpPr/>
          <p:nvPr/>
        </p:nvSpPr>
        <p:spPr>
          <a:xfrm>
            <a:off x="6217920" y="1691640"/>
            <a:ext cx="2194560" cy="22860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Direzione strategica e marketing complessivo</a:t>
            </a:r>
            <a:endParaRPr lang="en-US" sz="1100" dirty="0"/>
          </a:p>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Struttura, contenuti e pricing dell’Inner Circle</a:t>
            </a:r>
            <a:endParaRPr lang="en-US" sz="1100" dirty="0"/>
          </a:p>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Timeline di espansione internazionale</a:t>
            </a:r>
            <a:endParaRPr lang="en-US" sz="1100" dirty="0"/>
          </a:p>
          <a:p>
            <a:pPr marL="342900" indent="-342900">
              <a:spcAft>
                <a:spcPts val="800"/>
              </a:spcAft>
              <a:buSzPct val="100000"/>
              <a:buChar char="•"/>
            </a:pPr>
            <a:r>
              <a:rPr lang="en-US" sz="1100" dirty="0">
                <a:solidFill>
                  <a:srgbClr val="A0AEC0"/>
                </a:solidFill>
                <a:latin typeface="Calibri" pitchFamily="34" charset="0"/>
                <a:ea typeface="Calibri" pitchFamily="34" charset="-122"/>
                <a:cs typeface="Calibri" pitchFamily="34" charset="-120"/>
              </a:rPr>
              <a:t>Criteri GO/NO-GO della POC</a:t>
            </a:r>
            <a:endParaRPr lang="en-US" sz="1100" dirty="0"/>
          </a:p>
        </p:txBody>
      </p:sp>
      <p:sp>
        <p:nvSpPr>
          <p:cNvPr id="18" name="Text 16"/>
          <p:cNvSpPr/>
          <p:nvPr/>
        </p:nvSpPr>
        <p:spPr>
          <a:xfrm>
            <a:off x="548640" y="4434840"/>
            <a:ext cx="8046720" cy="274320"/>
          </a:xfrm>
          <a:prstGeom prst="rect">
            <a:avLst/>
          </a:prstGeom>
          <a:noFill/>
          <a:ln/>
        </p:spPr>
        <p:txBody>
          <a:bodyPr wrap="square" lIns="0" tIns="0" rIns="0" bIns="0" rtlCol="0" anchor="ctr"/>
          <a:lstStyle/>
          <a:p>
            <a:pPr marL="0" indent="0">
              <a:buNone/>
            </a:pPr>
            <a:r>
              <a:rPr lang="en-US" sz="1200" b="1" i="1" dirty="0">
                <a:solidFill>
                  <a:srgbClr val="A0AEC0"/>
                </a:solidFill>
                <a:latin typeface="Calibri" pitchFamily="34" charset="0"/>
                <a:ea typeface="Calibri" pitchFamily="34" charset="-122"/>
                <a:cs typeface="Calibri" pitchFamily="34" charset="-120"/>
              </a:rPr>
              <a:t>Non è "il tuo input è benvenuto." È chi ha l'ultima parola su cosa.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 partnership a fasi</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Nessuno dei due sa ancora come funzionerà lavorare insieme.</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8 / 22</a:t>
            </a:r>
            <a:endParaRPr lang="en-US" sz="800" dirty="0"/>
          </a:p>
        </p:txBody>
      </p:sp>
      <p:sp>
        <p:nvSpPr>
          <p:cNvPr id="6" name="Shape 4"/>
          <p:cNvSpPr/>
          <p:nvPr/>
        </p:nvSpPr>
        <p:spPr>
          <a:xfrm>
            <a:off x="548640" y="1051560"/>
            <a:ext cx="8046720" cy="9601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5"/>
          <p:cNvSpPr/>
          <p:nvPr/>
        </p:nvSpPr>
        <p:spPr>
          <a:xfrm>
            <a:off x="548640" y="1051560"/>
            <a:ext cx="54864" cy="960120"/>
          </a:xfrm>
          <a:prstGeom prst="rect">
            <a:avLst/>
          </a:prstGeom>
          <a:solidFill>
            <a:srgbClr val="00B4D8"/>
          </a:solidFill>
          <a:ln/>
        </p:spPr>
        <p:txBody>
          <a:bodyPr/>
          <a:lstStyle/>
          <a:p>
            <a:endParaRPr lang="it-IT"/>
          </a:p>
        </p:txBody>
      </p:sp>
      <p:sp>
        <p:nvSpPr>
          <p:cNvPr id="8" name="Shape 6"/>
          <p:cNvSpPr/>
          <p:nvPr/>
        </p:nvSpPr>
        <p:spPr>
          <a:xfrm>
            <a:off x="777240" y="1161288"/>
            <a:ext cx="822960" cy="292608"/>
          </a:xfrm>
          <a:prstGeom prst="rect">
            <a:avLst/>
          </a:prstGeom>
          <a:solidFill>
            <a:srgbClr val="00B4D8"/>
          </a:solidFill>
          <a:ln/>
        </p:spPr>
        <p:txBody>
          <a:bodyPr/>
          <a:lstStyle/>
          <a:p>
            <a:endParaRPr lang="it-IT"/>
          </a:p>
        </p:txBody>
      </p:sp>
      <p:sp>
        <p:nvSpPr>
          <p:cNvPr id="9" name="Text 7"/>
          <p:cNvSpPr/>
          <p:nvPr/>
        </p:nvSpPr>
        <p:spPr>
          <a:xfrm>
            <a:off x="777240" y="1161288"/>
            <a:ext cx="822960" cy="292608"/>
          </a:xfrm>
          <a:prstGeom prst="rect">
            <a:avLst/>
          </a:prstGeom>
          <a:noFill/>
          <a:ln/>
        </p:spPr>
        <p:txBody>
          <a:bodyPr wrap="square" lIns="0" tIns="0" rIns="0" bIns="0" rtlCol="0" anchor="ctr"/>
          <a:lstStyle/>
          <a:p>
            <a:pPr marL="0" indent="0" algn="ctr">
              <a:buNone/>
            </a:pPr>
            <a:r>
              <a:rPr lang="en-US" sz="1000" b="1" dirty="0">
                <a:solidFill>
                  <a:srgbClr val="0F1629"/>
                </a:solidFill>
                <a:latin typeface="Calibri" pitchFamily="34" charset="0"/>
                <a:ea typeface="Calibri" pitchFamily="34" charset="-122"/>
                <a:cs typeface="Calibri" pitchFamily="34" charset="-120"/>
              </a:rPr>
              <a:t>FASE 1</a:t>
            </a:r>
            <a:endParaRPr lang="en-US" sz="1000" dirty="0"/>
          </a:p>
        </p:txBody>
      </p:sp>
      <p:sp>
        <p:nvSpPr>
          <p:cNvPr id="10" name="Text 8"/>
          <p:cNvSpPr/>
          <p:nvPr/>
        </p:nvSpPr>
        <p:spPr>
          <a:xfrm>
            <a:off x="1783080" y="1124712"/>
            <a:ext cx="65836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POC (mesi 1-3): testiamo la partnership</a:t>
            </a:r>
            <a:endParaRPr lang="en-US" sz="1300" dirty="0"/>
          </a:p>
        </p:txBody>
      </p:sp>
      <p:sp>
        <p:nvSpPr>
          <p:cNvPr id="11" name="Text 9"/>
          <p:cNvSpPr/>
          <p:nvPr/>
        </p:nvSpPr>
        <p:spPr>
          <a:xfrm>
            <a:off x="1783080" y="1417320"/>
            <a:ext cx="6583680" cy="54864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Revenue share solo sulle vendite POC (20%). Nessuna equity ancora.</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Impegno: ~15-20 ore in 90 giorni.</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Al giorno 90: decisione GO/NO-GO basata sui dati.</a:t>
            </a:r>
            <a:endParaRPr lang="en-US" sz="1050" dirty="0"/>
          </a:p>
        </p:txBody>
      </p:sp>
      <p:sp>
        <p:nvSpPr>
          <p:cNvPr id="12" name="Shape 10"/>
          <p:cNvSpPr/>
          <p:nvPr/>
        </p:nvSpPr>
        <p:spPr>
          <a:xfrm>
            <a:off x="548640" y="2103120"/>
            <a:ext cx="8046720" cy="9601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3" name="Shape 11"/>
          <p:cNvSpPr/>
          <p:nvPr/>
        </p:nvSpPr>
        <p:spPr>
          <a:xfrm>
            <a:off x="548640" y="2103120"/>
            <a:ext cx="54864" cy="960120"/>
          </a:xfrm>
          <a:prstGeom prst="rect">
            <a:avLst/>
          </a:prstGeom>
          <a:solidFill>
            <a:srgbClr val="06D6A0"/>
          </a:solidFill>
          <a:ln/>
        </p:spPr>
        <p:txBody>
          <a:bodyPr/>
          <a:lstStyle/>
          <a:p>
            <a:endParaRPr lang="it-IT"/>
          </a:p>
        </p:txBody>
      </p:sp>
      <p:sp>
        <p:nvSpPr>
          <p:cNvPr id="14" name="Shape 12"/>
          <p:cNvSpPr/>
          <p:nvPr/>
        </p:nvSpPr>
        <p:spPr>
          <a:xfrm>
            <a:off x="777240" y="2212848"/>
            <a:ext cx="822960" cy="292608"/>
          </a:xfrm>
          <a:prstGeom prst="rect">
            <a:avLst/>
          </a:prstGeom>
          <a:solidFill>
            <a:srgbClr val="06D6A0"/>
          </a:solidFill>
          <a:ln/>
        </p:spPr>
        <p:txBody>
          <a:bodyPr/>
          <a:lstStyle/>
          <a:p>
            <a:endParaRPr lang="it-IT"/>
          </a:p>
        </p:txBody>
      </p:sp>
      <p:sp>
        <p:nvSpPr>
          <p:cNvPr id="15" name="Text 13"/>
          <p:cNvSpPr/>
          <p:nvPr/>
        </p:nvSpPr>
        <p:spPr>
          <a:xfrm>
            <a:off x="777240" y="2212848"/>
            <a:ext cx="822960" cy="292608"/>
          </a:xfrm>
          <a:prstGeom prst="rect">
            <a:avLst/>
          </a:prstGeom>
          <a:noFill/>
          <a:ln/>
        </p:spPr>
        <p:txBody>
          <a:bodyPr wrap="square" lIns="0" tIns="0" rIns="0" bIns="0" rtlCol="0" anchor="ctr"/>
          <a:lstStyle/>
          <a:p>
            <a:pPr marL="0" indent="0" algn="ctr">
              <a:buNone/>
            </a:pPr>
            <a:r>
              <a:rPr lang="en-US" sz="1000" b="1" dirty="0">
                <a:solidFill>
                  <a:srgbClr val="0F1629"/>
                </a:solidFill>
                <a:latin typeface="Calibri" pitchFamily="34" charset="0"/>
                <a:ea typeface="Calibri" pitchFamily="34" charset="-122"/>
                <a:cs typeface="Calibri" pitchFamily="34" charset="-120"/>
              </a:rPr>
              <a:t>FASE 2</a:t>
            </a:r>
            <a:endParaRPr lang="en-US" sz="1000" dirty="0"/>
          </a:p>
        </p:txBody>
      </p:sp>
      <p:sp>
        <p:nvSpPr>
          <p:cNvPr id="16" name="Text 14"/>
          <p:cNvSpPr/>
          <p:nvPr/>
        </p:nvSpPr>
        <p:spPr>
          <a:xfrm>
            <a:off x="1783080" y="2176272"/>
            <a:ext cx="65836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Post-validazione (mesi 4-12): partnership piena</a:t>
            </a:r>
            <a:endParaRPr lang="en-US" sz="1300" dirty="0"/>
          </a:p>
        </p:txBody>
      </p:sp>
      <p:sp>
        <p:nvSpPr>
          <p:cNvPr id="17" name="Text 15"/>
          <p:cNvSpPr/>
          <p:nvPr/>
        </p:nvSpPr>
        <p:spPr>
          <a:xfrm>
            <a:off x="1783080" y="2468880"/>
            <a:ext cx="6583680" cy="54864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Revenue share completo attivo. Prima tranche equity matura.</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Inner Circle co-progettato e operativo.</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Preparazione internazionale.</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Impegno stimato: ~8-12 ore/mese.</a:t>
            </a:r>
            <a:endParaRPr lang="en-US" sz="1050" dirty="0"/>
          </a:p>
        </p:txBody>
      </p:sp>
      <p:sp>
        <p:nvSpPr>
          <p:cNvPr id="18" name="Shape 16"/>
          <p:cNvSpPr/>
          <p:nvPr/>
        </p:nvSpPr>
        <p:spPr>
          <a:xfrm>
            <a:off x="548640" y="3131820"/>
            <a:ext cx="8046720" cy="1147572"/>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9" name="Shape 17"/>
          <p:cNvSpPr/>
          <p:nvPr/>
        </p:nvSpPr>
        <p:spPr>
          <a:xfrm>
            <a:off x="548640" y="3154680"/>
            <a:ext cx="54864" cy="960120"/>
          </a:xfrm>
          <a:prstGeom prst="rect">
            <a:avLst/>
          </a:prstGeom>
          <a:solidFill>
            <a:srgbClr val="FFD166"/>
          </a:solidFill>
          <a:ln/>
        </p:spPr>
        <p:txBody>
          <a:bodyPr/>
          <a:lstStyle/>
          <a:p>
            <a:endParaRPr lang="it-IT"/>
          </a:p>
        </p:txBody>
      </p:sp>
      <p:sp>
        <p:nvSpPr>
          <p:cNvPr id="20" name="Shape 18"/>
          <p:cNvSpPr/>
          <p:nvPr/>
        </p:nvSpPr>
        <p:spPr>
          <a:xfrm>
            <a:off x="777240" y="3264408"/>
            <a:ext cx="822960" cy="292608"/>
          </a:xfrm>
          <a:prstGeom prst="rect">
            <a:avLst/>
          </a:prstGeom>
          <a:solidFill>
            <a:srgbClr val="FFD166"/>
          </a:solidFill>
          <a:ln/>
        </p:spPr>
        <p:txBody>
          <a:bodyPr/>
          <a:lstStyle/>
          <a:p>
            <a:endParaRPr lang="it-IT"/>
          </a:p>
        </p:txBody>
      </p:sp>
      <p:sp>
        <p:nvSpPr>
          <p:cNvPr id="21" name="Text 19"/>
          <p:cNvSpPr/>
          <p:nvPr/>
        </p:nvSpPr>
        <p:spPr>
          <a:xfrm>
            <a:off x="777240" y="3264408"/>
            <a:ext cx="822960" cy="292608"/>
          </a:xfrm>
          <a:prstGeom prst="rect">
            <a:avLst/>
          </a:prstGeom>
          <a:noFill/>
          <a:ln/>
        </p:spPr>
        <p:txBody>
          <a:bodyPr wrap="square" lIns="0" tIns="0" rIns="0" bIns="0" rtlCol="0" anchor="ctr"/>
          <a:lstStyle/>
          <a:p>
            <a:pPr marL="0" indent="0" algn="ctr">
              <a:buNone/>
            </a:pPr>
            <a:r>
              <a:rPr lang="en-US" sz="1000" b="1" dirty="0">
                <a:solidFill>
                  <a:srgbClr val="0F1629"/>
                </a:solidFill>
                <a:latin typeface="Calibri" pitchFamily="34" charset="0"/>
                <a:ea typeface="Calibri" pitchFamily="34" charset="-122"/>
                <a:cs typeface="Calibri" pitchFamily="34" charset="-120"/>
              </a:rPr>
              <a:t>FASE 3</a:t>
            </a:r>
            <a:endParaRPr lang="en-US" sz="1000" dirty="0"/>
          </a:p>
        </p:txBody>
      </p:sp>
      <p:sp>
        <p:nvSpPr>
          <p:cNvPr id="22" name="Text 20"/>
          <p:cNvSpPr/>
          <p:nvPr/>
        </p:nvSpPr>
        <p:spPr>
          <a:xfrm>
            <a:off x="1783080" y="3106635"/>
            <a:ext cx="65836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Internazionale (Anno 2+): espansione</a:t>
            </a:r>
            <a:endParaRPr lang="en-US" sz="1300" dirty="0"/>
          </a:p>
        </p:txBody>
      </p:sp>
      <p:sp>
        <p:nvSpPr>
          <p:cNvPr id="23" name="Text 21"/>
          <p:cNvSpPr/>
          <p:nvPr/>
        </p:nvSpPr>
        <p:spPr>
          <a:xfrm>
            <a:off x="1783080" y="3543300"/>
            <a:ext cx="6583680" cy="54864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Termini per i mercati internazionali definiti alla luce</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dei risultati. Potenzialmente con revenue pool dedicato</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o percentuali più alte. A questi volumi, il progetto</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diventa un asset con opzioni — crescita autonoma</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o interesse da parte di player più grandi del settore.</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Impegno: da definire insieme sulla base dei mercati aperti.</a:t>
            </a:r>
            <a:endParaRPr lang="en-US" sz="1050" dirty="0"/>
          </a:p>
        </p:txBody>
      </p:sp>
      <p:sp>
        <p:nvSpPr>
          <p:cNvPr id="24" name="Shape 22"/>
          <p:cNvSpPr/>
          <p:nvPr/>
        </p:nvSpPr>
        <p:spPr>
          <a:xfrm>
            <a:off x="548640" y="4297680"/>
            <a:ext cx="8046720" cy="365760"/>
          </a:xfrm>
          <a:prstGeom prst="rect">
            <a:avLst/>
          </a:prstGeom>
          <a:solidFill>
            <a:srgbClr val="232F42"/>
          </a:solidFill>
          <a:ln/>
          <a:effectLst>
            <a:outerShdw blurRad="101600" dist="38100" dir="8100000" algn="bl" rotWithShape="0">
              <a:srgbClr val="000000">
                <a:alpha val="25000"/>
              </a:srgbClr>
            </a:outerShdw>
          </a:effectLst>
        </p:spPr>
        <p:txBody>
          <a:bodyPr/>
          <a:lstStyle/>
          <a:p>
            <a:endParaRPr lang="it-IT"/>
          </a:p>
        </p:txBody>
      </p:sp>
      <p:sp>
        <p:nvSpPr>
          <p:cNvPr id="25" name="Text 23"/>
          <p:cNvSpPr/>
          <p:nvPr/>
        </p:nvSpPr>
        <p:spPr>
          <a:xfrm>
            <a:off x="731520" y="4325112"/>
            <a:ext cx="7680960" cy="320040"/>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Se la POC non funziona, ci fermiamo. Costo: 3 mesi di tempo e ~€1.000. Nessuna equity emessa, nessun debito.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Il revenue share</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Due logiche diverse per due cose diverse.</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9 / 22</a:t>
            </a:r>
            <a:endParaRPr lang="en-US" sz="800" dirty="0"/>
          </a:p>
        </p:txBody>
      </p:sp>
      <p:sp>
        <p:nvSpPr>
          <p:cNvPr id="6" name="Shape 4"/>
          <p:cNvSpPr/>
          <p:nvPr/>
        </p:nvSpPr>
        <p:spPr>
          <a:xfrm>
            <a:off x="548640" y="1097280"/>
            <a:ext cx="3886200" cy="25603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5"/>
          <p:cNvSpPr/>
          <p:nvPr/>
        </p:nvSpPr>
        <p:spPr>
          <a:xfrm>
            <a:off x="548640" y="1097280"/>
            <a:ext cx="3886200" cy="54864"/>
          </a:xfrm>
          <a:prstGeom prst="rect">
            <a:avLst/>
          </a:prstGeom>
          <a:solidFill>
            <a:srgbClr val="00B4D8"/>
          </a:solidFill>
          <a:ln/>
        </p:spPr>
        <p:txBody>
          <a:bodyPr/>
          <a:lstStyle/>
          <a:p>
            <a:endParaRPr lang="it-IT"/>
          </a:p>
        </p:txBody>
      </p:sp>
      <p:sp>
        <p:nvSpPr>
          <p:cNvPr id="8" name="Text 6"/>
          <p:cNvSpPr/>
          <p:nvPr/>
        </p:nvSpPr>
        <p:spPr>
          <a:xfrm>
            <a:off x="731520" y="1280160"/>
            <a:ext cx="3520440" cy="594360"/>
          </a:xfrm>
          <a:prstGeom prst="rect">
            <a:avLst/>
          </a:prstGeom>
          <a:noFill/>
          <a:ln/>
        </p:spPr>
        <p:txBody>
          <a:bodyPr wrap="square" lIns="0" tIns="0" rIns="0" bIns="0" rtlCol="0" anchor="ctr"/>
          <a:lstStyle/>
          <a:p>
            <a:pPr marL="0" indent="0">
              <a:buNone/>
            </a:pPr>
            <a:r>
              <a:rPr lang="en-US" sz="4800" b="1" dirty="0">
                <a:solidFill>
                  <a:srgbClr val="00B4D8"/>
                </a:solidFill>
                <a:latin typeface="Trebuchet MS" pitchFamily="34" charset="0"/>
                <a:ea typeface="Trebuchet MS" pitchFamily="34" charset="-122"/>
                <a:cs typeface="Trebuchet MS" pitchFamily="34" charset="-120"/>
              </a:rPr>
              <a:t>20%</a:t>
            </a:r>
            <a:endParaRPr lang="en-US" sz="4800" dirty="0"/>
          </a:p>
        </p:txBody>
      </p:sp>
      <p:sp>
        <p:nvSpPr>
          <p:cNvPr id="9" name="Text 7"/>
          <p:cNvSpPr/>
          <p:nvPr/>
        </p:nvSpPr>
        <p:spPr>
          <a:xfrm>
            <a:off x="731520" y="1920240"/>
            <a:ext cx="35204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Prodotto e PRO</a:t>
            </a:r>
            <a:endParaRPr lang="en-US" sz="1600" dirty="0"/>
          </a:p>
        </p:txBody>
      </p:sp>
      <p:sp>
        <p:nvSpPr>
          <p:cNvPr id="10" name="Text 8"/>
          <p:cNvSpPr/>
          <p:nvPr/>
        </p:nvSpPr>
        <p:spPr>
          <a:xfrm>
            <a:off x="731520" y="2194560"/>
            <a:ext cx="3520440" cy="22860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Licenze, Box, assistenza annuale</a:t>
            </a:r>
            <a:endParaRPr lang="en-US" sz="1100" dirty="0"/>
          </a:p>
        </p:txBody>
      </p:sp>
      <p:sp>
        <p:nvSpPr>
          <p:cNvPr id="11" name="Text 9"/>
          <p:cNvSpPr/>
          <p:nvPr/>
        </p:nvSpPr>
        <p:spPr>
          <a:xfrm>
            <a:off x="731520" y="2514600"/>
            <a:ext cx="3520440" cy="82296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Il prodotto e la sua manutenzione. Su tutte le vendite, senza distinguere la fonte.</a:t>
            </a:r>
            <a:endParaRPr lang="en-US" sz="1050" dirty="0"/>
          </a:p>
        </p:txBody>
      </p:sp>
      <p:sp>
        <p:nvSpPr>
          <p:cNvPr id="12" name="Shape 10"/>
          <p:cNvSpPr/>
          <p:nvPr/>
        </p:nvSpPr>
        <p:spPr>
          <a:xfrm>
            <a:off x="4709160" y="1097280"/>
            <a:ext cx="3886200" cy="25603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3" name="Shape 11"/>
          <p:cNvSpPr/>
          <p:nvPr/>
        </p:nvSpPr>
        <p:spPr>
          <a:xfrm>
            <a:off x="4709160" y="1097280"/>
            <a:ext cx="3886200" cy="54864"/>
          </a:xfrm>
          <a:prstGeom prst="rect">
            <a:avLst/>
          </a:prstGeom>
          <a:solidFill>
            <a:srgbClr val="FFD166"/>
          </a:solidFill>
          <a:ln/>
        </p:spPr>
        <p:txBody>
          <a:bodyPr/>
          <a:lstStyle/>
          <a:p>
            <a:endParaRPr lang="it-IT"/>
          </a:p>
        </p:txBody>
      </p:sp>
      <p:sp>
        <p:nvSpPr>
          <p:cNvPr id="14" name="Text 12"/>
          <p:cNvSpPr/>
          <p:nvPr/>
        </p:nvSpPr>
        <p:spPr>
          <a:xfrm>
            <a:off x="4892040" y="1280160"/>
            <a:ext cx="3520440" cy="594360"/>
          </a:xfrm>
          <a:prstGeom prst="rect">
            <a:avLst/>
          </a:prstGeom>
          <a:noFill/>
          <a:ln/>
        </p:spPr>
        <p:txBody>
          <a:bodyPr wrap="square" lIns="0" tIns="0" rIns="0" bIns="0" rtlCol="0" anchor="ctr"/>
          <a:lstStyle/>
          <a:p>
            <a:pPr marL="0" indent="0">
              <a:buNone/>
            </a:pPr>
            <a:r>
              <a:rPr lang="en-US" sz="4800" b="1" dirty="0">
                <a:solidFill>
                  <a:srgbClr val="FFD166"/>
                </a:solidFill>
                <a:latin typeface="Trebuchet MS" pitchFamily="34" charset="0"/>
                <a:ea typeface="Trebuchet MS" pitchFamily="34" charset="-122"/>
                <a:cs typeface="Trebuchet MS" pitchFamily="34" charset="-120"/>
              </a:rPr>
              <a:t>50%</a:t>
            </a:r>
            <a:endParaRPr lang="en-US" sz="4800" dirty="0"/>
          </a:p>
        </p:txBody>
      </p:sp>
      <p:sp>
        <p:nvSpPr>
          <p:cNvPr id="15" name="Text 13"/>
          <p:cNvSpPr/>
          <p:nvPr/>
        </p:nvSpPr>
        <p:spPr>
          <a:xfrm>
            <a:off x="4892040" y="1920240"/>
            <a:ext cx="35204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Inner Circle + Masterclass</a:t>
            </a:r>
            <a:endParaRPr lang="en-US" sz="1600" dirty="0"/>
          </a:p>
        </p:txBody>
      </p:sp>
      <p:sp>
        <p:nvSpPr>
          <p:cNvPr id="16" name="Text 14"/>
          <p:cNvSpPr/>
          <p:nvPr/>
        </p:nvSpPr>
        <p:spPr>
          <a:xfrm>
            <a:off x="4892040" y="2194560"/>
            <a:ext cx="3520440" cy="22860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Il progetto congiunto</a:t>
            </a:r>
            <a:endParaRPr lang="en-US" sz="1100" dirty="0"/>
          </a:p>
        </p:txBody>
      </p:sp>
      <p:sp>
        <p:nvSpPr>
          <p:cNvPr id="17" name="Text 15"/>
          <p:cNvSpPr/>
          <p:nvPr/>
        </p:nvSpPr>
        <p:spPr>
          <a:xfrm>
            <a:off x="4892040" y="2514600"/>
            <a:ext cx="3520440" cy="82296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Il metodo e lo strumento sono inseparabili. L’IC funziona perché entrambi ci siamo dentro.</a:t>
            </a:r>
            <a:endParaRPr lang="en-US" sz="1050" dirty="0"/>
          </a:p>
        </p:txBody>
      </p:sp>
      <p:sp>
        <p:nvSpPr>
          <p:cNvPr id="18" name="Text 16"/>
          <p:cNvSpPr/>
          <p:nvPr/>
        </p:nvSpPr>
        <p:spPr>
          <a:xfrm>
            <a:off x="548640" y="3840480"/>
            <a:ext cx="8046720" cy="274320"/>
          </a:xfrm>
          <a:prstGeom prst="rect">
            <a:avLst/>
          </a:prstGeom>
          <a:noFill/>
          <a:ln/>
        </p:spPr>
        <p:txBody>
          <a:bodyPr wrap="square" lIns="0" tIns="0" rIns="0" bIns="0" rtlCol="0" anchor="ctr"/>
          <a:lstStyle/>
          <a:p>
            <a:pPr marL="0" indent="0">
              <a:buNone/>
            </a:pPr>
            <a:r>
              <a:rPr lang="en-US" sz="1000" dirty="0">
                <a:solidFill>
                  <a:srgbClr val="A0AEC0"/>
                </a:solidFill>
                <a:latin typeface="Calibri" pitchFamily="34" charset="0"/>
                <a:ea typeface="Calibri" pitchFamily="34" charset="-122"/>
                <a:cs typeface="Calibri" pitchFamily="34" charset="-120"/>
              </a:rPr>
              <a:t>Per accordi istituzionali o corporate con volumi significativi, i termini specifici saranno definiti caso per caso.</a:t>
            </a:r>
            <a:endParaRPr lang="en-US" sz="1000" dirty="0"/>
          </a:p>
        </p:txBody>
      </p:sp>
      <p:sp>
        <p:nvSpPr>
          <p:cNvPr id="19" name="Text 17"/>
          <p:cNvSpPr/>
          <p:nvPr/>
        </p:nvSpPr>
        <p:spPr>
          <a:xfrm>
            <a:off x="548640" y="4160520"/>
            <a:ext cx="8046720" cy="320040"/>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La struttura vale per Italia e internazionale. Le percentuali sono la mia proposta — il primo punto di cui parlare nella call operativa.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L'equity: a milestone, non a tempo</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L'equity con i risultati, non con la permanenza.</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10 / 22</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2011680"/>
        </p:xfrm>
        <a:graphic>
          <a:graphicData uri="http://schemas.openxmlformats.org/drawingml/2006/table">
            <a:tbl>
              <a:tblPr/>
              <a:tblGrid>
                <a:gridCol w="4572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Milestone</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Equity</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Quando</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411480">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Completamento POC — decisione GO al giorno 90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100" b="1" dirty="0">
                          <a:solidFill>
                            <a:srgbClr val="00B4D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Mese 3</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411480">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50 clienti attivi nella base installata</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100" b="1" dirty="0">
                          <a:solidFill>
                            <a:srgbClr val="00B4D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Quando accade</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411480">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Primo deployment internazionale operativo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100" b="1" dirty="0">
                          <a:solidFill>
                            <a:srgbClr val="00B4D8"/>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Quando accade</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411480">
                <a:tc>
                  <a:txBody>
                    <a:bodyPr/>
                    <a:lstStyle/>
                    <a:p>
                      <a:pPr marL="0" indent="0">
                        <a:buNone/>
                      </a:pPr>
                      <a:r>
                        <a:rPr lang="en-US" sz="1100" b="1" dirty="0">
                          <a:solidFill>
                            <a:srgbClr val="FFD166"/>
                          </a:solidFill>
                          <a:latin typeface="Calibri" pitchFamily="34" charset="0"/>
                          <a:ea typeface="Calibri" pitchFamily="34" charset="-122"/>
                          <a:cs typeface="Calibri" pitchFamily="34" charset="-120"/>
                        </a:rPr>
                        <a:t>TOTALE POTENZIALE</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400" b="1" dirty="0">
                          <a:solidFill>
                            <a:srgbClr val="FFD166"/>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3246120"/>
            <a:ext cx="3794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8" name="Shape 5"/>
          <p:cNvSpPr/>
          <p:nvPr/>
        </p:nvSpPr>
        <p:spPr>
          <a:xfrm>
            <a:off x="548640" y="3246120"/>
            <a:ext cx="54864" cy="1097280"/>
          </a:xfrm>
          <a:prstGeom prst="rect">
            <a:avLst/>
          </a:prstGeom>
          <a:solidFill>
            <a:srgbClr val="06D6A0"/>
          </a:solidFill>
          <a:ln/>
        </p:spPr>
        <p:txBody>
          <a:bodyPr/>
          <a:lstStyle/>
          <a:p>
            <a:endParaRPr lang="it-IT"/>
          </a:p>
        </p:txBody>
      </p:sp>
      <p:sp>
        <p:nvSpPr>
          <p:cNvPr id="9" name="Text 6"/>
          <p:cNvSpPr/>
          <p:nvPr/>
        </p:nvSpPr>
        <p:spPr>
          <a:xfrm>
            <a:off x="777240" y="3291840"/>
            <a:ext cx="3383280" cy="274320"/>
          </a:xfrm>
          <a:prstGeom prst="rect">
            <a:avLst/>
          </a:prstGeom>
          <a:noFill/>
          <a:ln/>
        </p:spPr>
        <p:txBody>
          <a:bodyPr wrap="square" lIns="0" tIns="0" rIns="0" bIns="0" rtlCol="0" anchor="ctr"/>
          <a:lstStyle/>
          <a:p>
            <a:pPr marL="0" indent="0">
              <a:buNone/>
            </a:pPr>
            <a:r>
              <a:rPr lang="en-US" sz="1200" b="1" dirty="0">
                <a:solidFill>
                  <a:srgbClr val="06D6A0"/>
                </a:solidFill>
                <a:latin typeface="Calibri" pitchFamily="34" charset="0"/>
                <a:ea typeface="Calibri" pitchFamily="34" charset="-122"/>
                <a:cs typeface="Calibri" pitchFamily="34" charset="-120"/>
              </a:rPr>
              <a:t>Se la POC fallisce:</a:t>
            </a:r>
            <a:endParaRPr lang="en-US" sz="1200" dirty="0"/>
          </a:p>
        </p:txBody>
      </p:sp>
      <p:sp>
        <p:nvSpPr>
          <p:cNvPr id="10" name="Text 7"/>
          <p:cNvSpPr/>
          <p:nvPr/>
        </p:nvSpPr>
        <p:spPr>
          <a:xfrm>
            <a:off x="777240" y="3611880"/>
            <a:ext cx="3383280" cy="64008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0% equity, 0 costi.</a:t>
            </a:r>
            <a:endParaRPr lang="en-US" sz="1100" dirty="0"/>
          </a:p>
          <a:p>
            <a:pPr marL="0" indent="0">
              <a:buNone/>
            </a:pPr>
            <a:r>
              <a:rPr lang="en-US" sz="1100" dirty="0">
                <a:solidFill>
                  <a:srgbClr val="A0AEC0"/>
                </a:solidFill>
                <a:latin typeface="Calibri" pitchFamily="34" charset="0"/>
                <a:ea typeface="Calibri" pitchFamily="34" charset="-122"/>
                <a:cs typeface="Calibri" pitchFamily="34" charset="-120"/>
              </a:rPr>
              <a:t>Struttura imprenditoriale,</a:t>
            </a:r>
            <a:endParaRPr lang="en-US" sz="1100" dirty="0"/>
          </a:p>
          <a:p>
            <a:pPr marL="0" indent="0">
              <a:buNone/>
            </a:pPr>
            <a:r>
              <a:rPr lang="en-US" sz="1100" dirty="0">
                <a:solidFill>
                  <a:srgbClr val="A0AEC0"/>
                </a:solidFill>
                <a:latin typeface="Calibri" pitchFamily="34" charset="0"/>
                <a:ea typeface="Calibri" pitchFamily="34" charset="-122"/>
                <a:cs typeface="Calibri" pitchFamily="34" charset="-120"/>
              </a:rPr>
              <a:t>non dipendentistica.</a:t>
            </a:r>
            <a:endParaRPr lang="en-US" sz="1100" dirty="0"/>
          </a:p>
        </p:txBody>
      </p:sp>
      <p:sp>
        <p:nvSpPr>
          <p:cNvPr id="6" name="Shape 8"/>
          <p:cNvSpPr/>
          <p:nvPr/>
        </p:nvSpPr>
        <p:spPr>
          <a:xfrm>
            <a:off x="4800600" y="3246120"/>
            <a:ext cx="379476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2" name="Shape 9"/>
          <p:cNvSpPr/>
          <p:nvPr/>
        </p:nvSpPr>
        <p:spPr>
          <a:xfrm>
            <a:off x="4800600" y="3246120"/>
            <a:ext cx="54864" cy="1097280"/>
          </a:xfrm>
          <a:prstGeom prst="rect">
            <a:avLst/>
          </a:prstGeom>
          <a:solidFill>
            <a:srgbClr val="00B4D8"/>
          </a:solidFill>
          <a:ln/>
        </p:spPr>
        <p:txBody>
          <a:bodyPr/>
          <a:lstStyle/>
          <a:p>
            <a:endParaRPr lang="it-IT"/>
          </a:p>
        </p:txBody>
      </p:sp>
      <p:sp>
        <p:nvSpPr>
          <p:cNvPr id="13" name="Text 10"/>
          <p:cNvSpPr/>
          <p:nvPr/>
        </p:nvSpPr>
        <p:spPr>
          <a:xfrm>
            <a:off x="5029200" y="3291840"/>
            <a:ext cx="338328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Giacomo mantiene l’85%</a:t>
            </a:r>
            <a:endParaRPr lang="en-US" sz="1200" dirty="0"/>
          </a:p>
        </p:txBody>
      </p:sp>
      <p:sp>
        <p:nvSpPr>
          <p:cNvPr id="14" name="Text 11"/>
          <p:cNvSpPr/>
          <p:nvPr/>
        </p:nvSpPr>
        <p:spPr>
          <a:xfrm>
            <a:off x="5029200" y="3611880"/>
            <a:ext cx="3383280" cy="64008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Il 15% riflette un partner che porta credibilità, rete e competenze — non solo tempo.</a:t>
            </a:r>
            <a:endParaRPr lang="en-US" sz="1100" dirty="0"/>
          </a:p>
        </p:txBody>
      </p:sp>
      <p:sp>
        <p:nvSpPr>
          <p:cNvPr id="15" name="Text 12"/>
          <p:cNvSpPr/>
          <p:nvPr/>
        </p:nvSpPr>
        <p:spPr>
          <a:xfrm>
            <a:off x="548640" y="4434840"/>
            <a:ext cx="8046720" cy="228600"/>
          </a:xfrm>
          <a:prstGeom prst="rect">
            <a:avLst/>
          </a:prstGeom>
          <a:noFill/>
          <a:ln/>
        </p:spPr>
        <p:txBody>
          <a:bodyPr wrap="square" lIns="0" tIns="0" rIns="0" bIns="0" rtlCol="0" anchor="ctr"/>
          <a:lstStyle/>
          <a:p>
            <a:pPr marL="0" indent="0">
              <a:buNone/>
            </a:pPr>
            <a:r>
              <a:rPr lang="en-US" sz="1000" i="1" dirty="0">
                <a:solidFill>
                  <a:srgbClr val="718096"/>
                </a:solidFill>
                <a:latin typeface="Calibri" pitchFamily="34" charset="0"/>
                <a:ea typeface="Calibri" pitchFamily="34" charset="-122"/>
                <a:cs typeface="Calibri" pitchFamily="34" charset="-120"/>
              </a:rPr>
              <a:t>Le condizioni specifiche di ogni milestone saranno definite nella Lettera di Intenti.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Cosa producono questi numeri</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Compenso calcolato con la struttura proposta (20% prodotto e PRO / 50% Inner Circle / equity 15% a milestone).</a:t>
            </a:r>
            <a:endParaRPr lang="en-US" sz="13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11 / 22</a:t>
            </a:r>
            <a:endParaRPr lang="en-US" sz="800" dirty="0"/>
          </a:p>
        </p:txBody>
      </p:sp>
      <p:sp>
        <p:nvSpPr>
          <p:cNvPr id="6" name="Shape 4"/>
          <p:cNvSpPr/>
          <p:nvPr/>
        </p:nvSpPr>
        <p:spPr>
          <a:xfrm>
            <a:off x="548640" y="1051560"/>
            <a:ext cx="8046720" cy="320040"/>
          </a:xfrm>
          <a:prstGeom prst="rect">
            <a:avLst/>
          </a:prstGeom>
          <a:solidFill>
            <a:srgbClr val="00B4D8"/>
          </a:solidFill>
          <a:ln/>
          <a:effectLst>
            <a:outerShdw blurRad="101600" dist="38100" dir="8100000" algn="bl" rotWithShape="0">
              <a:srgbClr val="000000">
                <a:alpha val="25000"/>
              </a:srgbClr>
            </a:outerShdw>
          </a:effectLst>
        </p:spPr>
        <p:txBody>
          <a:bodyPr/>
          <a:lstStyle/>
          <a:p>
            <a:endParaRPr lang="it-IT"/>
          </a:p>
        </p:txBody>
      </p:sp>
      <p:sp>
        <p:nvSpPr>
          <p:cNvPr id="7" name="Text 5"/>
          <p:cNvSpPr/>
          <p:nvPr/>
        </p:nvSpPr>
        <p:spPr>
          <a:xfrm>
            <a:off x="731520" y="1078992"/>
            <a:ext cx="7680960" cy="274320"/>
          </a:xfrm>
          <a:prstGeom prst="rect">
            <a:avLst/>
          </a:prstGeom>
          <a:noFill/>
          <a:ln/>
        </p:spPr>
        <p:txBody>
          <a:bodyPr wrap="square" lIns="0" tIns="0" rIns="0" bIns="0" rtlCol="0" anchor="ctr"/>
          <a:lstStyle/>
          <a:p>
            <a:pPr marL="0" indent="0">
              <a:buNone/>
            </a:pPr>
            <a:r>
              <a:rPr lang="en-US" sz="1200" b="1" dirty="0">
                <a:solidFill>
                  <a:srgbClr val="0F1629"/>
                </a:solidFill>
                <a:latin typeface="Calibri" pitchFamily="34" charset="0"/>
                <a:ea typeface="Calibri" pitchFamily="34" charset="-122"/>
                <a:cs typeface="Calibri" pitchFamily="34" charset="-120"/>
              </a:rPr>
              <a:t>SCENARIO CALIBRATO — Italia + internazionale, con la tua leva</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8046720" cy="1463040"/>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92608">
                <a:tc>
                  <a:txBody>
                    <a:bodyPr/>
                    <a:lstStyle/>
                    <a:p>
                      <a:pPr marL="0" indent="0" algn="l">
                        <a:buNone/>
                      </a:pP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Anno 1</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Anno 2</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Anno 3</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Cum. 3 anni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292608">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Clienti IT / INT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80-100 / —</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150-200 / 30-60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250-350 / 100-200+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292608">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Fatturato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€29-37K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€55-85K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€100-165K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b="1" dirty="0">
                          <a:solidFill>
                            <a:srgbClr val="00B4D8"/>
                          </a:solidFill>
                          <a:latin typeface="Calibri" pitchFamily="34" charset="0"/>
                          <a:ea typeface="Calibri" pitchFamily="34" charset="-122"/>
                          <a:cs typeface="Calibri" pitchFamily="34" charset="-120"/>
                        </a:rPr>
                        <a:t>€185-290K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29260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Cash Alessio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6D6A0"/>
                          </a:solidFill>
                          <a:latin typeface="Calibri" pitchFamily="34" charset="0"/>
                          <a:ea typeface="Calibri" pitchFamily="34" charset="-122"/>
                          <a:cs typeface="Calibri" pitchFamily="34" charset="-120"/>
                        </a:rPr>
                        <a:t>€7-10K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6D6A0"/>
                          </a:solidFill>
                          <a:latin typeface="Calibri" pitchFamily="34" charset="0"/>
                          <a:ea typeface="Calibri" pitchFamily="34" charset="-122"/>
                          <a:cs typeface="Calibri" pitchFamily="34" charset="-120"/>
                        </a:rPr>
                        <a:t>€15-22K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6D6A0"/>
                          </a:solidFill>
                          <a:latin typeface="Calibri" pitchFamily="34" charset="0"/>
                          <a:ea typeface="Calibri" pitchFamily="34" charset="-122"/>
                          <a:cs typeface="Calibri" pitchFamily="34" charset="-120"/>
                        </a:rPr>
                        <a:t>€26-44K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6D6A0"/>
                          </a:solidFill>
                          <a:latin typeface="Calibri" pitchFamily="34" charset="0"/>
                          <a:ea typeface="Calibri" pitchFamily="34" charset="-122"/>
                          <a:cs typeface="Calibri" pitchFamily="34" charset="-120"/>
                        </a:rPr>
                        <a:t>€48-76K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292608">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Equity (15%)</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€3-4K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€10-14K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€28-43K</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bl>
          </a:graphicData>
        </a:graphic>
      </p:graphicFrame>
      <p:sp>
        <p:nvSpPr>
          <p:cNvPr id="9" name="Shape 6"/>
          <p:cNvSpPr/>
          <p:nvPr/>
        </p:nvSpPr>
        <p:spPr>
          <a:xfrm>
            <a:off x="548640" y="2971800"/>
            <a:ext cx="8046720" cy="320040"/>
          </a:xfrm>
          <a:prstGeom prst="rect">
            <a:avLst/>
          </a:prstGeom>
          <a:solidFill>
            <a:srgbClr val="232F42"/>
          </a:solidFill>
          <a:ln/>
          <a:effectLst>
            <a:outerShdw blurRad="101600" dist="38100" dir="8100000" algn="bl" rotWithShape="0">
              <a:srgbClr val="000000">
                <a:alpha val="25000"/>
              </a:srgbClr>
            </a:outerShdw>
          </a:effectLst>
        </p:spPr>
        <p:txBody>
          <a:bodyPr/>
          <a:lstStyle/>
          <a:p>
            <a:endParaRPr lang="it-IT"/>
          </a:p>
        </p:txBody>
      </p:sp>
      <p:sp>
        <p:nvSpPr>
          <p:cNvPr id="10" name="Text 7"/>
          <p:cNvSpPr/>
          <p:nvPr/>
        </p:nvSpPr>
        <p:spPr>
          <a:xfrm>
            <a:off x="731520" y="2999232"/>
            <a:ext cx="7680960" cy="274320"/>
          </a:xfrm>
          <a:prstGeom prst="rect">
            <a:avLst/>
          </a:prstGeom>
          <a:noFill/>
          <a:ln/>
        </p:spPr>
        <p:txBody>
          <a:bodyPr wrap="square" lIns="0" tIns="0" rIns="0" bIns="0" rtlCol="0" anchor="ctr"/>
          <a:lstStyle/>
          <a:p>
            <a:pPr marL="0" indent="0">
              <a:buNone/>
            </a:pPr>
            <a:r>
              <a:rPr lang="en-US" sz="1200" b="1" dirty="0">
                <a:solidFill>
                  <a:srgbClr val="A0AEC0"/>
                </a:solidFill>
                <a:latin typeface="Calibri" pitchFamily="34" charset="0"/>
                <a:ea typeface="Calibri" pitchFamily="34" charset="-122"/>
                <a:cs typeface="Calibri" pitchFamily="34" charset="-120"/>
              </a:rPr>
              <a:t>FLOOR CONSERVATIVO — solo Italia, crescita organica (la rete di sicurezza)</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8640" y="3337560"/>
          <a:ext cx="8046720" cy="1463040"/>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92608">
                <a:tc>
                  <a:txBody>
                    <a:bodyPr/>
                    <a:lstStyle/>
                    <a:p>
                      <a:pPr marL="0" indent="0" algn="l">
                        <a:buNone/>
                      </a:pP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Anno 1</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Anno 2</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Anno 3</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Cum. 3 anni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292608">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Fatturato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€17.150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€29.650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€49.650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€96.450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Cash Alessio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A0AEC0"/>
                          </a:solidFill>
                          <a:latin typeface="Calibri" pitchFamily="34" charset="0"/>
                          <a:ea typeface="Calibri" pitchFamily="34" charset="-122"/>
                          <a:cs typeface="Calibri" pitchFamily="34" charset="-120"/>
                        </a:rPr>
                        <a:t>€4.100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A0AEC0"/>
                          </a:solidFill>
                          <a:latin typeface="Calibri" pitchFamily="34" charset="0"/>
                          <a:ea typeface="Calibri" pitchFamily="34" charset="-122"/>
                          <a:cs typeface="Calibri" pitchFamily="34" charset="-120"/>
                        </a:rPr>
                        <a:t>€7.300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A0AEC0"/>
                          </a:solidFill>
                          <a:latin typeface="Calibri" pitchFamily="34" charset="0"/>
                          <a:ea typeface="Calibri" pitchFamily="34" charset="-122"/>
                          <a:cs typeface="Calibri" pitchFamily="34" charset="-120"/>
                        </a:rPr>
                        <a:t>€12.800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A0AEC0"/>
                          </a:solidFill>
                          <a:latin typeface="Calibri" pitchFamily="34" charset="0"/>
                          <a:ea typeface="Calibri" pitchFamily="34" charset="-122"/>
                          <a:cs typeface="Calibri" pitchFamily="34" charset="-120"/>
                        </a:rPr>
                        <a:t>€24.200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292608">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Equity maturata</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7-15%</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292608">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Valore equity</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€1.600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€6.800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€14.000-21.000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bl>
          </a:graphicData>
        </a:graphic>
      </p:graphicFrame>
      <p:sp>
        <p:nvSpPr>
          <p:cNvPr id="8" name="Text 8"/>
          <p:cNvSpPr/>
          <p:nvPr/>
        </p:nvSpPr>
        <p:spPr>
          <a:xfrm>
            <a:off x="548640" y="4846320"/>
            <a:ext cx="8046720" cy="182880"/>
          </a:xfrm>
          <a:prstGeom prst="rect">
            <a:avLst/>
          </a:prstGeom>
          <a:noFill/>
          <a:ln/>
        </p:spPr>
        <p:txBody>
          <a:bodyPr wrap="square" lIns="0" tIns="0" rIns="0" bIns="0" rtlCol="0" anchor="ctr"/>
          <a:lstStyle/>
          <a:p>
            <a:pPr marL="0" indent="0">
              <a:buNone/>
            </a:pPr>
            <a:r>
              <a:rPr lang="en-US" sz="1000" i="1" dirty="0">
                <a:solidFill>
                  <a:srgbClr val="718096"/>
                </a:solidFill>
                <a:latin typeface="Calibri" pitchFamily="34" charset="0"/>
                <a:ea typeface="Calibri" pitchFamily="34" charset="-122"/>
                <a:cs typeface="Calibri" pitchFamily="34" charset="-120"/>
              </a:rPr>
              <a:t>La differenza tra i due scenari è la leva di rete. Il calibrato è il piano realistico con i tuoi asset. Il floor è la rete di sicurezza.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 leva internazionale: Nordic Wellness</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Centinaia di sedi, migliaia di trainer. Un esempio per dimensionare il potenziale.</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12 / 22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2304288"/>
        </p:xfrm>
        <a:graphic>
          <a:graphicData uri="http://schemas.openxmlformats.org/drawingml/2006/table">
            <a:tbl>
              <a:tblPr/>
              <a:tblGrid>
                <a:gridCol w="47548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Parametro</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Ipotesi conservativa</a:t>
                      </a:r>
                      <a:endParaRPr lang="en-US" sz="12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Trainer contattabili tramite accordo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100-200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Tasso adozione (conservativo)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15-20%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Vendite da un singolo accordo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100" b="1" dirty="0">
                          <a:solidFill>
                            <a:srgbClr val="00B4D8"/>
                          </a:solidFill>
                          <a:latin typeface="Calibri" pitchFamily="34" charset="0"/>
                          <a:ea typeface="Calibri" pitchFamily="34" charset="-122"/>
                          <a:cs typeface="Calibri" pitchFamily="34" charset="-120"/>
                        </a:rPr>
                        <a:t>15-40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Ricavo (pricing nordico €349-549)</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100" b="1" dirty="0">
                          <a:solidFill>
                            <a:srgbClr val="06D6A0"/>
                          </a:solidFill>
                          <a:latin typeface="Calibri" pitchFamily="34" charset="0"/>
                          <a:ea typeface="Calibri" pitchFamily="34" charset="-122"/>
                          <a:cs typeface="Calibri" pitchFamily="34" charset="-120"/>
                        </a:rPr>
                        <a:t>€5.000-22.000</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Inner Circle (25% dei nuovi)</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100" b="1" dirty="0">
                          <a:solidFill>
                            <a:srgbClr val="FFD166"/>
                          </a:solidFill>
                          <a:latin typeface="Calibri" pitchFamily="34" charset="0"/>
                          <a:ea typeface="Calibri" pitchFamily="34" charset="-122"/>
                          <a:cs typeface="Calibri" pitchFamily="34" charset="-120"/>
                        </a:rPr>
                        <a:t>+€1.000-2.500/anno</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3520440"/>
            <a:ext cx="8046720" cy="640080"/>
          </a:xfrm>
          <a:prstGeom prst="rect">
            <a:avLst/>
          </a:prstGeom>
          <a:solidFill>
            <a:srgbClr val="232F42"/>
          </a:solidFill>
          <a:ln/>
          <a:effectLst>
            <a:outerShdw blurRad="101600" dist="38100" dir="8100000" algn="bl" rotWithShape="0">
              <a:srgbClr val="000000">
                <a:alpha val="25000"/>
              </a:srgbClr>
            </a:outerShdw>
          </a:effectLst>
        </p:spPr>
        <p:txBody>
          <a:bodyPr/>
          <a:lstStyle/>
          <a:p>
            <a:endParaRPr lang="it-IT"/>
          </a:p>
        </p:txBody>
      </p:sp>
      <p:sp>
        <p:nvSpPr>
          <p:cNvPr id="8" name="Shape 5"/>
          <p:cNvSpPr/>
          <p:nvPr/>
        </p:nvSpPr>
        <p:spPr>
          <a:xfrm>
            <a:off x="548640" y="3520440"/>
            <a:ext cx="54864" cy="640080"/>
          </a:xfrm>
          <a:prstGeom prst="rect">
            <a:avLst/>
          </a:prstGeom>
          <a:solidFill>
            <a:srgbClr val="FFD166"/>
          </a:solidFill>
          <a:ln/>
        </p:spPr>
        <p:txBody>
          <a:bodyPr/>
          <a:lstStyle/>
          <a:p>
            <a:endParaRPr lang="it-IT"/>
          </a:p>
        </p:txBody>
      </p:sp>
      <p:sp>
        <p:nvSpPr>
          <p:cNvPr id="9" name="Text 6"/>
          <p:cNvSpPr/>
          <p:nvPr/>
        </p:nvSpPr>
        <p:spPr>
          <a:xfrm>
            <a:off x="777240" y="3566160"/>
            <a:ext cx="7635240" cy="182880"/>
          </a:xfrm>
          <a:prstGeom prst="rect">
            <a:avLst/>
          </a:prstGeom>
          <a:noFill/>
          <a:ln/>
        </p:spPr>
        <p:txBody>
          <a:bodyPr wrap="square" lIns="0" tIns="0" rIns="0" bIns="0" rtlCol="0" anchor="ctr"/>
          <a:lstStyle/>
          <a:p>
            <a:pPr marL="0" indent="0">
              <a:buNone/>
            </a:pPr>
            <a:r>
              <a:rPr lang="en-US" sz="1200" b="1" dirty="0">
                <a:solidFill>
                  <a:srgbClr val="FFD166"/>
                </a:solidFill>
                <a:latin typeface="Calibri" pitchFamily="34" charset="0"/>
                <a:ea typeface="Calibri" pitchFamily="34" charset="-122"/>
                <a:cs typeface="Calibri" pitchFamily="34" charset="-120"/>
              </a:rPr>
              <a:t>Lo hai visto subito.</a:t>
            </a:r>
            <a:endParaRPr lang="en-US" sz="1200" dirty="0"/>
          </a:p>
        </p:txBody>
      </p:sp>
      <p:sp>
        <p:nvSpPr>
          <p:cNvPr id="10" name="Text 7"/>
          <p:cNvSpPr/>
          <p:nvPr/>
        </p:nvSpPr>
        <p:spPr>
          <a:xfrm>
            <a:off x="777240" y="3767328"/>
            <a:ext cx="7635240" cy="347472"/>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Un singolo accordo con una catena internazionale vale quanto 3-6 mesi di vendita organica in Italia.</a:t>
            </a:r>
            <a:endParaRPr lang="en-US" sz="1100" dirty="0"/>
          </a:p>
          <a:p>
            <a:pPr marL="0" indent="0">
              <a:buNone/>
            </a:pPr>
            <a:r>
              <a:rPr lang="en-US" sz="1100" dirty="0">
                <a:solidFill>
                  <a:srgbClr val="A0AEC0"/>
                </a:solidFill>
                <a:latin typeface="Calibri" pitchFamily="34" charset="0"/>
                <a:ea typeface="Calibri" pitchFamily="34" charset="-122"/>
                <a:cs typeface="Calibri" pitchFamily="34" charset="-120"/>
              </a:rPr>
              <a:t>Questo accordo è anche la milestone che fa maturare l’ultimo 4% di equity.</a:t>
            </a:r>
            <a:endParaRPr lang="en-US" sz="1100" dirty="0"/>
          </a:p>
        </p:txBody>
      </p:sp>
      <p:sp>
        <p:nvSpPr>
          <p:cNvPr id="11" name="Text 8"/>
          <p:cNvSpPr/>
          <p:nvPr/>
        </p:nvSpPr>
        <p:spPr>
          <a:xfrm>
            <a:off x="548640" y="4206240"/>
            <a:ext cx="8046720" cy="502920"/>
          </a:xfrm>
          <a:prstGeom prst="rect">
            <a:avLst/>
          </a:prstGeom>
          <a:noFill/>
          <a:ln/>
        </p:spPr>
        <p:txBody>
          <a:bodyPr wrap="square" lIns="0" tIns="0" rIns="0" bIns="0" rtlCol="0" anchor="ctr"/>
          <a:lstStyle/>
          <a:p>
            <a:pPr marL="0" indent="0">
              <a:buNone/>
            </a:pPr>
            <a:r>
              <a:rPr lang="en-US" sz="1000" i="1" dirty="0">
                <a:solidFill>
                  <a:srgbClr val="718096"/>
                </a:solidFill>
                <a:latin typeface="Calibri" pitchFamily="34" charset="0"/>
                <a:ea typeface="Calibri" pitchFamily="34" charset="-122"/>
                <a:cs typeface="Calibri" pitchFamily="34" charset="-120"/>
              </a:rPr>
              <a:t>Nordic Wellness è un esempio — il primo di una serie.</a:t>
            </a:r>
            <a:endParaRPr lang="en-US" sz="1000" dirty="0"/>
          </a:p>
          <a:p>
            <a:pPr marL="0" indent="0">
              <a:buNone/>
            </a:pPr>
            <a:r>
              <a:rPr lang="en-US" sz="1000" i="1" dirty="0">
                <a:solidFill>
                  <a:srgbClr val="718096"/>
                </a:solidFill>
                <a:latin typeface="Calibri" pitchFamily="34" charset="0"/>
                <a:ea typeface="Calibri" pitchFamily="34" charset="-122"/>
                <a:cs typeface="Calibri" pitchFamily="34" charset="-120"/>
              </a:rPr>
              <a:t>Ogni mercato internazionale aperto aggiunge valore strutturale al progetto — non solo fatturato, ma base installata multi-paese. È il tipo di asset che attira l’attenzione di chi acquisisce nel settore.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11430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PT Evoluto — il progetto congiunto</a:t>
            </a:r>
            <a:endParaRPr lang="en-US" sz="2800" dirty="0"/>
          </a:p>
        </p:txBody>
      </p:sp>
      <p:sp>
        <p:nvSpPr>
          <p:cNvPr id="3" name="Text 1"/>
          <p:cNvSpPr/>
          <p:nvPr/>
        </p:nvSpPr>
        <p:spPr>
          <a:xfrm>
            <a:off x="548640" y="67437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Oggi un trainer che vuole evolversi studia il metodo ma torna in palestra con Excel e WhatsApp. Oppure compra un gestionale ma non ha il metodo per usarlo davvero. Il gap tra "so cosa dovrei fare" e "riesco a farlo" resta. PT Evoluto è la prima volta che metodo e strumento nascono insieme.</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13 / 22</a:t>
            </a:r>
            <a:endParaRPr lang="en-US" sz="800" dirty="0"/>
          </a:p>
        </p:txBody>
      </p:sp>
      <p:pic>
        <p:nvPicPr>
          <p:cNvPr id="6" name="Image 0" descr="preencoded.png"/>
          <p:cNvPicPr>
            <a:picLocks noChangeAspect="1"/>
          </p:cNvPicPr>
          <p:nvPr/>
        </p:nvPicPr>
        <p:blipFill>
          <a:blip r:embed="rId3"/>
          <a:stretch>
            <a:fillRect/>
          </a:stretch>
        </p:blipFill>
        <p:spPr>
          <a:xfrm>
            <a:off x="548640" y="1143000"/>
            <a:ext cx="228600" cy="228600"/>
          </a:xfrm>
          <a:prstGeom prst="rect">
            <a:avLst/>
          </a:prstGeom>
        </p:spPr>
      </p:pic>
      <p:sp>
        <p:nvSpPr>
          <p:cNvPr id="7" name="Text 4"/>
          <p:cNvSpPr/>
          <p:nvPr/>
        </p:nvSpPr>
        <p:spPr>
          <a:xfrm>
            <a:off x="868680" y="1113166"/>
            <a:ext cx="7726680" cy="320040"/>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Il metodo e lo strumento sono inseparabili. L’IC funziona perché entrambi ci siamo dentro.</a:t>
            </a:r>
            <a:endParaRPr lang="en-US" sz="1150" dirty="0"/>
          </a:p>
        </p:txBody>
      </p:sp>
      <p:pic>
        <p:nvPicPr>
          <p:cNvPr id="8" name="Image 1" descr="preencoded.png"/>
          <p:cNvPicPr>
            <a:picLocks noChangeAspect="1"/>
          </p:cNvPicPr>
          <p:nvPr/>
        </p:nvPicPr>
        <p:blipFill>
          <a:blip r:embed="rId3"/>
          <a:stretch>
            <a:fillRect/>
          </a:stretch>
        </p:blipFill>
        <p:spPr>
          <a:xfrm>
            <a:off x="548640" y="1463040"/>
            <a:ext cx="228600" cy="228600"/>
          </a:xfrm>
          <a:prstGeom prst="rect">
            <a:avLst/>
          </a:prstGeom>
        </p:spPr>
      </p:pic>
      <p:sp>
        <p:nvSpPr>
          <p:cNvPr id="9" name="Text 5"/>
          <p:cNvSpPr/>
          <p:nvPr/>
        </p:nvSpPr>
        <p:spPr>
          <a:xfrm>
            <a:off x="868680" y="1417320"/>
            <a:ext cx="7726680" cy="320040"/>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50/50 — perché nessuno dei due può farlo da solo</a:t>
            </a:r>
            <a:endParaRPr lang="en-US" sz="1150" dirty="0"/>
          </a:p>
        </p:txBody>
      </p:sp>
      <p:pic>
        <p:nvPicPr>
          <p:cNvPr id="10" name="Image 2" descr="preencoded.png"/>
          <p:cNvPicPr>
            <a:picLocks noChangeAspect="1"/>
          </p:cNvPicPr>
          <p:nvPr/>
        </p:nvPicPr>
        <p:blipFill>
          <a:blip r:embed="rId3"/>
          <a:stretch>
            <a:fillRect/>
          </a:stretch>
        </p:blipFill>
        <p:spPr>
          <a:xfrm>
            <a:off x="548640" y="1828800"/>
            <a:ext cx="228600" cy="228600"/>
          </a:xfrm>
          <a:prstGeom prst="rect">
            <a:avLst/>
          </a:prstGeom>
        </p:spPr>
      </p:pic>
      <p:sp>
        <p:nvSpPr>
          <p:cNvPr id="11" name="Text 6"/>
          <p:cNvSpPr/>
          <p:nvPr/>
        </p:nvSpPr>
        <p:spPr>
          <a:xfrm>
            <a:off x="868680" y="1783080"/>
            <a:ext cx="7726680" cy="320040"/>
          </a:xfrm>
          <a:prstGeom prst="rect">
            <a:avLst/>
          </a:prstGeom>
          <a:noFill/>
          <a:ln/>
        </p:spPr>
        <p:txBody>
          <a:bodyPr wrap="square" lIns="0" tIns="0" rIns="0" bIns="0" rtlCol="0" anchor="ctr"/>
          <a:lstStyle/>
          <a:p>
            <a:pPr marL="0" indent="0">
              <a:buNone/>
            </a:pPr>
            <a:r>
              <a:rPr lang="en-US" sz="1150" b="1" dirty="0">
                <a:solidFill>
                  <a:srgbClr val="FFD166"/>
                </a:solidFill>
                <a:latin typeface="Calibri" pitchFamily="34" charset="0"/>
                <a:ea typeface="Calibri" pitchFamily="34" charset="-122"/>
                <a:cs typeface="Calibri" pitchFamily="34" charset="-120"/>
              </a:rPr>
              <a:t>Formato, contenuti e pricing dell’IC li definiamo insieme. Se la partnership si dissolve, il contenuto creato da te resta tuo (il brand e la piattaforma restano di Giacomo)</a:t>
            </a:r>
            <a:endParaRPr lang="en-US" sz="1150" dirty="0"/>
          </a:p>
        </p:txBody>
      </p:sp>
      <p:sp>
        <p:nvSpPr>
          <p:cNvPr id="12" name="Text 7"/>
          <p:cNvSpPr/>
          <p:nvPr/>
        </p:nvSpPr>
        <p:spPr>
          <a:xfrm>
            <a:off x="548640" y="2240280"/>
            <a:ext cx="8046720" cy="27432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4 livelli community</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3045837319"/>
              </p:ext>
            </p:extLst>
          </p:nvPr>
        </p:nvGraphicFramePr>
        <p:xfrm>
          <a:off x="548640" y="2560320"/>
          <a:ext cx="8046720" cy="1600200"/>
        </p:xfrm>
        <a:graphic>
          <a:graphicData uri="http://schemas.openxmlformats.org/drawingml/2006/table">
            <a:tbl>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2004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Livello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Prezzo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Cosa include</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Base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Forum, knowledge base, networking, onboarding</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320040">
                <a:tc>
                  <a:txBody>
                    <a:bodyPr/>
                    <a:lstStyle/>
                    <a:p>
                      <a:pPr marL="0" indent="0">
                        <a:buNone/>
                      </a:pPr>
                      <a:r>
                        <a:rPr lang="en-US" sz="1000" b="1" dirty="0">
                          <a:solidFill>
                            <a:srgbClr val="00B4D8"/>
                          </a:solidFill>
                          <a:latin typeface="Calibri" pitchFamily="34" charset="0"/>
                          <a:ea typeface="Calibri" pitchFamily="34" charset="-122"/>
                          <a:cs typeface="Calibri" pitchFamily="34" charset="-120"/>
                        </a:rPr>
                        <a:t>PRO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€79/anno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Aggiornamenti, esercizi trimestrali, template, supporto &lt;24h</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320040">
                <a:tc>
                  <a:txBody>
                    <a:bodyPr/>
                    <a:lstStyle/>
                    <a:p>
                      <a:pPr marL="0" indent="0">
                        <a:buNone/>
                      </a:pPr>
                      <a:r>
                        <a:rPr lang="en-US" sz="1000" b="1" dirty="0">
                          <a:solidFill>
                            <a:srgbClr val="FFD166"/>
                          </a:solidFill>
                          <a:latin typeface="Calibri" pitchFamily="34" charset="0"/>
                          <a:ea typeface="Calibri" pitchFamily="34" charset="-122"/>
                          <a:cs typeface="Calibri" pitchFamily="34" charset="-120"/>
                        </a:rPr>
                        <a:t>Inner Circle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€249/anno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Masterclass, webinar, mastermind, certificazione PT Evoluto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320040">
                <a:tc>
                  <a:txBody>
                    <a:bodyPr/>
                    <a:lstStyle/>
                    <a:p>
                      <a:pPr marL="0" indent="0">
                        <a:buNone/>
                      </a:pPr>
                      <a:r>
                        <a:rPr lang="en-US" sz="1000" b="1" dirty="0">
                          <a:solidFill>
                            <a:srgbClr val="F4A261"/>
                          </a:solidFill>
                          <a:latin typeface="Calibri" pitchFamily="34" charset="0"/>
                          <a:ea typeface="Calibri" pitchFamily="34" charset="-122"/>
                          <a:cs typeface="Calibri" pitchFamily="34" charset="-120"/>
                        </a:rPr>
                        <a:t>Mentorship</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€499-599</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1:1, roadmap, eventi in presenza. Max 15-20. Anno 3+</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bl>
          </a:graphicData>
        </a:graphic>
      </p:graphicFrame>
      <p:sp>
        <p:nvSpPr>
          <p:cNvPr id="13" name="Text 8"/>
          <p:cNvSpPr/>
          <p:nvPr/>
        </p:nvSpPr>
        <p:spPr>
          <a:xfrm>
            <a:off x="548640" y="4251960"/>
            <a:ext cx="8046720" cy="411480"/>
          </a:xfrm>
          <a:prstGeom prst="rect">
            <a:avLst/>
          </a:prstGeom>
          <a:noFill/>
          <a:ln/>
        </p:spPr>
        <p:txBody>
          <a:bodyPr wrap="square" lIns="0" tIns="0" rIns="0" bIns="0" rtlCol="0" anchor="ctr"/>
          <a:lstStyle/>
          <a:p>
            <a:pPr marL="0" indent="0">
              <a:buNone/>
            </a:pPr>
            <a:r>
              <a:rPr lang="en-US" sz="1050" i="1" dirty="0">
                <a:solidFill>
                  <a:srgbClr val="A0AEC0"/>
                </a:solidFill>
                <a:latin typeface="Calibri" pitchFamily="34" charset="0"/>
                <a:ea typeface="Calibri" pitchFamily="34" charset="-122"/>
                <a:cs typeface="Calibri" pitchFamily="34" charset="-120"/>
              </a:rPr>
              <a:t>Ogni masterclass ha 3 vite: live → registrazione → asset marketing.</a:t>
            </a:r>
            <a:endParaRPr lang="en-US" sz="1050" dirty="0"/>
          </a:p>
          <a:p>
            <a:pPr marL="0" indent="0">
              <a:buNone/>
            </a:pPr>
            <a:r>
              <a:rPr lang="en-US" sz="1050" i="1" dirty="0">
                <a:solidFill>
                  <a:srgbClr val="A0AEC0"/>
                </a:solidFill>
                <a:latin typeface="Calibri" pitchFamily="34" charset="0"/>
                <a:ea typeface="Calibri" pitchFamily="34" charset="-122"/>
                <a:cs typeface="Calibri" pitchFamily="34" charset="-120"/>
              </a:rPr>
              <a:t>I termini sulle registrazioni saranno definiti nella Lettera di Intenti.</a:t>
            </a:r>
            <a:endParaRPr lang="en-US" sz="1050" dirty="0"/>
          </a:p>
          <a:p>
            <a:pPr marL="0" indent="0">
              <a:buNone/>
            </a:pPr>
            <a:r>
              <a:rPr lang="en-US" sz="1050" i="1" dirty="0">
                <a:solidFill>
                  <a:srgbClr val="A0AEC0"/>
                </a:solidFill>
                <a:latin typeface="Calibri" pitchFamily="34" charset="0"/>
                <a:ea typeface="Calibri" pitchFamily="34" charset="-122"/>
                <a:cs typeface="Calibri" pitchFamily="34" charset="-120"/>
              </a:rPr>
              <a:t>Con l’internazionale, stesso contenuto, doppio bacino.</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 POC: 10 Fondatori, 90 giorni</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Non vendiamo subito. Prima dimostriamo — il pacchetto completo.</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14 / 22</a:t>
            </a:r>
            <a:endParaRPr lang="en-US" sz="800" dirty="0"/>
          </a:p>
        </p:txBody>
      </p:sp>
      <p:sp>
        <p:nvSpPr>
          <p:cNvPr id="6" name="Shape 4"/>
          <p:cNvSpPr/>
          <p:nvPr/>
        </p:nvSpPr>
        <p:spPr>
          <a:xfrm>
            <a:off x="548640" y="1051560"/>
            <a:ext cx="1901952" cy="11887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5"/>
          <p:cNvSpPr/>
          <p:nvPr/>
        </p:nvSpPr>
        <p:spPr>
          <a:xfrm>
            <a:off x="548640" y="1051560"/>
            <a:ext cx="1901952" cy="45720"/>
          </a:xfrm>
          <a:prstGeom prst="rect">
            <a:avLst/>
          </a:prstGeom>
          <a:solidFill>
            <a:srgbClr val="00B4D8"/>
          </a:solidFill>
          <a:ln/>
        </p:spPr>
        <p:txBody>
          <a:bodyPr/>
          <a:lstStyle/>
          <a:p>
            <a:endParaRPr lang="it-IT"/>
          </a:p>
        </p:txBody>
      </p:sp>
      <p:pic>
        <p:nvPicPr>
          <p:cNvPr id="8" name="Image 0" descr="preencoded.png"/>
          <p:cNvPicPr>
            <a:picLocks noChangeAspect="1"/>
          </p:cNvPicPr>
          <p:nvPr/>
        </p:nvPicPr>
        <p:blipFill>
          <a:blip r:embed="rId3"/>
          <a:stretch>
            <a:fillRect/>
          </a:stretch>
        </p:blipFill>
        <p:spPr>
          <a:xfrm>
            <a:off x="1234440" y="1188720"/>
            <a:ext cx="457200" cy="457200"/>
          </a:xfrm>
          <a:prstGeom prst="rect">
            <a:avLst/>
          </a:prstGeom>
        </p:spPr>
      </p:pic>
      <p:sp>
        <p:nvSpPr>
          <p:cNvPr id="9" name="Text 6"/>
          <p:cNvSpPr/>
          <p:nvPr/>
        </p:nvSpPr>
        <p:spPr>
          <a:xfrm>
            <a:off x="640080" y="1691640"/>
            <a:ext cx="171907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Licenza o Box</a:t>
            </a:r>
            <a:endParaRPr lang="en-US" sz="1100" dirty="0"/>
          </a:p>
        </p:txBody>
      </p:sp>
      <p:sp>
        <p:nvSpPr>
          <p:cNvPr id="10" name="Text 7"/>
          <p:cNvSpPr/>
          <p:nvPr/>
        </p:nvSpPr>
        <p:spPr>
          <a:xfrm>
            <a:off x="640080" y="1938528"/>
            <a:ext cx="1719072" cy="228600"/>
          </a:xfrm>
          <a:prstGeom prst="rect">
            <a:avLst/>
          </a:prstGeom>
          <a:noFill/>
          <a:ln/>
        </p:spPr>
        <p:txBody>
          <a:bodyPr wrap="square" lIns="0" tIns="0" rIns="0" bIns="0" rtlCol="0" anchor="ctr"/>
          <a:lstStyle/>
          <a:p>
            <a:pPr marL="0" indent="0" algn="ctr">
              <a:buNone/>
            </a:pPr>
            <a:r>
              <a:rPr lang="en-US" sz="950" dirty="0">
                <a:solidFill>
                  <a:srgbClr val="A0AEC0"/>
                </a:solidFill>
                <a:latin typeface="Calibri" pitchFamily="34" charset="0"/>
                <a:ea typeface="Calibri" pitchFamily="34" charset="-122"/>
                <a:cs typeface="Calibri" pitchFamily="34" charset="-120"/>
              </a:rPr>
              <a:t>8 a €99 + 2 a €199</a:t>
            </a:r>
            <a:endParaRPr lang="en-US" sz="950" dirty="0"/>
          </a:p>
        </p:txBody>
      </p:sp>
      <p:sp>
        <p:nvSpPr>
          <p:cNvPr id="11" name="Shape 8"/>
          <p:cNvSpPr/>
          <p:nvPr/>
        </p:nvSpPr>
        <p:spPr>
          <a:xfrm>
            <a:off x="2633472" y="1051560"/>
            <a:ext cx="1901952" cy="11887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2" name="Shape 9"/>
          <p:cNvSpPr/>
          <p:nvPr/>
        </p:nvSpPr>
        <p:spPr>
          <a:xfrm>
            <a:off x="2633472" y="1051560"/>
            <a:ext cx="1901952" cy="45720"/>
          </a:xfrm>
          <a:prstGeom prst="rect">
            <a:avLst/>
          </a:prstGeom>
          <a:solidFill>
            <a:srgbClr val="06D6A0"/>
          </a:solidFill>
          <a:ln/>
        </p:spPr>
        <p:txBody>
          <a:bodyPr/>
          <a:lstStyle/>
          <a:p>
            <a:endParaRPr lang="it-IT"/>
          </a:p>
        </p:txBody>
      </p:sp>
      <p:pic>
        <p:nvPicPr>
          <p:cNvPr id="13" name="Image 1" descr="preencoded.png"/>
          <p:cNvPicPr>
            <a:picLocks noChangeAspect="1"/>
          </p:cNvPicPr>
          <p:nvPr/>
        </p:nvPicPr>
        <p:blipFill>
          <a:blip r:embed="rId4"/>
          <a:stretch>
            <a:fillRect/>
          </a:stretch>
        </p:blipFill>
        <p:spPr>
          <a:xfrm>
            <a:off x="3319272" y="1188720"/>
            <a:ext cx="457200" cy="457200"/>
          </a:xfrm>
          <a:prstGeom prst="rect">
            <a:avLst/>
          </a:prstGeom>
        </p:spPr>
      </p:pic>
      <p:sp>
        <p:nvSpPr>
          <p:cNvPr id="14" name="Text 10"/>
          <p:cNvSpPr/>
          <p:nvPr/>
        </p:nvSpPr>
        <p:spPr>
          <a:xfrm>
            <a:off x="2724912" y="1691640"/>
            <a:ext cx="171907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Inner Circle 12 mesi</a:t>
            </a:r>
            <a:endParaRPr lang="en-US" sz="1100" dirty="0"/>
          </a:p>
        </p:txBody>
      </p:sp>
      <p:sp>
        <p:nvSpPr>
          <p:cNvPr id="15" name="Text 11"/>
          <p:cNvSpPr/>
          <p:nvPr/>
        </p:nvSpPr>
        <p:spPr>
          <a:xfrm>
            <a:off x="2724912" y="1938528"/>
            <a:ext cx="1719072" cy="228600"/>
          </a:xfrm>
          <a:prstGeom prst="rect">
            <a:avLst/>
          </a:prstGeom>
          <a:noFill/>
          <a:ln/>
        </p:spPr>
        <p:txBody>
          <a:bodyPr wrap="square" lIns="0" tIns="0" rIns="0" bIns="0" rtlCol="0" anchor="ctr"/>
          <a:lstStyle/>
          <a:p>
            <a:pPr marL="0" indent="0" algn="ctr">
              <a:buNone/>
            </a:pPr>
            <a:r>
              <a:rPr lang="en-US" sz="950" dirty="0">
                <a:solidFill>
                  <a:srgbClr val="A0AEC0"/>
                </a:solidFill>
                <a:latin typeface="Calibri" pitchFamily="34" charset="0"/>
                <a:ea typeface="Calibri" pitchFamily="34" charset="-122"/>
                <a:cs typeface="Calibri" pitchFamily="34" charset="-120"/>
              </a:rPr>
              <a:t>Incluso nel prezzo Fondatore</a:t>
            </a:r>
            <a:endParaRPr lang="en-US" sz="950" dirty="0"/>
          </a:p>
        </p:txBody>
      </p:sp>
      <p:sp>
        <p:nvSpPr>
          <p:cNvPr id="16" name="Shape 12"/>
          <p:cNvSpPr/>
          <p:nvPr/>
        </p:nvSpPr>
        <p:spPr>
          <a:xfrm>
            <a:off x="4718304" y="1051560"/>
            <a:ext cx="1901952" cy="11887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7" name="Shape 13"/>
          <p:cNvSpPr/>
          <p:nvPr/>
        </p:nvSpPr>
        <p:spPr>
          <a:xfrm>
            <a:off x="4718304" y="1051560"/>
            <a:ext cx="1901952" cy="45720"/>
          </a:xfrm>
          <a:prstGeom prst="rect">
            <a:avLst/>
          </a:prstGeom>
          <a:solidFill>
            <a:srgbClr val="FFD166"/>
          </a:solidFill>
          <a:ln/>
        </p:spPr>
        <p:txBody>
          <a:bodyPr/>
          <a:lstStyle/>
          <a:p>
            <a:endParaRPr lang="it-IT"/>
          </a:p>
        </p:txBody>
      </p:sp>
      <p:pic>
        <p:nvPicPr>
          <p:cNvPr id="18" name="Image 2" descr="preencoded.png"/>
          <p:cNvPicPr>
            <a:picLocks noChangeAspect="1"/>
          </p:cNvPicPr>
          <p:nvPr/>
        </p:nvPicPr>
        <p:blipFill>
          <a:blip r:embed="rId5"/>
          <a:stretch>
            <a:fillRect/>
          </a:stretch>
        </p:blipFill>
        <p:spPr>
          <a:xfrm>
            <a:off x="5404104" y="1188720"/>
            <a:ext cx="457200" cy="457200"/>
          </a:xfrm>
          <a:prstGeom prst="rect">
            <a:avLst/>
          </a:prstGeom>
        </p:spPr>
      </p:pic>
      <p:sp>
        <p:nvSpPr>
          <p:cNvPr id="19" name="Text 14"/>
          <p:cNvSpPr/>
          <p:nvPr/>
        </p:nvSpPr>
        <p:spPr>
          <a:xfrm>
            <a:off x="4809744" y="1691640"/>
            <a:ext cx="171907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Community Fondatori</a:t>
            </a:r>
            <a:endParaRPr lang="en-US" sz="1100" dirty="0"/>
          </a:p>
        </p:txBody>
      </p:sp>
      <p:sp>
        <p:nvSpPr>
          <p:cNvPr id="20" name="Text 15"/>
          <p:cNvSpPr/>
          <p:nvPr/>
        </p:nvSpPr>
        <p:spPr>
          <a:xfrm>
            <a:off x="4809744" y="1938528"/>
            <a:ext cx="1719072" cy="228600"/>
          </a:xfrm>
          <a:prstGeom prst="rect">
            <a:avLst/>
          </a:prstGeom>
          <a:noFill/>
          <a:ln/>
        </p:spPr>
        <p:txBody>
          <a:bodyPr wrap="square" lIns="0" tIns="0" rIns="0" bIns="0" rtlCol="0" anchor="ctr"/>
          <a:lstStyle/>
          <a:p>
            <a:pPr marL="0" indent="0" algn="ctr">
              <a:buNone/>
            </a:pPr>
            <a:r>
              <a:rPr lang="en-US" sz="950" dirty="0">
                <a:solidFill>
                  <a:srgbClr val="A0AEC0"/>
                </a:solidFill>
                <a:latin typeface="Calibri" pitchFamily="34" charset="0"/>
                <a:ea typeface="Calibri" pitchFamily="34" charset="-122"/>
                <a:cs typeface="Calibri" pitchFamily="34" charset="-120"/>
              </a:rPr>
              <a:t>Canale riservato</a:t>
            </a:r>
            <a:endParaRPr lang="en-US" sz="950" dirty="0"/>
          </a:p>
        </p:txBody>
      </p:sp>
      <p:sp>
        <p:nvSpPr>
          <p:cNvPr id="21" name="Shape 16"/>
          <p:cNvSpPr/>
          <p:nvPr/>
        </p:nvSpPr>
        <p:spPr>
          <a:xfrm>
            <a:off x="6803136" y="1051560"/>
            <a:ext cx="1901952" cy="11887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2" name="Shape 17"/>
          <p:cNvSpPr/>
          <p:nvPr/>
        </p:nvSpPr>
        <p:spPr>
          <a:xfrm>
            <a:off x="6803136" y="1051560"/>
            <a:ext cx="1901952" cy="45720"/>
          </a:xfrm>
          <a:prstGeom prst="rect">
            <a:avLst/>
          </a:prstGeom>
          <a:solidFill>
            <a:srgbClr val="F4A261"/>
          </a:solidFill>
          <a:ln/>
        </p:spPr>
        <p:txBody>
          <a:bodyPr/>
          <a:lstStyle/>
          <a:p>
            <a:endParaRPr lang="it-IT"/>
          </a:p>
        </p:txBody>
      </p:sp>
      <p:pic>
        <p:nvPicPr>
          <p:cNvPr id="23" name="Image 3" descr="preencoded.png"/>
          <p:cNvPicPr>
            <a:picLocks noChangeAspect="1"/>
          </p:cNvPicPr>
          <p:nvPr/>
        </p:nvPicPr>
        <p:blipFill>
          <a:blip r:embed="rId6"/>
          <a:stretch>
            <a:fillRect/>
          </a:stretch>
        </p:blipFill>
        <p:spPr>
          <a:xfrm>
            <a:off x="7488936" y="1188720"/>
            <a:ext cx="457200" cy="457200"/>
          </a:xfrm>
          <a:prstGeom prst="rect">
            <a:avLst/>
          </a:prstGeom>
        </p:spPr>
      </p:pic>
      <p:sp>
        <p:nvSpPr>
          <p:cNvPr id="24" name="Text 18"/>
          <p:cNvSpPr/>
          <p:nvPr/>
        </p:nvSpPr>
        <p:spPr>
          <a:xfrm>
            <a:off x="6894576" y="1691640"/>
            <a:ext cx="171907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Installazione 1:1</a:t>
            </a:r>
            <a:endParaRPr lang="en-US" sz="1100" dirty="0"/>
          </a:p>
        </p:txBody>
      </p:sp>
      <p:sp>
        <p:nvSpPr>
          <p:cNvPr id="25" name="Text 19"/>
          <p:cNvSpPr/>
          <p:nvPr/>
        </p:nvSpPr>
        <p:spPr>
          <a:xfrm>
            <a:off x="6894576" y="1938528"/>
            <a:ext cx="1719072" cy="228600"/>
          </a:xfrm>
          <a:prstGeom prst="rect">
            <a:avLst/>
          </a:prstGeom>
          <a:noFill/>
          <a:ln/>
        </p:spPr>
        <p:txBody>
          <a:bodyPr wrap="square" lIns="0" tIns="0" rIns="0" bIns="0" rtlCol="0" anchor="ctr"/>
          <a:lstStyle/>
          <a:p>
            <a:pPr marL="0" indent="0" algn="ctr">
              <a:buNone/>
            </a:pPr>
            <a:r>
              <a:rPr lang="en-US" sz="950" dirty="0">
                <a:solidFill>
                  <a:srgbClr val="A0AEC0"/>
                </a:solidFill>
                <a:latin typeface="Calibri" pitchFamily="34" charset="0"/>
                <a:ea typeface="Calibri" pitchFamily="34" charset="-122"/>
                <a:cs typeface="Calibri" pitchFamily="34" charset="-120"/>
              </a:rPr>
              <a:t>Setup guidato con il founder</a:t>
            </a:r>
            <a:endParaRPr lang="en-US" sz="950" dirty="0"/>
          </a:p>
        </p:txBody>
      </p:sp>
      <p:sp>
        <p:nvSpPr>
          <p:cNvPr id="26" name="Shape 20"/>
          <p:cNvSpPr/>
          <p:nvPr/>
        </p:nvSpPr>
        <p:spPr>
          <a:xfrm>
            <a:off x="548640" y="2468880"/>
            <a:ext cx="2560320" cy="77724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7" name="Text 21"/>
          <p:cNvSpPr/>
          <p:nvPr/>
        </p:nvSpPr>
        <p:spPr>
          <a:xfrm>
            <a:off x="685800" y="2514600"/>
            <a:ext cx="2286000" cy="365760"/>
          </a:xfrm>
          <a:prstGeom prst="rect">
            <a:avLst/>
          </a:prstGeom>
          <a:noFill/>
          <a:ln/>
        </p:spPr>
        <p:txBody>
          <a:bodyPr wrap="square" lIns="0" tIns="0" rIns="0" bIns="0" rtlCol="0" anchor="ctr"/>
          <a:lstStyle/>
          <a:p>
            <a:pPr marL="0" indent="0">
              <a:buNone/>
            </a:pPr>
            <a:r>
              <a:rPr lang="en-US" sz="2400" b="1" dirty="0">
                <a:solidFill>
                  <a:srgbClr val="00B4D8"/>
                </a:solidFill>
                <a:latin typeface="Trebuchet MS" pitchFamily="34" charset="0"/>
                <a:ea typeface="Trebuchet MS" pitchFamily="34" charset="-122"/>
                <a:cs typeface="Trebuchet MS" pitchFamily="34" charset="-120"/>
              </a:rPr>
              <a:t>€1.190</a:t>
            </a:r>
            <a:endParaRPr lang="en-US" sz="2400" dirty="0"/>
          </a:p>
        </p:txBody>
      </p:sp>
      <p:sp>
        <p:nvSpPr>
          <p:cNvPr id="28" name="Text 22"/>
          <p:cNvSpPr/>
          <p:nvPr/>
        </p:nvSpPr>
        <p:spPr>
          <a:xfrm>
            <a:off x="685800" y="2907792"/>
            <a:ext cx="2286000" cy="228600"/>
          </a:xfrm>
          <a:prstGeom prst="rect">
            <a:avLst/>
          </a:prstGeom>
          <a:noFill/>
          <a:ln/>
        </p:spPr>
        <p:txBody>
          <a:bodyPr wrap="square" lIns="0" tIns="0" rIns="0" bIns="0" rtlCol="0" anchor="ctr"/>
          <a:lstStyle/>
          <a:p>
            <a:pPr marL="0" indent="0">
              <a:buNone/>
            </a:pPr>
            <a:r>
              <a:rPr lang="en-US" sz="1000" dirty="0">
                <a:solidFill>
                  <a:srgbClr val="A0AEC0"/>
                </a:solidFill>
                <a:latin typeface="Calibri" pitchFamily="34" charset="0"/>
                <a:ea typeface="Calibri" pitchFamily="34" charset="-122"/>
                <a:cs typeface="Calibri" pitchFamily="34" charset="-120"/>
              </a:rPr>
              <a:t>Ricavo POC</a:t>
            </a:r>
            <a:endParaRPr lang="en-US" sz="1000" dirty="0"/>
          </a:p>
        </p:txBody>
      </p:sp>
      <p:sp>
        <p:nvSpPr>
          <p:cNvPr id="29" name="Shape 23"/>
          <p:cNvSpPr/>
          <p:nvPr/>
        </p:nvSpPr>
        <p:spPr>
          <a:xfrm>
            <a:off x="3383280" y="2468880"/>
            <a:ext cx="2560320" cy="77724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30" name="Text 24"/>
          <p:cNvSpPr/>
          <p:nvPr/>
        </p:nvSpPr>
        <p:spPr>
          <a:xfrm>
            <a:off x="3520440" y="2514600"/>
            <a:ext cx="2286000" cy="365760"/>
          </a:xfrm>
          <a:prstGeom prst="rect">
            <a:avLst/>
          </a:prstGeom>
          <a:noFill/>
          <a:ln/>
        </p:spPr>
        <p:txBody>
          <a:bodyPr wrap="square" lIns="0" tIns="0" rIns="0" bIns="0" rtlCol="0" anchor="ctr"/>
          <a:lstStyle/>
          <a:p>
            <a:pPr marL="0" indent="0">
              <a:buNone/>
            </a:pPr>
            <a:r>
              <a:rPr lang="en-US" sz="2400" b="1" dirty="0">
                <a:solidFill>
                  <a:srgbClr val="F4A261"/>
                </a:solidFill>
                <a:latin typeface="Trebuchet MS" pitchFamily="34" charset="0"/>
                <a:ea typeface="Trebuchet MS" pitchFamily="34" charset="-122"/>
                <a:cs typeface="Trebuchet MS" pitchFamily="34" charset="-120"/>
              </a:rPr>
              <a:t>~€300</a:t>
            </a:r>
            <a:endParaRPr lang="en-US" sz="2400" dirty="0"/>
          </a:p>
        </p:txBody>
      </p:sp>
      <p:sp>
        <p:nvSpPr>
          <p:cNvPr id="31" name="Text 25"/>
          <p:cNvSpPr/>
          <p:nvPr/>
        </p:nvSpPr>
        <p:spPr>
          <a:xfrm>
            <a:off x="3520440" y="2907792"/>
            <a:ext cx="2286000" cy="228600"/>
          </a:xfrm>
          <a:prstGeom prst="rect">
            <a:avLst/>
          </a:prstGeom>
          <a:noFill/>
          <a:ln/>
        </p:spPr>
        <p:txBody>
          <a:bodyPr wrap="square" lIns="0" tIns="0" rIns="0" bIns="0" rtlCol="0" anchor="ctr"/>
          <a:lstStyle/>
          <a:p>
            <a:pPr marL="0" indent="0">
              <a:buNone/>
            </a:pPr>
            <a:r>
              <a:rPr lang="en-US" sz="1000" dirty="0">
                <a:solidFill>
                  <a:srgbClr val="A0AEC0"/>
                </a:solidFill>
                <a:latin typeface="Calibri" pitchFamily="34" charset="0"/>
                <a:ea typeface="Calibri" pitchFamily="34" charset="-122"/>
                <a:cs typeface="Calibri" pitchFamily="34" charset="-120"/>
              </a:rPr>
              <a:t>Costo vivo (2 Box)</a:t>
            </a:r>
            <a:endParaRPr lang="en-US" sz="1000" dirty="0"/>
          </a:p>
        </p:txBody>
      </p:sp>
      <p:sp>
        <p:nvSpPr>
          <p:cNvPr id="32" name="Shape 26"/>
          <p:cNvSpPr/>
          <p:nvPr/>
        </p:nvSpPr>
        <p:spPr>
          <a:xfrm>
            <a:off x="6217920" y="2468880"/>
            <a:ext cx="2560320" cy="77724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33" name="Text 27"/>
          <p:cNvSpPr/>
          <p:nvPr/>
        </p:nvSpPr>
        <p:spPr>
          <a:xfrm>
            <a:off x="6355080" y="2514600"/>
            <a:ext cx="2286000" cy="365760"/>
          </a:xfrm>
          <a:prstGeom prst="rect">
            <a:avLst/>
          </a:prstGeom>
          <a:noFill/>
          <a:ln/>
        </p:spPr>
        <p:txBody>
          <a:bodyPr wrap="square" lIns="0" tIns="0" rIns="0" bIns="0" rtlCol="0" anchor="ctr"/>
          <a:lstStyle/>
          <a:p>
            <a:pPr marL="0" indent="0">
              <a:buNone/>
            </a:pPr>
            <a:r>
              <a:rPr lang="en-US" sz="2400" b="1" dirty="0">
                <a:solidFill>
                  <a:srgbClr val="06D6A0"/>
                </a:solidFill>
                <a:latin typeface="Trebuchet MS" pitchFamily="34" charset="0"/>
                <a:ea typeface="Trebuchet MS" pitchFamily="34" charset="-122"/>
                <a:cs typeface="Trebuchet MS" pitchFamily="34" charset="-120"/>
              </a:rPr>
              <a:t>~€300</a:t>
            </a:r>
            <a:endParaRPr lang="en-US" sz="2400" dirty="0"/>
          </a:p>
        </p:txBody>
      </p:sp>
      <p:sp>
        <p:nvSpPr>
          <p:cNvPr id="34" name="Text 28"/>
          <p:cNvSpPr/>
          <p:nvPr/>
        </p:nvSpPr>
        <p:spPr>
          <a:xfrm>
            <a:off x="6355080" y="2907792"/>
            <a:ext cx="2286000" cy="228600"/>
          </a:xfrm>
          <a:prstGeom prst="rect">
            <a:avLst/>
          </a:prstGeom>
          <a:noFill/>
          <a:ln/>
        </p:spPr>
        <p:txBody>
          <a:bodyPr wrap="square" lIns="0" tIns="0" rIns="0" bIns="0" rtlCol="0" anchor="ctr"/>
          <a:lstStyle/>
          <a:p>
            <a:pPr marL="0" indent="0">
              <a:buNone/>
            </a:pPr>
            <a:r>
              <a:rPr lang="en-US" sz="1000" dirty="0">
                <a:solidFill>
                  <a:srgbClr val="A0AEC0"/>
                </a:solidFill>
                <a:latin typeface="Calibri" pitchFamily="34" charset="0"/>
                <a:ea typeface="Calibri" pitchFamily="34" charset="-122"/>
                <a:cs typeface="Calibri" pitchFamily="34" charset="-120"/>
              </a:rPr>
              <a:t>Investimento netto in cash</a:t>
            </a:r>
            <a:endParaRPr lang="en-US" sz="1000" dirty="0"/>
          </a:p>
        </p:txBody>
      </p:sp>
      <p:sp>
        <p:nvSpPr>
          <p:cNvPr id="35" name="Text 29"/>
          <p:cNvSpPr/>
          <p:nvPr/>
        </p:nvSpPr>
        <p:spPr>
          <a:xfrm>
            <a:off x="548640" y="3429000"/>
            <a:ext cx="8046720" cy="27432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Valore reale per ogni Fondatore: €498-698. Lo ottengono a €99-199 perché sono l'investimento più importante del progetto.</a:t>
            </a:r>
            <a:endParaRPr lang="en-US" sz="1100" dirty="0"/>
          </a:p>
        </p:txBody>
      </p:sp>
      <p:sp>
        <p:nvSpPr>
          <p:cNvPr id="36" name="Text 30"/>
          <p:cNvSpPr/>
          <p:nvPr/>
        </p:nvSpPr>
        <p:spPr>
          <a:xfrm>
            <a:off x="548640" y="3749040"/>
            <a:ext cx="8046720" cy="274320"/>
          </a:xfrm>
          <a:prstGeom prst="rect">
            <a:avLst/>
          </a:prstGeom>
          <a:noFill/>
          <a:ln/>
        </p:spPr>
        <p:txBody>
          <a:bodyPr wrap="square" lIns="0" tIns="0" rIns="0" bIns="0" rtlCol="0" anchor="ctr"/>
          <a:lstStyle/>
          <a:p>
            <a:pPr marL="0" indent="0">
              <a:buNone/>
            </a:pPr>
            <a:r>
              <a:rPr lang="en-US" sz="1100" i="1" dirty="0">
                <a:solidFill>
                  <a:srgbClr val="FFD166"/>
                </a:solidFill>
                <a:latin typeface="Calibri" pitchFamily="34" charset="0"/>
                <a:ea typeface="Calibri" pitchFamily="34" charset="-122"/>
                <a:cs typeface="Calibri" pitchFamily="34" charset="-120"/>
              </a:rPr>
              <a:t>Selezioni tu i Fondatori dalla tua rete. Professionisti scelti, con influenza nel proprio circolo — non i primi che capitano.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 ruoli nella POC</a:t>
            </a:r>
            <a:endParaRPr lang="en-US" sz="2800" dirty="0"/>
          </a:p>
        </p:txBody>
      </p:sp>
      <p:sp>
        <p:nvSpPr>
          <p:cNvPr id="3" name="Text 1"/>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4" name="Text 2"/>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15 / 22</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3255264"/>
        </p:xfrm>
        <a:graphic>
          <a:graphicData uri="http://schemas.openxmlformats.org/drawingml/2006/table">
            <a:tbl>
              <a:tblPr/>
              <a:tblGrid>
                <a:gridCol w="47548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Attività</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Chi</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Ore</a:t>
                      </a:r>
                      <a:endParaRPr lang="en-US" sz="11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347472">
                <a:tc>
                  <a:txBody>
                    <a:bodyPr/>
                    <a:lstStyle/>
                    <a:p>
                      <a:pPr marL="0" indent="0">
                        <a:buNone/>
                      </a:pPr>
                      <a:r>
                        <a:rPr lang="en-US" sz="1050" dirty="0">
                          <a:solidFill>
                            <a:srgbClr val="06D6A0"/>
                          </a:solidFill>
                          <a:latin typeface="Calibri" pitchFamily="34" charset="0"/>
                          <a:ea typeface="Calibri" pitchFamily="34" charset="-122"/>
                          <a:cs typeface="Calibri" pitchFamily="34" charset="-120"/>
                        </a:rPr>
                        <a:t>Selezione 10 Fondatori dal network</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06D6A0"/>
                          </a:solidFill>
                          <a:latin typeface="Calibri" pitchFamily="34" charset="0"/>
                          <a:ea typeface="Calibri" pitchFamily="34" charset="-122"/>
                          <a:cs typeface="Calibri" pitchFamily="34" charset="-120"/>
                        </a:rPr>
                        <a:t>Alessio + Giacomo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347472">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Installazione, setup, config template WA</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Giacomo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15-20</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347472">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Check-in bisettimanali con ogni Fondatore</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Giacomo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347472">
                <a:tc>
                  <a:txBody>
                    <a:bodyPr/>
                    <a:lstStyle/>
                    <a:p>
                      <a:pPr marL="0" indent="0">
                        <a:buNone/>
                      </a:pPr>
                      <a:r>
                        <a:rPr lang="en-US" sz="1050" dirty="0">
                          <a:solidFill>
                            <a:srgbClr val="06D6A0"/>
                          </a:solidFill>
                          <a:latin typeface="Calibri" pitchFamily="34" charset="0"/>
                          <a:ea typeface="Calibri" pitchFamily="34" charset="-122"/>
                          <a:cs typeface="Calibri" pitchFamily="34" charset="-120"/>
                        </a:rPr>
                        <a:t>Masterclass mese 1</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06D6A0"/>
                          </a:solidFill>
                          <a:latin typeface="Calibri" pitchFamily="34" charset="0"/>
                          <a:ea typeface="Calibri" pitchFamily="34" charset="-122"/>
                          <a:cs typeface="Calibri" pitchFamily="34" charset="-120"/>
                        </a:rPr>
                        <a:t>Insieme — Alessio guida, Giacomo demo live</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r h="347472">
                <a:tc>
                  <a:txBody>
                    <a:bodyPr/>
                    <a:lstStyle/>
                    <a:p>
                      <a:pPr marL="0" indent="0">
                        <a:buNone/>
                      </a:pPr>
                      <a:r>
                        <a:rPr lang="en-US" sz="1050" dirty="0">
                          <a:solidFill>
                            <a:srgbClr val="06D6A0"/>
                          </a:solidFill>
                          <a:latin typeface="Calibri" pitchFamily="34" charset="0"/>
                          <a:ea typeface="Calibri" pitchFamily="34" charset="-122"/>
                          <a:cs typeface="Calibri" pitchFamily="34" charset="-120"/>
                        </a:rPr>
                        <a:t>Webinar mese 2</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06D6A0"/>
                          </a:solidFill>
                          <a:latin typeface="Calibri" pitchFamily="34" charset="0"/>
                          <a:ea typeface="Calibri" pitchFamily="34" charset="-122"/>
                          <a:cs typeface="Calibri" pitchFamily="34" charset="-120"/>
                        </a:rPr>
                        <a:t>Alessio + Giacomo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5"/>
                  </a:ext>
                </a:extLst>
              </a:tr>
              <a:tr h="347472">
                <a:tc>
                  <a:txBody>
                    <a:bodyPr/>
                    <a:lstStyle/>
                    <a:p>
                      <a:pPr marL="0" indent="0">
                        <a:buNone/>
                      </a:pPr>
                      <a:r>
                        <a:rPr lang="en-US" sz="1050" dirty="0">
                          <a:solidFill>
                            <a:srgbClr val="06D6A0"/>
                          </a:solidFill>
                          <a:latin typeface="Calibri" pitchFamily="34" charset="0"/>
                          <a:ea typeface="Calibri" pitchFamily="34" charset="-122"/>
                          <a:cs typeface="Calibri" pitchFamily="34" charset="-120"/>
                        </a:rPr>
                        <a:t>Masterclass mese 3</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06D6A0"/>
                          </a:solidFill>
                          <a:latin typeface="Calibri" pitchFamily="34" charset="0"/>
                          <a:ea typeface="Calibri" pitchFamily="34" charset="-122"/>
                          <a:cs typeface="Calibri" pitchFamily="34" charset="-120"/>
                        </a:rPr>
                        <a:t>Insieme — Alessio guida, Giacomo demo live</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6"/>
                  </a:ext>
                </a:extLst>
              </a:tr>
              <a:tr h="347472">
                <a:tc>
                  <a:txBody>
                    <a:bodyPr/>
                    <a:lstStyle/>
                    <a:p>
                      <a:pPr marL="0" indent="0">
                        <a:buNone/>
                      </a:pPr>
                      <a:r>
                        <a:rPr lang="en-US" sz="1050" dirty="0">
                          <a:solidFill>
                            <a:srgbClr val="06D6A0"/>
                          </a:solidFill>
                          <a:latin typeface="Calibri" pitchFamily="34" charset="0"/>
                          <a:ea typeface="Calibri" pitchFamily="34" charset="-122"/>
                          <a:cs typeface="Calibri" pitchFamily="34" charset="-120"/>
                        </a:rPr>
                        <a:t>Sessione di gruppo finale (giorno 90)</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06D6A0"/>
                          </a:solidFill>
                          <a:latin typeface="Calibri" pitchFamily="34" charset="0"/>
                          <a:ea typeface="Calibri" pitchFamily="34" charset="-122"/>
                          <a:cs typeface="Calibri" pitchFamily="34" charset="-120"/>
                        </a:rPr>
                        <a:t>Alessio + Giacomo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7"/>
                  </a:ext>
                </a:extLst>
              </a:tr>
              <a:tr h="347472">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Micro-sondaggi e analisi dati</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Giacomo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8"/>
                  </a:ext>
                </a:extLst>
              </a:tr>
            </a:tbl>
          </a:graphicData>
        </a:graphic>
      </p:graphicFrame>
      <p:sp>
        <p:nvSpPr>
          <p:cNvPr id="6" name="Shape 3"/>
          <p:cNvSpPr/>
          <p:nvPr/>
        </p:nvSpPr>
        <p:spPr>
          <a:xfrm>
            <a:off x="548640" y="4114800"/>
            <a:ext cx="3794760" cy="502920"/>
          </a:xfrm>
          <a:prstGeom prst="rect">
            <a:avLst/>
          </a:prstGeom>
          <a:solidFill>
            <a:srgbClr val="232F42"/>
          </a:solidFill>
          <a:ln/>
          <a:effectLst>
            <a:outerShdw blurRad="101600" dist="38100" dir="8100000" algn="bl" rotWithShape="0">
              <a:srgbClr val="000000">
                <a:alpha val="25000"/>
              </a:srgbClr>
            </a:outerShdw>
          </a:effectLst>
        </p:spPr>
        <p:txBody>
          <a:bodyPr/>
          <a:lstStyle/>
          <a:p>
            <a:endParaRPr lang="it-IT"/>
          </a:p>
        </p:txBody>
      </p:sp>
      <p:sp>
        <p:nvSpPr>
          <p:cNvPr id="7" name="Shape 4"/>
          <p:cNvSpPr/>
          <p:nvPr/>
        </p:nvSpPr>
        <p:spPr>
          <a:xfrm>
            <a:off x="548640" y="4114800"/>
            <a:ext cx="54864" cy="502920"/>
          </a:xfrm>
          <a:prstGeom prst="rect">
            <a:avLst/>
          </a:prstGeom>
          <a:solidFill>
            <a:srgbClr val="06D6A0"/>
          </a:solidFill>
          <a:ln/>
        </p:spPr>
        <p:txBody>
          <a:bodyPr/>
          <a:lstStyle/>
          <a:p>
            <a:endParaRPr lang="it-IT"/>
          </a:p>
        </p:txBody>
      </p:sp>
      <p:sp>
        <p:nvSpPr>
          <p:cNvPr id="8" name="Text 5"/>
          <p:cNvSpPr/>
          <p:nvPr/>
        </p:nvSpPr>
        <p:spPr>
          <a:xfrm>
            <a:off x="777240" y="4160520"/>
            <a:ext cx="3383280" cy="320040"/>
          </a:xfrm>
          <a:prstGeom prst="rect">
            <a:avLst/>
          </a:prstGeom>
          <a:noFill/>
          <a:ln/>
        </p:spPr>
        <p:txBody>
          <a:bodyPr wrap="square" lIns="0" tIns="0" rIns="0" bIns="0" rtlCol="0" anchor="ctr"/>
          <a:lstStyle/>
          <a:p>
            <a:pPr marL="0" indent="0">
              <a:buNone/>
            </a:pPr>
            <a:r>
              <a:rPr lang="en-US" sz="1300" b="1" dirty="0">
                <a:solidFill>
                  <a:srgbClr val="06D6A0"/>
                </a:solidFill>
                <a:latin typeface="Calibri" pitchFamily="34" charset="0"/>
                <a:ea typeface="Calibri" pitchFamily="34" charset="-122"/>
                <a:cs typeface="Calibri" pitchFamily="34" charset="-120"/>
              </a:rPr>
              <a:t>Totale Alessio: ~15-20 ore in 90gg</a:t>
            </a:r>
            <a:endParaRPr lang="en-US" sz="1300" dirty="0"/>
          </a:p>
        </p:txBody>
      </p:sp>
      <p:sp>
        <p:nvSpPr>
          <p:cNvPr id="9" name="Shape 6"/>
          <p:cNvSpPr/>
          <p:nvPr/>
        </p:nvSpPr>
        <p:spPr>
          <a:xfrm>
            <a:off x="4800600" y="4114800"/>
            <a:ext cx="3794760" cy="502920"/>
          </a:xfrm>
          <a:prstGeom prst="rect">
            <a:avLst/>
          </a:prstGeom>
          <a:solidFill>
            <a:srgbClr val="232F42"/>
          </a:solidFill>
          <a:ln/>
          <a:effectLst>
            <a:outerShdw blurRad="101600" dist="38100" dir="8100000" algn="bl" rotWithShape="0">
              <a:srgbClr val="000000">
                <a:alpha val="25000"/>
              </a:srgbClr>
            </a:outerShdw>
          </a:effectLst>
        </p:spPr>
        <p:txBody>
          <a:bodyPr/>
          <a:lstStyle/>
          <a:p>
            <a:endParaRPr lang="it-IT"/>
          </a:p>
        </p:txBody>
      </p:sp>
      <p:sp>
        <p:nvSpPr>
          <p:cNvPr id="10" name="Shape 7"/>
          <p:cNvSpPr/>
          <p:nvPr/>
        </p:nvSpPr>
        <p:spPr>
          <a:xfrm>
            <a:off x="4800600" y="4114800"/>
            <a:ext cx="54864" cy="502920"/>
          </a:xfrm>
          <a:prstGeom prst="rect">
            <a:avLst/>
          </a:prstGeom>
          <a:solidFill>
            <a:srgbClr val="00B4D8"/>
          </a:solidFill>
          <a:ln/>
        </p:spPr>
        <p:txBody>
          <a:bodyPr/>
          <a:lstStyle/>
          <a:p>
            <a:endParaRPr lang="it-IT"/>
          </a:p>
        </p:txBody>
      </p:sp>
      <p:sp>
        <p:nvSpPr>
          <p:cNvPr id="11" name="Text 8"/>
          <p:cNvSpPr/>
          <p:nvPr/>
        </p:nvSpPr>
        <p:spPr>
          <a:xfrm>
            <a:off x="5029200" y="4160520"/>
            <a:ext cx="338328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Totale Giacomo: ~40-45 ore in 90gg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 metriche e la decisione al giorno 90</a:t>
            </a:r>
            <a:endParaRPr lang="en-US" sz="2800" dirty="0"/>
          </a:p>
        </p:txBody>
      </p:sp>
      <p:sp>
        <p:nvSpPr>
          <p:cNvPr id="3" name="Text 1"/>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4" name="Text 2"/>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16 / 22</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822960"/>
          <a:ext cx="8046720" cy="2560320"/>
        </p:xfrm>
        <a:graphic>
          <a:graphicData uri="http://schemas.openxmlformats.org/drawingml/2006/table">
            <a:tbl>
              <a:tblPr/>
              <a:tblGrid>
                <a:gridCol w="3474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Metrica</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Cosa valida</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Ore admin risparmiate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Da 3-5h a &lt;2h/sett.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Il prodotto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Messaggi WA pre-compilati/sett.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Adozione comunicazione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Clienti usano portale allenamento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7/10 attivi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Workout Intelligence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NPS</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b="1" dirty="0">
                          <a:solidFill>
                            <a:srgbClr val="06D6A0"/>
                          </a:solidFill>
                          <a:latin typeface="Calibri" pitchFamily="34" charset="0"/>
                          <a:ea typeface="Calibri" pitchFamily="34" charset="-122"/>
                          <a:cs typeface="Calibri" pitchFamily="34" charset="-120"/>
                        </a:rPr>
                        <a:t>Sopra 50</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Prodotto + percorso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"Lo ricomprerei a prezzo pieno"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8/10 sì</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Modello economico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5"/>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"I miei clienti notano differenza"</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5/10 sì</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Volano PT Evoluto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6"/>
                  </a:ext>
                </a:extLst>
              </a:tr>
              <a:tr h="320040">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"Mi definirei un PT Evoluto"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6/10 sì</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Category creation</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7"/>
                  </a:ext>
                </a:extLst>
              </a:tr>
            </a:tbl>
          </a:graphicData>
        </a:graphic>
      </p:graphicFrame>
      <p:sp>
        <p:nvSpPr>
          <p:cNvPr id="6" name="Shape 3"/>
          <p:cNvSpPr/>
          <p:nvPr/>
        </p:nvSpPr>
        <p:spPr>
          <a:xfrm>
            <a:off x="548640" y="3520440"/>
            <a:ext cx="256032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4"/>
          <p:cNvSpPr/>
          <p:nvPr/>
        </p:nvSpPr>
        <p:spPr>
          <a:xfrm>
            <a:off x="548640" y="3520440"/>
            <a:ext cx="2560320" cy="54864"/>
          </a:xfrm>
          <a:prstGeom prst="rect">
            <a:avLst/>
          </a:prstGeom>
          <a:solidFill>
            <a:srgbClr val="06D6A0"/>
          </a:solidFill>
          <a:ln/>
        </p:spPr>
        <p:txBody>
          <a:bodyPr/>
          <a:lstStyle/>
          <a:p>
            <a:endParaRPr lang="it-IT"/>
          </a:p>
        </p:txBody>
      </p:sp>
      <p:sp>
        <p:nvSpPr>
          <p:cNvPr id="8" name="Text 5"/>
          <p:cNvSpPr/>
          <p:nvPr/>
        </p:nvSpPr>
        <p:spPr>
          <a:xfrm>
            <a:off x="685800" y="3611880"/>
            <a:ext cx="2286000" cy="274320"/>
          </a:xfrm>
          <a:prstGeom prst="rect">
            <a:avLst/>
          </a:prstGeom>
          <a:noFill/>
          <a:ln/>
        </p:spPr>
        <p:txBody>
          <a:bodyPr wrap="square" lIns="0" tIns="0" rIns="0" bIns="0" rtlCol="0" anchor="ctr"/>
          <a:lstStyle/>
          <a:p>
            <a:pPr marL="0" indent="0">
              <a:buNone/>
            </a:pPr>
            <a:r>
              <a:rPr lang="en-US" sz="1400" b="1" dirty="0">
                <a:solidFill>
                  <a:srgbClr val="06D6A0"/>
                </a:solidFill>
                <a:latin typeface="Trebuchet MS" pitchFamily="34" charset="0"/>
                <a:ea typeface="Trebuchet MS" pitchFamily="34" charset="-122"/>
                <a:cs typeface="Trebuchet MS" pitchFamily="34" charset="-120"/>
              </a:rPr>
              <a:t>GO</a:t>
            </a:r>
            <a:endParaRPr lang="en-US" sz="1400" dirty="0"/>
          </a:p>
        </p:txBody>
      </p:sp>
      <p:sp>
        <p:nvSpPr>
          <p:cNvPr id="9" name="Text 6"/>
          <p:cNvSpPr/>
          <p:nvPr/>
        </p:nvSpPr>
        <p:spPr>
          <a:xfrm>
            <a:off x="685800" y="3931920"/>
            <a:ext cx="2286000" cy="594360"/>
          </a:xfrm>
          <a:prstGeom prst="rect">
            <a:avLst/>
          </a:prstGeom>
          <a:noFill/>
          <a:ln/>
        </p:spPr>
        <p:txBody>
          <a:bodyPr wrap="square" lIns="0" tIns="0" rIns="0" bIns="0" rtlCol="0" anchor="ctr"/>
          <a:lstStyle/>
          <a:p>
            <a:pPr marL="0" indent="0">
              <a:buNone/>
            </a:pPr>
            <a:r>
              <a:rPr lang="en-US" sz="1000" dirty="0">
                <a:solidFill>
                  <a:srgbClr val="A0AEC0"/>
                </a:solidFill>
                <a:latin typeface="Calibri" pitchFamily="34" charset="0"/>
                <a:ea typeface="Calibri" pitchFamily="34" charset="-122"/>
                <a:cs typeface="Calibri" pitchFamily="34" charset="-120"/>
              </a:rPr>
              <a:t>NPS 50+, ore dimezzate,</a:t>
            </a:r>
            <a:endParaRPr lang="en-US" sz="1000" dirty="0"/>
          </a:p>
          <a:p>
            <a:pPr marL="0" indent="0">
              <a:buNone/>
            </a:pPr>
            <a:r>
              <a:rPr lang="en-US" sz="1000" dirty="0">
                <a:solidFill>
                  <a:srgbClr val="A0AEC0"/>
                </a:solidFill>
                <a:latin typeface="Calibri" pitchFamily="34" charset="0"/>
                <a:ea typeface="Calibri" pitchFamily="34" charset="-122"/>
                <a:cs typeface="Calibri" pitchFamily="34" charset="-120"/>
              </a:rPr>
              <a:t>8+ attivi. Partnership piena.</a:t>
            </a:r>
            <a:endParaRPr lang="en-US" sz="1000" dirty="0"/>
          </a:p>
          <a:p>
            <a:pPr marL="0" indent="0">
              <a:buNone/>
            </a:pPr>
            <a:r>
              <a:rPr lang="en-US" sz="1000" dirty="0">
                <a:solidFill>
                  <a:srgbClr val="A0AEC0"/>
                </a:solidFill>
                <a:latin typeface="Calibri" pitchFamily="34" charset="0"/>
                <a:ea typeface="Calibri" pitchFamily="34" charset="-122"/>
                <a:cs typeface="Calibri" pitchFamily="34" charset="-120"/>
              </a:rPr>
              <a:t>Equity prima tranche matura.</a:t>
            </a:r>
            <a:endParaRPr lang="en-US" sz="1000" dirty="0"/>
          </a:p>
        </p:txBody>
      </p:sp>
      <p:sp>
        <p:nvSpPr>
          <p:cNvPr id="10" name="Shape 7"/>
          <p:cNvSpPr/>
          <p:nvPr/>
        </p:nvSpPr>
        <p:spPr>
          <a:xfrm>
            <a:off x="3383280" y="3520440"/>
            <a:ext cx="256032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1" name="Shape 8"/>
          <p:cNvSpPr/>
          <p:nvPr/>
        </p:nvSpPr>
        <p:spPr>
          <a:xfrm>
            <a:off x="3383280" y="3520440"/>
            <a:ext cx="2560320" cy="54864"/>
          </a:xfrm>
          <a:prstGeom prst="rect">
            <a:avLst/>
          </a:prstGeom>
          <a:solidFill>
            <a:srgbClr val="FFD166"/>
          </a:solidFill>
          <a:ln/>
        </p:spPr>
        <p:txBody>
          <a:bodyPr/>
          <a:lstStyle/>
          <a:p>
            <a:endParaRPr lang="it-IT"/>
          </a:p>
        </p:txBody>
      </p:sp>
      <p:sp>
        <p:nvSpPr>
          <p:cNvPr id="12" name="Text 9"/>
          <p:cNvSpPr/>
          <p:nvPr/>
        </p:nvSpPr>
        <p:spPr>
          <a:xfrm>
            <a:off x="3520440" y="3611880"/>
            <a:ext cx="2286000" cy="274320"/>
          </a:xfrm>
          <a:prstGeom prst="rect">
            <a:avLst/>
          </a:prstGeom>
          <a:noFill/>
          <a:ln/>
        </p:spPr>
        <p:txBody>
          <a:bodyPr wrap="square" lIns="0" tIns="0" rIns="0" bIns="0" rtlCol="0" anchor="ctr"/>
          <a:lstStyle/>
          <a:p>
            <a:pPr marL="0" indent="0">
              <a:buNone/>
            </a:pPr>
            <a:r>
              <a:rPr lang="en-US" sz="1400" b="1" dirty="0">
                <a:solidFill>
                  <a:srgbClr val="FFD166"/>
                </a:solidFill>
                <a:latin typeface="Trebuchet MS" pitchFamily="34" charset="0"/>
                <a:ea typeface="Trebuchet MS" pitchFamily="34" charset="-122"/>
                <a:cs typeface="Trebuchet MS" pitchFamily="34" charset="-120"/>
              </a:rPr>
              <a:t>GO con cautela</a:t>
            </a:r>
            <a:endParaRPr lang="en-US" sz="1400" dirty="0"/>
          </a:p>
        </p:txBody>
      </p:sp>
      <p:sp>
        <p:nvSpPr>
          <p:cNvPr id="13" name="Text 10"/>
          <p:cNvSpPr/>
          <p:nvPr/>
        </p:nvSpPr>
        <p:spPr>
          <a:xfrm>
            <a:off x="3520440" y="3931920"/>
            <a:ext cx="2286000" cy="594360"/>
          </a:xfrm>
          <a:prstGeom prst="rect">
            <a:avLst/>
          </a:prstGeom>
          <a:noFill/>
          <a:ln/>
        </p:spPr>
        <p:txBody>
          <a:bodyPr wrap="square" lIns="0" tIns="0" rIns="0" bIns="0" rtlCol="0" anchor="ctr"/>
          <a:lstStyle/>
          <a:p>
            <a:pPr marL="0" indent="0">
              <a:buNone/>
            </a:pPr>
            <a:r>
              <a:rPr lang="en-US" sz="1000" dirty="0">
                <a:solidFill>
                  <a:srgbClr val="A0AEC0"/>
                </a:solidFill>
                <a:latin typeface="Calibri" pitchFamily="34" charset="0"/>
                <a:ea typeface="Calibri" pitchFamily="34" charset="-122"/>
                <a:cs typeface="Calibri" pitchFamily="34" charset="-120"/>
              </a:rPr>
              <a:t>NPS 30-50.</a:t>
            </a:r>
            <a:endParaRPr lang="en-US" sz="1000" dirty="0"/>
          </a:p>
          <a:p>
            <a:pPr marL="0" indent="0">
              <a:buNone/>
            </a:pPr>
            <a:r>
              <a:rPr lang="en-US" sz="1000" dirty="0">
                <a:solidFill>
                  <a:srgbClr val="A0AEC0"/>
                </a:solidFill>
                <a:latin typeface="Calibri" pitchFamily="34" charset="0"/>
                <a:ea typeface="Calibri" pitchFamily="34" charset="-122"/>
                <a:cs typeface="Calibri" pitchFamily="34" charset="-120"/>
              </a:rPr>
              <a:t>Si aggiusta, si riparte</a:t>
            </a:r>
            <a:endParaRPr lang="en-US" sz="1000" dirty="0"/>
          </a:p>
          <a:p>
            <a:pPr marL="0" indent="0">
              <a:buNone/>
            </a:pPr>
            <a:r>
              <a:rPr lang="en-US" sz="1000" dirty="0">
                <a:solidFill>
                  <a:srgbClr val="A0AEC0"/>
                </a:solidFill>
                <a:latin typeface="Calibri" pitchFamily="34" charset="0"/>
                <a:ea typeface="Calibri" pitchFamily="34" charset="-122"/>
                <a:cs typeface="Calibri" pitchFamily="34" charset="-120"/>
              </a:rPr>
              <a:t>con 5 nuovi.</a:t>
            </a:r>
            <a:endParaRPr lang="en-US" sz="1000" dirty="0"/>
          </a:p>
        </p:txBody>
      </p:sp>
      <p:sp>
        <p:nvSpPr>
          <p:cNvPr id="14" name="Shape 11"/>
          <p:cNvSpPr/>
          <p:nvPr/>
        </p:nvSpPr>
        <p:spPr>
          <a:xfrm>
            <a:off x="6217920" y="3520440"/>
            <a:ext cx="2560320" cy="109728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5" name="Shape 12"/>
          <p:cNvSpPr/>
          <p:nvPr/>
        </p:nvSpPr>
        <p:spPr>
          <a:xfrm>
            <a:off x="6217920" y="3520440"/>
            <a:ext cx="2560320" cy="54864"/>
          </a:xfrm>
          <a:prstGeom prst="rect">
            <a:avLst/>
          </a:prstGeom>
          <a:solidFill>
            <a:srgbClr val="EF476F"/>
          </a:solidFill>
          <a:ln/>
        </p:spPr>
        <p:txBody>
          <a:bodyPr/>
          <a:lstStyle/>
          <a:p>
            <a:endParaRPr lang="it-IT"/>
          </a:p>
        </p:txBody>
      </p:sp>
      <p:sp>
        <p:nvSpPr>
          <p:cNvPr id="16" name="Text 13"/>
          <p:cNvSpPr/>
          <p:nvPr/>
        </p:nvSpPr>
        <p:spPr>
          <a:xfrm>
            <a:off x="6355080" y="3611880"/>
            <a:ext cx="2286000" cy="274320"/>
          </a:xfrm>
          <a:prstGeom prst="rect">
            <a:avLst/>
          </a:prstGeom>
          <a:noFill/>
          <a:ln/>
        </p:spPr>
        <p:txBody>
          <a:bodyPr wrap="square" lIns="0" tIns="0" rIns="0" bIns="0" rtlCol="0" anchor="ctr"/>
          <a:lstStyle/>
          <a:p>
            <a:pPr marL="0" indent="0">
              <a:buNone/>
            </a:pPr>
            <a:r>
              <a:rPr lang="en-US" sz="1400" b="1" dirty="0">
                <a:solidFill>
                  <a:srgbClr val="EF476F"/>
                </a:solidFill>
                <a:latin typeface="Trebuchet MS" pitchFamily="34" charset="0"/>
                <a:ea typeface="Trebuchet MS" pitchFamily="34" charset="-122"/>
                <a:cs typeface="Trebuchet MS" pitchFamily="34" charset="-120"/>
              </a:rPr>
              <a:t>STOP</a:t>
            </a:r>
            <a:endParaRPr lang="en-US" sz="1400" dirty="0"/>
          </a:p>
        </p:txBody>
      </p:sp>
      <p:sp>
        <p:nvSpPr>
          <p:cNvPr id="5" name="Text 14"/>
          <p:cNvSpPr/>
          <p:nvPr/>
        </p:nvSpPr>
        <p:spPr>
          <a:xfrm>
            <a:off x="6355080" y="3931920"/>
            <a:ext cx="2286000" cy="594360"/>
          </a:xfrm>
          <a:prstGeom prst="rect">
            <a:avLst/>
          </a:prstGeom>
          <a:noFill/>
          <a:ln/>
        </p:spPr>
        <p:txBody>
          <a:bodyPr wrap="square" lIns="0" tIns="0" rIns="0" bIns="0" rtlCol="0" anchor="ctr"/>
          <a:lstStyle/>
          <a:p>
            <a:pPr marL="0" indent="0">
              <a:buNone/>
            </a:pPr>
            <a:r>
              <a:rPr lang="en-US" sz="1000" dirty="0">
                <a:solidFill>
                  <a:srgbClr val="A0AEC0"/>
                </a:solidFill>
                <a:latin typeface="Calibri" pitchFamily="34" charset="0"/>
                <a:ea typeface="Calibri" pitchFamily="34" charset="-122"/>
                <a:cs typeface="Calibri" pitchFamily="34" charset="-120"/>
              </a:rPr>
              <a:t>NPS &lt;30, &lt;6 attivi.</a:t>
            </a:r>
            <a:endParaRPr lang="en-US" sz="1000" dirty="0"/>
          </a:p>
          <a:p>
            <a:pPr marL="0" indent="0">
              <a:buNone/>
            </a:pPr>
            <a:r>
              <a:rPr lang="en-US" sz="1000" dirty="0">
                <a:solidFill>
                  <a:srgbClr val="A0AEC0"/>
                </a:solidFill>
                <a:latin typeface="Calibri" pitchFamily="34" charset="0"/>
                <a:ea typeface="Calibri" pitchFamily="34" charset="-122"/>
                <a:cs typeface="Calibri" pitchFamily="34" charset="-120"/>
              </a:rPr>
              <a:t>Costo: 3 mesi e ~€1.000.</a:t>
            </a:r>
            <a:endParaRPr lang="en-US" sz="1000" dirty="0"/>
          </a:p>
          <a:p>
            <a:pPr marL="0" indent="0">
              <a:buNone/>
            </a:pPr>
            <a:r>
              <a:rPr lang="en-US" sz="1000" dirty="0">
                <a:solidFill>
                  <a:srgbClr val="A0AEC0"/>
                </a:solidFill>
                <a:latin typeface="Calibri" pitchFamily="34" charset="0"/>
                <a:ea typeface="Calibri" pitchFamily="34" charset="-122"/>
                <a:cs typeface="Calibri" pitchFamily="34" charset="-120"/>
              </a:rPr>
              <a:t>Zero equity.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Dopo la POC: il volano</a:t>
            </a:r>
            <a:endParaRPr lang="en-US" sz="2800" dirty="0"/>
          </a:p>
        </p:txBody>
      </p:sp>
      <p:sp>
        <p:nvSpPr>
          <p:cNvPr id="3" name="Text 1"/>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4" name="Text 2"/>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17 / 22</a:t>
            </a:r>
            <a:endParaRPr lang="en-US" sz="800" dirty="0"/>
          </a:p>
        </p:txBody>
      </p:sp>
      <p:sp>
        <p:nvSpPr>
          <p:cNvPr id="5" name="Shape 3"/>
          <p:cNvSpPr/>
          <p:nvPr/>
        </p:nvSpPr>
        <p:spPr>
          <a:xfrm>
            <a:off x="1417320" y="960120"/>
            <a:ext cx="36576" cy="3291840"/>
          </a:xfrm>
          <a:prstGeom prst="rect">
            <a:avLst/>
          </a:prstGeom>
          <a:solidFill>
            <a:srgbClr val="2D3E56"/>
          </a:solidFill>
          <a:ln/>
        </p:spPr>
        <p:txBody>
          <a:bodyPr/>
          <a:lstStyle/>
          <a:p>
            <a:endParaRPr lang="it-IT"/>
          </a:p>
        </p:txBody>
      </p:sp>
      <p:sp>
        <p:nvSpPr>
          <p:cNvPr id="6" name="Shape 4"/>
          <p:cNvSpPr/>
          <p:nvPr/>
        </p:nvSpPr>
        <p:spPr>
          <a:xfrm>
            <a:off x="1271016" y="1051560"/>
            <a:ext cx="329184" cy="329184"/>
          </a:xfrm>
          <a:prstGeom prst="ellipse">
            <a:avLst/>
          </a:prstGeom>
          <a:solidFill>
            <a:srgbClr val="00B4D8"/>
          </a:solidFill>
          <a:ln/>
        </p:spPr>
        <p:txBody>
          <a:bodyPr/>
          <a:lstStyle/>
          <a:p>
            <a:endParaRPr lang="it-IT"/>
          </a:p>
        </p:txBody>
      </p:sp>
      <p:sp>
        <p:nvSpPr>
          <p:cNvPr id="7" name="Text 5"/>
          <p:cNvSpPr/>
          <p:nvPr/>
        </p:nvSpPr>
        <p:spPr>
          <a:xfrm>
            <a:off x="91440" y="1051560"/>
            <a:ext cx="1097280" cy="329184"/>
          </a:xfrm>
          <a:prstGeom prst="rect">
            <a:avLst/>
          </a:prstGeom>
          <a:noFill/>
          <a:ln/>
        </p:spPr>
        <p:txBody>
          <a:bodyPr wrap="square" lIns="0" tIns="0" rIns="0" bIns="0" rtlCol="0" anchor="ctr"/>
          <a:lstStyle/>
          <a:p>
            <a:pPr marL="0" indent="0" algn="r">
              <a:buNone/>
            </a:pPr>
            <a:r>
              <a:rPr lang="en-US" sz="900" b="1" dirty="0">
                <a:solidFill>
                  <a:srgbClr val="00B4D8"/>
                </a:solidFill>
                <a:latin typeface="Calibri" pitchFamily="34" charset="0"/>
                <a:ea typeface="Calibri" pitchFamily="34" charset="-122"/>
                <a:cs typeface="Calibri" pitchFamily="34" charset="-120"/>
              </a:rPr>
              <a:t>MESI 4-6</a:t>
            </a:r>
            <a:endParaRPr lang="en-US" sz="900" dirty="0"/>
          </a:p>
        </p:txBody>
      </p:sp>
      <p:sp>
        <p:nvSpPr>
          <p:cNvPr id="8" name="Shape 6"/>
          <p:cNvSpPr/>
          <p:nvPr/>
        </p:nvSpPr>
        <p:spPr>
          <a:xfrm>
            <a:off x="1874520" y="914400"/>
            <a:ext cx="6720840" cy="105156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9" name="Shape 7"/>
          <p:cNvSpPr/>
          <p:nvPr/>
        </p:nvSpPr>
        <p:spPr>
          <a:xfrm>
            <a:off x="1874520" y="914400"/>
            <a:ext cx="54864" cy="1051560"/>
          </a:xfrm>
          <a:prstGeom prst="rect">
            <a:avLst/>
          </a:prstGeom>
          <a:solidFill>
            <a:srgbClr val="00B4D8"/>
          </a:solidFill>
          <a:ln/>
        </p:spPr>
        <p:txBody>
          <a:bodyPr/>
          <a:lstStyle/>
          <a:p>
            <a:endParaRPr lang="it-IT"/>
          </a:p>
        </p:txBody>
      </p:sp>
      <p:sp>
        <p:nvSpPr>
          <p:cNvPr id="10" name="Text 8"/>
          <p:cNvSpPr/>
          <p:nvPr/>
        </p:nvSpPr>
        <p:spPr>
          <a:xfrm>
            <a:off x="2057400" y="960120"/>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Early Adopter + preparazione internazionale</a:t>
            </a:r>
            <a:endParaRPr lang="en-US" sz="1300" dirty="0"/>
          </a:p>
        </p:txBody>
      </p:sp>
      <p:sp>
        <p:nvSpPr>
          <p:cNvPr id="11" name="Text 9"/>
          <p:cNvSpPr/>
          <p:nvPr/>
        </p:nvSpPr>
        <p:spPr>
          <a:xfrm>
            <a:off x="2057400" y="1280160"/>
            <a:ext cx="6400800" cy="64008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Testimonial POC come leva. Inner Circle attivo (conduciamo masterclass e mastermind).</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Webinar gratuito mensile. In parallelo: Blocchi 1-2 tradotti, primi contatti nordico.</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Target Italia: 15-20 clienti.</a:t>
            </a:r>
            <a:endParaRPr lang="en-US" sz="1050" dirty="0"/>
          </a:p>
        </p:txBody>
      </p:sp>
      <p:sp>
        <p:nvSpPr>
          <p:cNvPr id="12" name="Shape 10"/>
          <p:cNvSpPr/>
          <p:nvPr/>
        </p:nvSpPr>
        <p:spPr>
          <a:xfrm>
            <a:off x="1271016" y="2240280"/>
            <a:ext cx="329184" cy="329184"/>
          </a:xfrm>
          <a:prstGeom prst="ellipse">
            <a:avLst/>
          </a:prstGeom>
          <a:solidFill>
            <a:srgbClr val="06D6A0"/>
          </a:solidFill>
          <a:ln/>
        </p:spPr>
        <p:txBody>
          <a:bodyPr/>
          <a:lstStyle/>
          <a:p>
            <a:endParaRPr lang="it-IT"/>
          </a:p>
        </p:txBody>
      </p:sp>
      <p:sp>
        <p:nvSpPr>
          <p:cNvPr id="13" name="Text 11"/>
          <p:cNvSpPr/>
          <p:nvPr/>
        </p:nvSpPr>
        <p:spPr>
          <a:xfrm>
            <a:off x="91440" y="2240280"/>
            <a:ext cx="1097280" cy="329184"/>
          </a:xfrm>
          <a:prstGeom prst="rect">
            <a:avLst/>
          </a:prstGeom>
          <a:noFill/>
          <a:ln/>
        </p:spPr>
        <p:txBody>
          <a:bodyPr wrap="square" lIns="0" tIns="0" rIns="0" bIns="0" rtlCol="0" anchor="ctr"/>
          <a:lstStyle/>
          <a:p>
            <a:pPr marL="0" indent="0" algn="r">
              <a:buNone/>
            </a:pPr>
            <a:r>
              <a:rPr lang="en-US" sz="900" b="1" dirty="0">
                <a:solidFill>
                  <a:srgbClr val="06D6A0"/>
                </a:solidFill>
                <a:latin typeface="Calibri" pitchFamily="34" charset="0"/>
                <a:ea typeface="Calibri" pitchFamily="34" charset="-122"/>
                <a:cs typeface="Calibri" pitchFamily="34" charset="-120"/>
              </a:rPr>
              <a:t>MESI 7-12</a:t>
            </a:r>
            <a:endParaRPr lang="en-US" sz="900" dirty="0"/>
          </a:p>
        </p:txBody>
      </p:sp>
      <p:sp>
        <p:nvSpPr>
          <p:cNvPr id="14" name="Shape 12"/>
          <p:cNvSpPr/>
          <p:nvPr/>
        </p:nvSpPr>
        <p:spPr>
          <a:xfrm>
            <a:off x="1874520" y="2103120"/>
            <a:ext cx="6720840" cy="105156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5" name="Shape 13"/>
          <p:cNvSpPr/>
          <p:nvPr/>
        </p:nvSpPr>
        <p:spPr>
          <a:xfrm>
            <a:off x="1874520" y="2103120"/>
            <a:ext cx="54864" cy="1051560"/>
          </a:xfrm>
          <a:prstGeom prst="rect">
            <a:avLst/>
          </a:prstGeom>
          <a:solidFill>
            <a:srgbClr val="06D6A0"/>
          </a:solidFill>
          <a:ln/>
        </p:spPr>
        <p:txBody>
          <a:bodyPr/>
          <a:lstStyle/>
          <a:p>
            <a:endParaRPr lang="it-IT"/>
          </a:p>
        </p:txBody>
      </p:sp>
      <p:sp>
        <p:nvSpPr>
          <p:cNvPr id="16" name="Text 14"/>
          <p:cNvSpPr/>
          <p:nvPr/>
        </p:nvSpPr>
        <p:spPr>
          <a:xfrm>
            <a:off x="2057400" y="2148840"/>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Scala Italia + pilota internazionale</a:t>
            </a:r>
            <a:endParaRPr lang="en-US" sz="1300" dirty="0"/>
          </a:p>
        </p:txBody>
      </p:sp>
      <p:sp>
        <p:nvSpPr>
          <p:cNvPr id="17" name="Text 15"/>
          <p:cNvSpPr/>
          <p:nvPr/>
        </p:nvSpPr>
        <p:spPr>
          <a:xfrm>
            <a:off x="2057400" y="2468880"/>
            <a:ext cx="6400800" cy="64008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Italia: tutti i canali attivi + salti da accordi catene. Internazionale: 5-10 utenti pilota.</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Certificazione PT Evoluto in costruzione. Pricing internazionale definito.</a:t>
            </a:r>
            <a:endParaRPr lang="en-US" sz="1050" dirty="0"/>
          </a:p>
        </p:txBody>
      </p:sp>
      <p:sp>
        <p:nvSpPr>
          <p:cNvPr id="18" name="Shape 16"/>
          <p:cNvSpPr/>
          <p:nvPr/>
        </p:nvSpPr>
        <p:spPr>
          <a:xfrm>
            <a:off x="1271016" y="3429000"/>
            <a:ext cx="329184" cy="329184"/>
          </a:xfrm>
          <a:prstGeom prst="ellipse">
            <a:avLst/>
          </a:prstGeom>
          <a:solidFill>
            <a:srgbClr val="FFD166"/>
          </a:solidFill>
          <a:ln/>
        </p:spPr>
        <p:txBody>
          <a:bodyPr/>
          <a:lstStyle/>
          <a:p>
            <a:endParaRPr lang="it-IT"/>
          </a:p>
        </p:txBody>
      </p:sp>
      <p:sp>
        <p:nvSpPr>
          <p:cNvPr id="19" name="Text 17"/>
          <p:cNvSpPr/>
          <p:nvPr/>
        </p:nvSpPr>
        <p:spPr>
          <a:xfrm>
            <a:off x="91440" y="3429000"/>
            <a:ext cx="1097280" cy="329184"/>
          </a:xfrm>
          <a:prstGeom prst="rect">
            <a:avLst/>
          </a:prstGeom>
          <a:noFill/>
          <a:ln/>
        </p:spPr>
        <p:txBody>
          <a:bodyPr wrap="square" lIns="0" tIns="0" rIns="0" bIns="0" rtlCol="0" anchor="ctr"/>
          <a:lstStyle/>
          <a:p>
            <a:pPr marL="0" indent="0" algn="r">
              <a:buNone/>
            </a:pPr>
            <a:r>
              <a:rPr lang="en-US" sz="900" b="1" dirty="0">
                <a:solidFill>
                  <a:srgbClr val="FFD166"/>
                </a:solidFill>
                <a:latin typeface="Calibri" pitchFamily="34" charset="0"/>
                <a:ea typeface="Calibri" pitchFamily="34" charset="-122"/>
                <a:cs typeface="Calibri" pitchFamily="34" charset="-120"/>
              </a:rPr>
              <a:t>ANNO 2+</a:t>
            </a:r>
            <a:endParaRPr lang="en-US" sz="900" dirty="0"/>
          </a:p>
        </p:txBody>
      </p:sp>
      <p:sp>
        <p:nvSpPr>
          <p:cNvPr id="20" name="Shape 18"/>
          <p:cNvSpPr/>
          <p:nvPr/>
        </p:nvSpPr>
        <p:spPr>
          <a:xfrm>
            <a:off x="1874520" y="3291840"/>
            <a:ext cx="6720840" cy="105156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1" name="Shape 19"/>
          <p:cNvSpPr/>
          <p:nvPr/>
        </p:nvSpPr>
        <p:spPr>
          <a:xfrm>
            <a:off x="1874520" y="3291840"/>
            <a:ext cx="54864" cy="1051560"/>
          </a:xfrm>
          <a:prstGeom prst="rect">
            <a:avLst/>
          </a:prstGeom>
          <a:solidFill>
            <a:srgbClr val="FFD166"/>
          </a:solidFill>
          <a:ln/>
        </p:spPr>
        <p:txBody>
          <a:bodyPr/>
          <a:lstStyle/>
          <a:p>
            <a:endParaRPr lang="it-IT"/>
          </a:p>
        </p:txBody>
      </p:sp>
      <p:sp>
        <p:nvSpPr>
          <p:cNvPr id="22" name="Text 20"/>
          <p:cNvSpPr/>
          <p:nvPr/>
        </p:nvSpPr>
        <p:spPr>
          <a:xfrm>
            <a:off x="2057400" y="3337560"/>
            <a:ext cx="6400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Due mercati attivi</a:t>
            </a:r>
            <a:endParaRPr lang="en-US" sz="1300" dirty="0"/>
          </a:p>
        </p:txBody>
      </p:sp>
      <p:sp>
        <p:nvSpPr>
          <p:cNvPr id="23" name="Text 21"/>
          <p:cNvSpPr/>
          <p:nvPr/>
        </p:nvSpPr>
        <p:spPr>
          <a:xfrm>
            <a:off x="2057400" y="3657600"/>
            <a:ext cx="6400800" cy="640080"/>
          </a:xfrm>
          <a:prstGeom prst="rect">
            <a:avLst/>
          </a:prstGeom>
          <a:noFill/>
          <a:ln/>
        </p:spPr>
        <p:txBody>
          <a:bodyPr wrap="square" lIns="0" tIns="0" rIns="0" bIns="0" rtlCol="0" anchor="ctr"/>
          <a:lstStyle/>
          <a:p>
            <a:pPr marL="0" indent="0">
              <a:buNone/>
            </a:pPr>
            <a:r>
              <a:rPr lang="en-US" sz="1050" dirty="0">
                <a:solidFill>
                  <a:srgbClr val="A0AEC0"/>
                </a:solidFill>
                <a:latin typeface="Calibri" pitchFamily="34" charset="0"/>
                <a:ea typeface="Calibri" pitchFamily="34" charset="-122"/>
                <a:cs typeface="Calibri" pitchFamily="34" charset="-120"/>
              </a:rPr>
              <a:t>Italia consolidata + lancio internazionale strutturato. Inner Circle bilingue —</a:t>
            </a:r>
            <a:endParaRPr lang="en-US" sz="1050" dirty="0"/>
          </a:p>
          <a:p>
            <a:pPr marL="0" indent="0">
              <a:buNone/>
            </a:pPr>
            <a:r>
              <a:rPr lang="en-US" sz="1050" dirty="0">
                <a:solidFill>
                  <a:srgbClr val="A0AEC0"/>
                </a:solidFill>
                <a:latin typeface="Calibri" pitchFamily="34" charset="0"/>
                <a:ea typeface="Calibri" pitchFamily="34" charset="-122"/>
                <a:cs typeface="Calibri" pitchFamily="34" charset="-120"/>
              </a:rPr>
              <a:t>stesso sforzo, doppio bacino. Team dedicato, SRL, brand riconosciuto.</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Il ciclo completo: dal trainer al passaparola</a:t>
            </a:r>
            <a:endParaRPr lang="en-US" sz="2800" dirty="0"/>
          </a:p>
        </p:txBody>
      </p:sp>
      <p:sp>
        <p:nvSpPr>
          <p:cNvPr id="3" name="Text 1"/>
          <p:cNvSpPr/>
          <p:nvPr/>
        </p:nvSpPr>
        <p:spPr>
          <a:xfrm>
            <a:off x="548640" y="7772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WhatsApp apre il ciclo. Il portale lo chiude. Il passaparola lo moltiplica.</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18 / 22</a:t>
            </a:r>
            <a:endParaRPr lang="en-US" sz="800" dirty="0"/>
          </a:p>
        </p:txBody>
      </p:sp>
      <p:sp>
        <p:nvSpPr>
          <p:cNvPr id="6" name="Shape 4"/>
          <p:cNvSpPr/>
          <p:nvPr/>
        </p:nvSpPr>
        <p:spPr>
          <a:xfrm>
            <a:off x="548640" y="1097280"/>
            <a:ext cx="2560320" cy="137160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7" name="Shape 5"/>
          <p:cNvSpPr/>
          <p:nvPr/>
        </p:nvSpPr>
        <p:spPr>
          <a:xfrm>
            <a:off x="548640" y="1097280"/>
            <a:ext cx="2560320" cy="45720"/>
          </a:xfrm>
          <a:prstGeom prst="rect">
            <a:avLst/>
          </a:prstGeom>
          <a:solidFill>
            <a:srgbClr val="00B4D8"/>
          </a:solidFill>
          <a:ln/>
        </p:spPr>
        <p:txBody>
          <a:bodyPr/>
          <a:lstStyle/>
          <a:p>
            <a:endParaRPr lang="it-IT"/>
          </a:p>
        </p:txBody>
      </p:sp>
      <p:sp>
        <p:nvSpPr>
          <p:cNvPr id="8" name="Shape 6"/>
          <p:cNvSpPr/>
          <p:nvPr/>
        </p:nvSpPr>
        <p:spPr>
          <a:xfrm>
            <a:off x="640080" y="1234440"/>
            <a:ext cx="365760" cy="365760"/>
          </a:xfrm>
          <a:prstGeom prst="ellipse">
            <a:avLst/>
          </a:prstGeom>
          <a:solidFill>
            <a:srgbClr val="00B4D8"/>
          </a:solidFill>
          <a:ln/>
        </p:spPr>
        <p:txBody>
          <a:bodyPr/>
          <a:lstStyle/>
          <a:p>
            <a:endParaRPr lang="it-IT"/>
          </a:p>
        </p:txBody>
      </p:sp>
      <p:sp>
        <p:nvSpPr>
          <p:cNvPr id="9" name="Text 7"/>
          <p:cNvSpPr/>
          <p:nvPr/>
        </p:nvSpPr>
        <p:spPr>
          <a:xfrm>
            <a:off x="640080" y="1234440"/>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1</a:t>
            </a:r>
            <a:endParaRPr lang="en-US" sz="1600" dirty="0"/>
          </a:p>
        </p:txBody>
      </p:sp>
      <p:sp>
        <p:nvSpPr>
          <p:cNvPr id="10" name="Text 8"/>
          <p:cNvSpPr/>
          <p:nvPr/>
        </p:nvSpPr>
        <p:spPr>
          <a:xfrm>
            <a:off x="1097280" y="1234440"/>
            <a:ext cx="187452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Il trainer crea la scheda</a:t>
            </a:r>
            <a:endParaRPr lang="en-US" sz="1150" dirty="0"/>
          </a:p>
        </p:txBody>
      </p:sp>
      <p:sp>
        <p:nvSpPr>
          <p:cNvPr id="11" name="Text 9"/>
          <p:cNvSpPr/>
          <p:nvPr/>
        </p:nvSpPr>
        <p:spPr>
          <a:xfrm>
            <a:off x="685800" y="1691640"/>
            <a:ext cx="2286000" cy="685800"/>
          </a:xfrm>
          <a:prstGeom prst="rect">
            <a:avLst/>
          </a:prstGeom>
          <a:noFill/>
          <a:ln/>
        </p:spPr>
        <p:txBody>
          <a:bodyPr wrap="square" lIns="0" tIns="0" rIns="0" bIns="0" rtlCol="0" anchor="ctr"/>
          <a:lstStyle/>
          <a:p>
            <a:pPr marL="0" indent="0">
              <a:buNone/>
            </a:pPr>
            <a:r>
              <a:rPr lang="en-US" sz="950" dirty="0">
                <a:solidFill>
                  <a:srgbClr val="A0AEC0"/>
                </a:solidFill>
                <a:latin typeface="Calibri" pitchFamily="34" charset="0"/>
                <a:ea typeface="Calibri" pitchFamily="34" charset="-122"/>
                <a:cs typeface="Calibri" pitchFamily="34" charset="-120"/>
              </a:rPr>
              <a:t>Workout Builder con Science Panel: volume per muscolo, bilanciamento biomeccanico, Safety Engine.</a:t>
            </a:r>
            <a:endParaRPr lang="en-US" sz="950" dirty="0"/>
          </a:p>
        </p:txBody>
      </p:sp>
      <p:sp>
        <p:nvSpPr>
          <p:cNvPr id="12" name="Shape 10"/>
          <p:cNvSpPr/>
          <p:nvPr/>
        </p:nvSpPr>
        <p:spPr>
          <a:xfrm>
            <a:off x="3383280" y="1097280"/>
            <a:ext cx="2560320" cy="137160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3" name="Shape 11"/>
          <p:cNvSpPr/>
          <p:nvPr/>
        </p:nvSpPr>
        <p:spPr>
          <a:xfrm>
            <a:off x="3383280" y="1097280"/>
            <a:ext cx="2560320" cy="45720"/>
          </a:xfrm>
          <a:prstGeom prst="rect">
            <a:avLst/>
          </a:prstGeom>
          <a:solidFill>
            <a:srgbClr val="06D6A0"/>
          </a:solidFill>
          <a:ln/>
        </p:spPr>
        <p:txBody>
          <a:bodyPr/>
          <a:lstStyle/>
          <a:p>
            <a:endParaRPr lang="it-IT"/>
          </a:p>
        </p:txBody>
      </p:sp>
      <p:sp>
        <p:nvSpPr>
          <p:cNvPr id="14" name="Shape 12"/>
          <p:cNvSpPr/>
          <p:nvPr/>
        </p:nvSpPr>
        <p:spPr>
          <a:xfrm>
            <a:off x="3474720" y="1234440"/>
            <a:ext cx="365760" cy="365760"/>
          </a:xfrm>
          <a:prstGeom prst="ellipse">
            <a:avLst/>
          </a:prstGeom>
          <a:solidFill>
            <a:srgbClr val="06D6A0"/>
          </a:solidFill>
          <a:ln/>
        </p:spPr>
        <p:txBody>
          <a:bodyPr/>
          <a:lstStyle/>
          <a:p>
            <a:endParaRPr lang="it-IT"/>
          </a:p>
        </p:txBody>
      </p:sp>
      <p:sp>
        <p:nvSpPr>
          <p:cNvPr id="15" name="Text 13"/>
          <p:cNvSpPr/>
          <p:nvPr/>
        </p:nvSpPr>
        <p:spPr>
          <a:xfrm>
            <a:off x="3474720" y="1234440"/>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2</a:t>
            </a:r>
            <a:endParaRPr lang="en-US" sz="1600" dirty="0"/>
          </a:p>
        </p:txBody>
      </p:sp>
      <p:sp>
        <p:nvSpPr>
          <p:cNvPr id="16" name="Text 14"/>
          <p:cNvSpPr/>
          <p:nvPr/>
        </p:nvSpPr>
        <p:spPr>
          <a:xfrm>
            <a:off x="3931920" y="1234440"/>
            <a:ext cx="187452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Invia via WhatsApp</a:t>
            </a:r>
            <a:endParaRPr lang="en-US" sz="1150" dirty="0"/>
          </a:p>
        </p:txBody>
      </p:sp>
      <p:sp>
        <p:nvSpPr>
          <p:cNvPr id="17" name="Text 15"/>
          <p:cNvSpPr/>
          <p:nvPr/>
        </p:nvSpPr>
        <p:spPr>
          <a:xfrm>
            <a:off x="3520440" y="1691640"/>
            <a:ext cx="2286000" cy="685800"/>
          </a:xfrm>
          <a:prstGeom prst="rect">
            <a:avLst/>
          </a:prstGeom>
          <a:noFill/>
          <a:ln/>
        </p:spPr>
        <p:txBody>
          <a:bodyPr wrap="square" lIns="0" tIns="0" rIns="0" bIns="0" rtlCol="0" anchor="ctr"/>
          <a:lstStyle/>
          <a:p>
            <a:pPr marL="0" indent="0">
              <a:buNone/>
            </a:pPr>
            <a:r>
              <a:rPr lang="en-US" sz="950" dirty="0">
                <a:solidFill>
                  <a:srgbClr val="A0AEC0"/>
                </a:solidFill>
                <a:latin typeface="Calibri" pitchFamily="34" charset="0"/>
                <a:ea typeface="Calibri" pitchFamily="34" charset="-122"/>
                <a:cs typeface="Calibri" pitchFamily="34" charset="-120"/>
              </a:rPr>
              <a:t>Un click, template pre-compilato. "La tua scheda è pronta, aprila qui."</a:t>
            </a:r>
            <a:endParaRPr lang="en-US" sz="950" dirty="0"/>
          </a:p>
        </p:txBody>
      </p:sp>
      <p:sp>
        <p:nvSpPr>
          <p:cNvPr id="18" name="Shape 16"/>
          <p:cNvSpPr/>
          <p:nvPr/>
        </p:nvSpPr>
        <p:spPr>
          <a:xfrm>
            <a:off x="6217920" y="1097280"/>
            <a:ext cx="2560320" cy="137160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9" name="Shape 17"/>
          <p:cNvSpPr/>
          <p:nvPr/>
        </p:nvSpPr>
        <p:spPr>
          <a:xfrm>
            <a:off x="6217920" y="1097280"/>
            <a:ext cx="2560320" cy="45720"/>
          </a:xfrm>
          <a:prstGeom prst="rect">
            <a:avLst/>
          </a:prstGeom>
          <a:solidFill>
            <a:srgbClr val="FFD166"/>
          </a:solidFill>
          <a:ln/>
        </p:spPr>
        <p:txBody>
          <a:bodyPr/>
          <a:lstStyle/>
          <a:p>
            <a:endParaRPr lang="it-IT"/>
          </a:p>
        </p:txBody>
      </p:sp>
      <p:sp>
        <p:nvSpPr>
          <p:cNvPr id="20" name="Shape 18"/>
          <p:cNvSpPr/>
          <p:nvPr/>
        </p:nvSpPr>
        <p:spPr>
          <a:xfrm>
            <a:off x="6309360" y="1234440"/>
            <a:ext cx="365760" cy="365760"/>
          </a:xfrm>
          <a:prstGeom prst="ellipse">
            <a:avLst/>
          </a:prstGeom>
          <a:solidFill>
            <a:srgbClr val="FFD166"/>
          </a:solidFill>
          <a:ln/>
        </p:spPr>
        <p:txBody>
          <a:bodyPr/>
          <a:lstStyle/>
          <a:p>
            <a:endParaRPr lang="it-IT"/>
          </a:p>
        </p:txBody>
      </p:sp>
      <p:sp>
        <p:nvSpPr>
          <p:cNvPr id="21" name="Text 19"/>
          <p:cNvSpPr/>
          <p:nvPr/>
        </p:nvSpPr>
        <p:spPr>
          <a:xfrm>
            <a:off x="6309360" y="1234440"/>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3</a:t>
            </a:r>
            <a:endParaRPr lang="en-US" sz="1600" dirty="0"/>
          </a:p>
        </p:txBody>
      </p:sp>
      <p:sp>
        <p:nvSpPr>
          <p:cNvPr id="22" name="Text 20"/>
          <p:cNvSpPr/>
          <p:nvPr/>
        </p:nvSpPr>
        <p:spPr>
          <a:xfrm>
            <a:off x="6766560" y="1234440"/>
            <a:ext cx="187452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Il cliente apre il portale</a:t>
            </a:r>
            <a:endParaRPr lang="en-US" sz="1150" dirty="0"/>
          </a:p>
        </p:txBody>
      </p:sp>
      <p:sp>
        <p:nvSpPr>
          <p:cNvPr id="23" name="Text 21"/>
          <p:cNvSpPr/>
          <p:nvPr/>
        </p:nvSpPr>
        <p:spPr>
          <a:xfrm>
            <a:off x="6355080" y="1691640"/>
            <a:ext cx="2286000" cy="685800"/>
          </a:xfrm>
          <a:prstGeom prst="rect">
            <a:avLst/>
          </a:prstGeom>
          <a:noFill/>
          <a:ln/>
        </p:spPr>
        <p:txBody>
          <a:bodyPr wrap="square" lIns="0" tIns="0" rIns="0" bIns="0" rtlCol="0" anchor="ctr"/>
          <a:lstStyle/>
          <a:p>
            <a:pPr marL="0" indent="0">
              <a:buNone/>
            </a:pPr>
            <a:r>
              <a:rPr lang="en-US" sz="950" dirty="0">
                <a:solidFill>
                  <a:srgbClr val="A0AEC0"/>
                </a:solidFill>
                <a:latin typeface="Calibri" pitchFamily="34" charset="0"/>
                <a:ea typeface="Calibri" pitchFamily="34" charset="-122"/>
                <a:cs typeface="Calibri" pitchFamily="34" charset="-120"/>
              </a:rPr>
              <a:t>Dal telefono, nessuna app. Vede la sessione del giorno con foto start/end.</a:t>
            </a:r>
            <a:endParaRPr lang="en-US" sz="950" dirty="0"/>
          </a:p>
        </p:txBody>
      </p:sp>
      <p:sp>
        <p:nvSpPr>
          <p:cNvPr id="24" name="Shape 22"/>
          <p:cNvSpPr/>
          <p:nvPr/>
        </p:nvSpPr>
        <p:spPr>
          <a:xfrm>
            <a:off x="548640" y="2606040"/>
            <a:ext cx="2560320" cy="137160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5" name="Shape 23"/>
          <p:cNvSpPr/>
          <p:nvPr/>
        </p:nvSpPr>
        <p:spPr>
          <a:xfrm>
            <a:off x="548640" y="2606040"/>
            <a:ext cx="2560320" cy="45720"/>
          </a:xfrm>
          <a:prstGeom prst="rect">
            <a:avLst/>
          </a:prstGeom>
          <a:solidFill>
            <a:srgbClr val="F4A261"/>
          </a:solidFill>
          <a:ln/>
        </p:spPr>
        <p:txBody>
          <a:bodyPr/>
          <a:lstStyle/>
          <a:p>
            <a:endParaRPr lang="it-IT"/>
          </a:p>
        </p:txBody>
      </p:sp>
      <p:sp>
        <p:nvSpPr>
          <p:cNvPr id="26" name="Shape 24"/>
          <p:cNvSpPr/>
          <p:nvPr/>
        </p:nvSpPr>
        <p:spPr>
          <a:xfrm>
            <a:off x="640080" y="2743200"/>
            <a:ext cx="365760" cy="365760"/>
          </a:xfrm>
          <a:prstGeom prst="ellipse">
            <a:avLst/>
          </a:prstGeom>
          <a:solidFill>
            <a:srgbClr val="F4A261"/>
          </a:solidFill>
          <a:ln/>
        </p:spPr>
        <p:txBody>
          <a:bodyPr/>
          <a:lstStyle/>
          <a:p>
            <a:endParaRPr lang="it-IT"/>
          </a:p>
        </p:txBody>
      </p:sp>
      <p:sp>
        <p:nvSpPr>
          <p:cNvPr id="27" name="Text 25"/>
          <p:cNvSpPr/>
          <p:nvPr/>
        </p:nvSpPr>
        <p:spPr>
          <a:xfrm>
            <a:off x="640080" y="2743200"/>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4</a:t>
            </a:r>
            <a:endParaRPr lang="en-US" sz="1600" dirty="0"/>
          </a:p>
        </p:txBody>
      </p:sp>
      <p:sp>
        <p:nvSpPr>
          <p:cNvPr id="28" name="Text 26"/>
          <p:cNvSpPr/>
          <p:nvPr/>
        </p:nvSpPr>
        <p:spPr>
          <a:xfrm>
            <a:off x="1097280" y="2743200"/>
            <a:ext cx="187452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Esegue e registra in palestra</a:t>
            </a:r>
            <a:endParaRPr lang="en-US" sz="1150" dirty="0"/>
          </a:p>
        </p:txBody>
      </p:sp>
      <p:sp>
        <p:nvSpPr>
          <p:cNvPr id="29" name="Text 27"/>
          <p:cNvSpPr/>
          <p:nvPr/>
        </p:nvSpPr>
        <p:spPr>
          <a:xfrm>
            <a:off x="685800" y="3200400"/>
            <a:ext cx="2286000" cy="685800"/>
          </a:xfrm>
          <a:prstGeom prst="rect">
            <a:avLst/>
          </a:prstGeom>
          <a:noFill/>
          <a:ln/>
        </p:spPr>
        <p:txBody>
          <a:bodyPr wrap="square" lIns="0" tIns="0" rIns="0" bIns="0" rtlCol="0" anchor="ctr"/>
          <a:lstStyle/>
          <a:p>
            <a:pPr marL="0" indent="0">
              <a:buNone/>
            </a:pPr>
            <a:r>
              <a:rPr lang="en-US" sz="950" dirty="0">
                <a:solidFill>
                  <a:srgbClr val="A0AEC0"/>
                </a:solidFill>
                <a:latin typeface="Calibri" pitchFamily="34" charset="0"/>
                <a:ea typeface="Calibri" pitchFamily="34" charset="-122"/>
                <a:cs typeface="Calibri" pitchFamily="34" charset="-120"/>
              </a:rPr>
              <a:t>Conferma il prescritto con un tap, modifica solo se diverso. RPE e note. 30 sec per esercizio.</a:t>
            </a:r>
            <a:endParaRPr lang="en-US" sz="950" dirty="0"/>
          </a:p>
        </p:txBody>
      </p:sp>
      <p:sp>
        <p:nvSpPr>
          <p:cNvPr id="30" name="Shape 28"/>
          <p:cNvSpPr/>
          <p:nvPr/>
        </p:nvSpPr>
        <p:spPr>
          <a:xfrm>
            <a:off x="3383280" y="2606040"/>
            <a:ext cx="2560320" cy="137160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31" name="Shape 29"/>
          <p:cNvSpPr/>
          <p:nvPr/>
        </p:nvSpPr>
        <p:spPr>
          <a:xfrm>
            <a:off x="3383280" y="2606040"/>
            <a:ext cx="2560320" cy="45720"/>
          </a:xfrm>
          <a:prstGeom prst="rect">
            <a:avLst/>
          </a:prstGeom>
          <a:solidFill>
            <a:srgbClr val="00B4D8"/>
          </a:solidFill>
          <a:ln/>
        </p:spPr>
        <p:txBody>
          <a:bodyPr/>
          <a:lstStyle/>
          <a:p>
            <a:endParaRPr lang="it-IT"/>
          </a:p>
        </p:txBody>
      </p:sp>
      <p:sp>
        <p:nvSpPr>
          <p:cNvPr id="32" name="Shape 30"/>
          <p:cNvSpPr/>
          <p:nvPr/>
        </p:nvSpPr>
        <p:spPr>
          <a:xfrm>
            <a:off x="3474720" y="2743200"/>
            <a:ext cx="365760" cy="365760"/>
          </a:xfrm>
          <a:prstGeom prst="ellipse">
            <a:avLst/>
          </a:prstGeom>
          <a:solidFill>
            <a:srgbClr val="00B4D8"/>
          </a:solidFill>
          <a:ln/>
        </p:spPr>
        <p:txBody>
          <a:bodyPr/>
          <a:lstStyle/>
          <a:p>
            <a:endParaRPr lang="it-IT"/>
          </a:p>
        </p:txBody>
      </p:sp>
      <p:sp>
        <p:nvSpPr>
          <p:cNvPr id="33" name="Text 31"/>
          <p:cNvSpPr/>
          <p:nvPr/>
        </p:nvSpPr>
        <p:spPr>
          <a:xfrm>
            <a:off x="3474720" y="2743200"/>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5</a:t>
            </a:r>
            <a:endParaRPr lang="en-US" sz="1600" dirty="0"/>
          </a:p>
        </p:txBody>
      </p:sp>
      <p:sp>
        <p:nvSpPr>
          <p:cNvPr id="34" name="Text 32"/>
          <p:cNvSpPr/>
          <p:nvPr/>
        </p:nvSpPr>
        <p:spPr>
          <a:xfrm>
            <a:off x="3931920" y="2743200"/>
            <a:ext cx="187452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Il sistema analizza</a:t>
            </a:r>
            <a:endParaRPr lang="en-US" sz="1150" dirty="0"/>
          </a:p>
        </p:txBody>
      </p:sp>
      <p:sp>
        <p:nvSpPr>
          <p:cNvPr id="35" name="Text 33"/>
          <p:cNvSpPr/>
          <p:nvPr/>
        </p:nvSpPr>
        <p:spPr>
          <a:xfrm>
            <a:off x="3520440" y="3200400"/>
            <a:ext cx="2286000" cy="685800"/>
          </a:xfrm>
          <a:prstGeom prst="rect">
            <a:avLst/>
          </a:prstGeom>
          <a:noFill/>
          <a:ln/>
        </p:spPr>
        <p:txBody>
          <a:bodyPr wrap="square" lIns="0" tIns="0" rIns="0" bIns="0" rtlCol="0" anchor="ctr"/>
          <a:lstStyle/>
          <a:p>
            <a:pPr marL="0" indent="0">
              <a:buNone/>
            </a:pPr>
            <a:r>
              <a:rPr lang="en-US" sz="950" dirty="0">
                <a:solidFill>
                  <a:srgbClr val="A0AEC0"/>
                </a:solidFill>
                <a:latin typeface="Calibri" pitchFamily="34" charset="0"/>
                <a:ea typeface="Calibri" pitchFamily="34" charset="-122"/>
                <a:cs typeface="Calibri" pitchFamily="34" charset="-120"/>
              </a:rPr>
              <a:t>Compliance, volume per muscolo vs target scientifici, equilibri biomeccanici, alert predittivi.</a:t>
            </a:r>
            <a:endParaRPr lang="en-US" sz="950" dirty="0"/>
          </a:p>
        </p:txBody>
      </p:sp>
      <p:sp>
        <p:nvSpPr>
          <p:cNvPr id="36" name="Shape 34"/>
          <p:cNvSpPr/>
          <p:nvPr/>
        </p:nvSpPr>
        <p:spPr>
          <a:xfrm>
            <a:off x="6217920" y="2606040"/>
            <a:ext cx="2560320" cy="137160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37" name="Shape 35"/>
          <p:cNvSpPr/>
          <p:nvPr/>
        </p:nvSpPr>
        <p:spPr>
          <a:xfrm>
            <a:off x="6217920" y="2606040"/>
            <a:ext cx="2560320" cy="45720"/>
          </a:xfrm>
          <a:prstGeom prst="rect">
            <a:avLst/>
          </a:prstGeom>
          <a:solidFill>
            <a:srgbClr val="EF476F"/>
          </a:solidFill>
          <a:ln/>
        </p:spPr>
        <p:txBody>
          <a:bodyPr/>
          <a:lstStyle/>
          <a:p>
            <a:endParaRPr lang="it-IT"/>
          </a:p>
        </p:txBody>
      </p:sp>
      <p:sp>
        <p:nvSpPr>
          <p:cNvPr id="38" name="Shape 36"/>
          <p:cNvSpPr/>
          <p:nvPr/>
        </p:nvSpPr>
        <p:spPr>
          <a:xfrm>
            <a:off x="6309360" y="2743200"/>
            <a:ext cx="365760" cy="365760"/>
          </a:xfrm>
          <a:prstGeom prst="ellipse">
            <a:avLst/>
          </a:prstGeom>
          <a:solidFill>
            <a:srgbClr val="EF476F"/>
          </a:solidFill>
          <a:ln/>
        </p:spPr>
        <p:txBody>
          <a:bodyPr/>
          <a:lstStyle/>
          <a:p>
            <a:endParaRPr lang="it-IT"/>
          </a:p>
        </p:txBody>
      </p:sp>
      <p:sp>
        <p:nvSpPr>
          <p:cNvPr id="39" name="Text 37"/>
          <p:cNvSpPr/>
          <p:nvPr/>
        </p:nvSpPr>
        <p:spPr>
          <a:xfrm>
            <a:off x="6309360" y="2743200"/>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6</a:t>
            </a:r>
            <a:endParaRPr lang="en-US" sz="1600" dirty="0"/>
          </a:p>
        </p:txBody>
      </p:sp>
      <p:sp>
        <p:nvSpPr>
          <p:cNvPr id="40" name="Text 38"/>
          <p:cNvSpPr/>
          <p:nvPr/>
        </p:nvSpPr>
        <p:spPr>
          <a:xfrm>
            <a:off x="6766560" y="2743200"/>
            <a:ext cx="1874520" cy="3200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Il cliente percepisce</a:t>
            </a:r>
            <a:endParaRPr lang="en-US" sz="1150" dirty="0"/>
          </a:p>
        </p:txBody>
      </p:sp>
      <p:sp>
        <p:nvSpPr>
          <p:cNvPr id="41" name="Text 39"/>
          <p:cNvSpPr/>
          <p:nvPr/>
        </p:nvSpPr>
        <p:spPr>
          <a:xfrm>
            <a:off x="6355080" y="3200400"/>
            <a:ext cx="2286000" cy="685800"/>
          </a:xfrm>
          <a:prstGeom prst="rect">
            <a:avLst/>
          </a:prstGeom>
          <a:noFill/>
          <a:ln/>
        </p:spPr>
        <p:txBody>
          <a:bodyPr wrap="square" lIns="0" tIns="0" rIns="0" bIns="0" rtlCol="0" anchor="ctr"/>
          <a:lstStyle/>
          <a:p>
            <a:pPr marL="0" indent="0">
              <a:buNone/>
            </a:pPr>
            <a:r>
              <a:rPr lang="en-US" sz="950" dirty="0">
                <a:solidFill>
                  <a:srgbClr val="A0AEC0"/>
                </a:solidFill>
                <a:latin typeface="Calibri" pitchFamily="34" charset="0"/>
                <a:ea typeface="Calibri" pitchFamily="34" charset="-122"/>
                <a:cs typeface="Calibri" pitchFamily="34" charset="-120"/>
              </a:rPr>
              <a:t>Non è il solito trainer. È un professionista con un metodo. Il passaparola parte da qui.</a:t>
            </a:r>
            <a:endParaRPr lang="en-US" sz="950" dirty="0"/>
          </a:p>
        </p:txBody>
      </p:sp>
      <p:sp>
        <p:nvSpPr>
          <p:cNvPr id="42" name="Text 40"/>
          <p:cNvSpPr/>
          <p:nvPr/>
        </p:nvSpPr>
        <p:spPr>
          <a:xfrm>
            <a:off x="548640" y="4434840"/>
            <a:ext cx="8046720" cy="228600"/>
          </a:xfrm>
          <a:prstGeom prst="rect">
            <a:avLst/>
          </a:prstGeom>
          <a:noFill/>
          <a:ln/>
        </p:spPr>
        <p:txBody>
          <a:bodyPr wrap="square" lIns="0" tIns="0" rIns="0" bIns="0" rtlCol="0" anchor="ctr"/>
          <a:lstStyle/>
          <a:p>
            <a:pPr marL="0" indent="0">
              <a:buNone/>
            </a:pPr>
            <a:r>
              <a:rPr lang="en-US" sz="950" i="1" dirty="0">
                <a:solidFill>
                  <a:srgbClr val="718096"/>
                </a:solidFill>
                <a:latin typeface="Calibri" pitchFamily="34" charset="0"/>
                <a:ea typeface="Calibri" pitchFamily="34" charset="-122"/>
                <a:cs typeface="Calibri" pitchFamily="34" charset="-120"/>
              </a:rPr>
              <a:t>In Scandinavia il canale dominante potrebbe non essere WhatsApp. L'architettura è la stessa — cambia il canale.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Workout Intelligence: quello che nessuno ha</a:t>
            </a:r>
            <a:endParaRPr lang="en-US" sz="2800" dirty="0"/>
          </a:p>
        </p:txBody>
      </p:sp>
      <p:sp>
        <p:nvSpPr>
          <p:cNvPr id="3" name="Text 1"/>
          <p:cNvSpPr/>
          <p:nvPr/>
        </p:nvSpPr>
        <p:spPr>
          <a:xfrm>
            <a:off x="548640" y="662940"/>
            <a:ext cx="8046720" cy="320040"/>
          </a:xfrm>
          <a:prstGeom prst="rect">
            <a:avLst/>
          </a:prstGeom>
          <a:noFill/>
          <a:ln/>
        </p:spPr>
        <p:txBody>
          <a:bodyPr wrap="square" lIns="0" tIns="0" rIns="0" bIns="0" rtlCol="0" anchor="ctr"/>
          <a:lstStyle/>
          <a:p>
            <a:pPr marL="0" indent="0">
              <a:buNone/>
            </a:pPr>
            <a:r>
              <a:rPr lang="en-US" sz="1300" dirty="0">
                <a:solidFill>
                  <a:srgbClr val="A0AEC0"/>
                </a:solidFill>
                <a:latin typeface="Calibri" pitchFamily="34" charset="0"/>
                <a:ea typeface="Calibri" pitchFamily="34" charset="-122"/>
                <a:cs typeface="Calibri" pitchFamily="34" charset="-120"/>
              </a:rPr>
              <a:t>Nessun software al mondo fa questo. È la feature che separa FitManager da qualsiasi competitor.</a:t>
            </a:r>
            <a:endParaRPr lang="en-US" sz="1300" dirty="0"/>
          </a:p>
        </p:txBody>
      </p:sp>
      <p:sp>
        <p:nvSpPr>
          <p:cNvPr id="4" name="Text 2"/>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5" name="Text 3"/>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19 / 22</a:t>
            </a:r>
            <a:endParaRPr lang="en-US" sz="800" dirty="0"/>
          </a:p>
        </p:txBody>
      </p:sp>
      <p:sp>
        <p:nvSpPr>
          <p:cNvPr id="6" name="Text 4"/>
          <p:cNvSpPr/>
          <p:nvPr/>
        </p:nvSpPr>
        <p:spPr>
          <a:xfrm>
            <a:off x="548640" y="868680"/>
            <a:ext cx="8046720" cy="384048"/>
          </a:xfrm>
          <a:prstGeom prst="rect">
            <a:avLst/>
          </a:prstGeom>
          <a:noFill/>
          <a:ln/>
        </p:spPr>
        <p:txBody>
          <a:bodyPr wrap="square" lIns="0" tIns="0" rIns="0" bIns="0" rtlCol="0" anchor="ctr"/>
          <a:lstStyle/>
          <a:p>
            <a:pPr marL="0" indent="0">
              <a:buNone/>
            </a:pPr>
            <a:r>
              <a:rPr lang="en-US" sz="950" i="1" dirty="0">
                <a:solidFill>
                  <a:srgbClr val="718096"/>
                </a:solidFill>
                <a:latin typeface="Calibri" pitchFamily="34" charset="0"/>
                <a:ea typeface="Calibri" pitchFamily="34" charset="-122"/>
                <a:cs typeface="Calibri" pitchFamily="34" charset="-120"/>
              </a:rPr>
              <a:t>Quando hai visto FitManager, questa feature non esisteva ancora. Hai identificato il potenziale — il cliente che registra i dati reali, il trainer che vede l’aderenza in automatico. L’avevo in progetto da tempo. Adesso c’è. Funziona. È quello che hai visto tradotto in sistema.</a:t>
            </a:r>
            <a:endParaRPr lang="en-US" sz="950" dirty="0"/>
          </a:p>
        </p:txBody>
      </p:sp>
      <p:sp>
        <p:nvSpPr>
          <p:cNvPr id="7" name="Shape 5"/>
          <p:cNvSpPr/>
          <p:nvPr/>
        </p:nvSpPr>
        <p:spPr>
          <a:xfrm>
            <a:off x="548640" y="1325880"/>
            <a:ext cx="8046720" cy="822960"/>
          </a:xfrm>
          <a:prstGeom prst="rect">
            <a:avLst/>
          </a:prstGeom>
          <a:solidFill>
            <a:srgbClr val="232F42"/>
          </a:solidFill>
          <a:ln/>
          <a:effectLst>
            <a:outerShdw blurRad="101600" dist="38100" dir="8100000" algn="bl" rotWithShape="0">
              <a:srgbClr val="000000">
                <a:alpha val="25000"/>
              </a:srgbClr>
            </a:outerShdw>
          </a:effectLst>
        </p:spPr>
        <p:txBody>
          <a:bodyPr/>
          <a:lstStyle/>
          <a:p>
            <a:endParaRPr lang="it-IT"/>
          </a:p>
        </p:txBody>
      </p:sp>
      <p:sp>
        <p:nvSpPr>
          <p:cNvPr id="8" name="Shape 6"/>
          <p:cNvSpPr/>
          <p:nvPr/>
        </p:nvSpPr>
        <p:spPr>
          <a:xfrm>
            <a:off x="548640" y="1325880"/>
            <a:ext cx="54864" cy="822960"/>
          </a:xfrm>
          <a:prstGeom prst="rect">
            <a:avLst/>
          </a:prstGeom>
          <a:solidFill>
            <a:srgbClr val="FFD166"/>
          </a:solidFill>
          <a:ln/>
        </p:spPr>
        <p:txBody>
          <a:bodyPr/>
          <a:lstStyle/>
          <a:p>
            <a:endParaRPr lang="it-IT"/>
          </a:p>
        </p:txBody>
      </p:sp>
      <p:sp>
        <p:nvSpPr>
          <p:cNvPr id="9" name="Text 7"/>
          <p:cNvSpPr/>
          <p:nvPr/>
        </p:nvSpPr>
        <p:spPr>
          <a:xfrm>
            <a:off x="777240" y="1371600"/>
            <a:ext cx="7635240" cy="228600"/>
          </a:xfrm>
          <a:prstGeom prst="rect">
            <a:avLst/>
          </a:prstGeom>
          <a:noFill/>
          <a:ln/>
        </p:spPr>
        <p:txBody>
          <a:bodyPr wrap="square" lIns="0" tIns="0" rIns="0" bIns="0" rtlCol="0" anchor="ctr"/>
          <a:lstStyle/>
          <a:p>
            <a:pPr marL="0" indent="0">
              <a:buNone/>
            </a:pPr>
            <a:r>
              <a:rPr lang="en-US" sz="1100" b="1" dirty="0">
                <a:solidFill>
                  <a:srgbClr val="FFD166"/>
                </a:solidFill>
                <a:latin typeface="Calibri" pitchFamily="34" charset="0"/>
                <a:ea typeface="Calibri" pitchFamily="34" charset="-122"/>
                <a:cs typeface="Calibri" pitchFamily="34" charset="-120"/>
              </a:rPr>
              <a:t>Il momento che cambia tutto:</a:t>
            </a:r>
            <a:endParaRPr lang="en-US" sz="1100" dirty="0"/>
          </a:p>
        </p:txBody>
      </p:sp>
      <p:sp>
        <p:nvSpPr>
          <p:cNvPr id="10" name="Text 8"/>
          <p:cNvSpPr/>
          <p:nvPr/>
        </p:nvSpPr>
        <p:spPr>
          <a:xfrm>
            <a:off x="777240" y="1600200"/>
            <a:ext cx="7635240" cy="502920"/>
          </a:xfrm>
          <a:prstGeom prst="rect">
            <a:avLst/>
          </a:prstGeom>
          <a:noFill/>
          <a:ln/>
        </p:spPr>
        <p:txBody>
          <a:bodyPr wrap="square" lIns="0" tIns="0" rIns="0" bIns="0" rtlCol="0" anchor="ctr"/>
          <a:lstStyle/>
          <a:p>
            <a:pPr marL="0" indent="0">
              <a:buNone/>
            </a:pPr>
            <a:r>
              <a:rPr lang="en-US" sz="1050" i="1" dirty="0">
                <a:solidFill>
                  <a:srgbClr val="A0AEC0"/>
                </a:solidFill>
                <a:latin typeface="Calibri" pitchFamily="34" charset="0"/>
                <a:ea typeface="Calibri" pitchFamily="34" charset="-122"/>
                <a:cs typeface="Calibri" pitchFamily="34" charset="-120"/>
              </a:rPr>
              <a:t>Il trainer siede con il cliente e gli mostra: "Sulla panca hai fatto 3×8 invece di 4×10. Il tuo petto è in zona blu — sotto la soglia minima di stimolo. La prossima settimana partiamo da 3×10 e monitoriamo." Il cliente sta vivendo qualcosa che non ha mai sperimentato con nessun altro trainer.</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8046720" cy="1170432"/>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Esercizio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Piano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Fatto</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Delta</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292608">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Panca Piana</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4×10 @60kg</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3×8 @55kg</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b="1" dirty="0">
                          <a:solidFill>
                            <a:srgbClr val="EF476F"/>
                          </a:solidFill>
                          <a:latin typeface="Calibri" pitchFamily="34" charset="0"/>
                          <a:ea typeface="Calibri" pitchFamily="34" charset="-122"/>
                          <a:cs typeface="Calibri" pitchFamily="34" charset="-120"/>
                        </a:rPr>
                        <a:t>-1s -2r -5kg ↓</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292608">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Squat</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4×8 @80kg</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4×10 @80kg</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50" b="1" dirty="0">
                          <a:solidFill>
                            <a:srgbClr val="06D6A0"/>
                          </a:solidFill>
                          <a:latin typeface="Calibri" pitchFamily="34" charset="0"/>
                          <a:ea typeface="Calibri" pitchFamily="34" charset="-122"/>
                          <a:cs typeface="Calibri" pitchFamily="34" charset="-120"/>
                        </a:rPr>
                        <a:t>0s +2r 0kg ↑</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292608">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Lat Machine</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3×12 @40kg</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3×12 @40kg</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50" b="1" dirty="0">
                          <a:solidFill>
                            <a:srgbClr val="00B4D8"/>
                          </a:solidFill>
                          <a:latin typeface="Calibri" pitchFamily="34" charset="0"/>
                          <a:ea typeface="Calibri" pitchFamily="34" charset="-122"/>
                          <a:cs typeface="Calibri" pitchFamily="34" charset="-120"/>
                        </a:rPr>
                        <a:t>in linea =</a:t>
                      </a:r>
                      <a:endParaRPr lang="en-US" sz="105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bl>
          </a:graphicData>
        </a:graphic>
      </p:graphicFrame>
      <p:sp>
        <p:nvSpPr>
          <p:cNvPr id="12" name="Shape 9"/>
          <p:cNvSpPr/>
          <p:nvPr/>
        </p:nvSpPr>
        <p:spPr>
          <a:xfrm>
            <a:off x="548640" y="3520440"/>
            <a:ext cx="2560320" cy="7315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pic>
        <p:nvPicPr>
          <p:cNvPr id="13" name="Image 0" descr="preencoded.png"/>
          <p:cNvPicPr>
            <a:picLocks noChangeAspect="1"/>
          </p:cNvPicPr>
          <p:nvPr/>
        </p:nvPicPr>
        <p:blipFill>
          <a:blip r:embed="rId3"/>
          <a:stretch>
            <a:fillRect/>
          </a:stretch>
        </p:blipFill>
        <p:spPr>
          <a:xfrm>
            <a:off x="640080" y="3584448"/>
            <a:ext cx="292608" cy="292608"/>
          </a:xfrm>
          <a:prstGeom prst="rect">
            <a:avLst/>
          </a:prstGeom>
        </p:spPr>
      </p:pic>
      <p:sp>
        <p:nvSpPr>
          <p:cNvPr id="14" name="Text 10"/>
          <p:cNvSpPr/>
          <p:nvPr/>
        </p:nvSpPr>
        <p:spPr>
          <a:xfrm>
            <a:off x="1005840" y="3566160"/>
            <a:ext cx="1965960" cy="22860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Compliance per sessione</a:t>
            </a:r>
            <a:endParaRPr lang="en-US" sz="1000" dirty="0"/>
          </a:p>
        </p:txBody>
      </p:sp>
      <p:sp>
        <p:nvSpPr>
          <p:cNvPr id="15" name="Text 11"/>
          <p:cNvSpPr/>
          <p:nvPr/>
        </p:nvSpPr>
        <p:spPr>
          <a:xfrm>
            <a:off x="640080" y="3858768"/>
            <a:ext cx="2377440" cy="320040"/>
          </a:xfrm>
          <a:prstGeom prst="rect">
            <a:avLst/>
          </a:prstGeom>
          <a:noFill/>
          <a:ln/>
        </p:spPr>
        <p:txBody>
          <a:bodyPr wrap="square" lIns="0" tIns="0" rIns="0" bIns="0" rtlCol="0" anchor="ctr"/>
          <a:lstStyle/>
          <a:p>
            <a:pPr marL="0" indent="0">
              <a:buNone/>
            </a:pPr>
            <a:r>
              <a:rPr lang="en-US" sz="900" dirty="0">
                <a:solidFill>
                  <a:srgbClr val="A0AEC0"/>
                </a:solidFill>
                <a:latin typeface="Calibri" pitchFamily="34" charset="0"/>
                <a:ea typeface="Calibri" pitchFamily="34" charset="-122"/>
                <a:cs typeface="Calibri" pitchFamily="34" charset="-120"/>
              </a:rPr>
              <a:t>Il PT vede subito se il cliente ha fatto l'80% o il 110% di quanto prescritto.</a:t>
            </a:r>
            <a:endParaRPr lang="en-US" sz="900" dirty="0"/>
          </a:p>
        </p:txBody>
      </p:sp>
      <p:sp>
        <p:nvSpPr>
          <p:cNvPr id="16" name="Shape 12"/>
          <p:cNvSpPr/>
          <p:nvPr/>
        </p:nvSpPr>
        <p:spPr>
          <a:xfrm>
            <a:off x="3383280" y="3520440"/>
            <a:ext cx="2560320" cy="7315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pic>
        <p:nvPicPr>
          <p:cNvPr id="17" name="Image 1" descr="preencoded.png"/>
          <p:cNvPicPr>
            <a:picLocks noChangeAspect="1"/>
          </p:cNvPicPr>
          <p:nvPr/>
        </p:nvPicPr>
        <p:blipFill>
          <a:blip r:embed="rId4"/>
          <a:stretch>
            <a:fillRect/>
          </a:stretch>
        </p:blipFill>
        <p:spPr>
          <a:xfrm>
            <a:off x="3474720" y="3584448"/>
            <a:ext cx="292608" cy="292608"/>
          </a:xfrm>
          <a:prstGeom prst="rect">
            <a:avLst/>
          </a:prstGeom>
        </p:spPr>
      </p:pic>
      <p:sp>
        <p:nvSpPr>
          <p:cNvPr id="18" name="Text 13"/>
          <p:cNvSpPr/>
          <p:nvPr/>
        </p:nvSpPr>
        <p:spPr>
          <a:xfrm>
            <a:off x="3840480" y="3566160"/>
            <a:ext cx="1965960" cy="228600"/>
          </a:xfrm>
          <a:prstGeom prst="rect">
            <a:avLst/>
          </a:prstGeom>
          <a:noFill/>
          <a:ln/>
        </p:spPr>
        <p:txBody>
          <a:bodyPr wrap="square" lIns="0" tIns="0" rIns="0" bIns="0" rtlCol="0" anchor="ctr"/>
          <a:lstStyle/>
          <a:p>
            <a:pPr marL="0" indent="0">
              <a:buNone/>
            </a:pPr>
            <a:r>
              <a:rPr lang="en-US" sz="1000" b="1" dirty="0">
                <a:solidFill>
                  <a:srgbClr val="06D6A0"/>
                </a:solidFill>
                <a:latin typeface="Calibri" pitchFamily="34" charset="0"/>
                <a:ea typeface="Calibri" pitchFamily="34" charset="-122"/>
                <a:cs typeface="Calibri" pitchFamily="34" charset="-120"/>
              </a:rPr>
              <a:t>Dose-Response per muscolo</a:t>
            </a:r>
            <a:endParaRPr lang="en-US" sz="1000" dirty="0"/>
          </a:p>
        </p:txBody>
      </p:sp>
      <p:sp>
        <p:nvSpPr>
          <p:cNvPr id="19" name="Text 14"/>
          <p:cNvSpPr/>
          <p:nvPr/>
        </p:nvSpPr>
        <p:spPr>
          <a:xfrm>
            <a:off x="3474720" y="3858768"/>
            <a:ext cx="2377440" cy="320040"/>
          </a:xfrm>
          <a:prstGeom prst="rect">
            <a:avLst/>
          </a:prstGeom>
          <a:noFill/>
          <a:ln/>
        </p:spPr>
        <p:txBody>
          <a:bodyPr wrap="square" lIns="0" tIns="0" rIns="0" bIns="0" rtlCol="0" anchor="ctr"/>
          <a:lstStyle/>
          <a:p>
            <a:pPr marL="0" indent="0">
              <a:buNone/>
            </a:pPr>
            <a:r>
              <a:rPr lang="en-US" sz="900" dirty="0">
                <a:solidFill>
                  <a:srgbClr val="A0AEC0"/>
                </a:solidFill>
                <a:latin typeface="Calibri" pitchFamily="34" charset="0"/>
                <a:ea typeface="Calibri" pitchFamily="34" charset="-122"/>
                <a:cs typeface="Calibri" pitchFamily="34" charset="-120"/>
              </a:rPr>
              <a:t>Volume effettivo vs target scientifici (MEV/MAV/MRV), personalizzati.</a:t>
            </a:r>
            <a:endParaRPr lang="en-US" sz="900" dirty="0"/>
          </a:p>
        </p:txBody>
      </p:sp>
      <p:sp>
        <p:nvSpPr>
          <p:cNvPr id="11" name="Shape 15"/>
          <p:cNvSpPr/>
          <p:nvPr/>
        </p:nvSpPr>
        <p:spPr>
          <a:xfrm>
            <a:off x="6217920" y="3520440"/>
            <a:ext cx="2560320" cy="731520"/>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pic>
        <p:nvPicPr>
          <p:cNvPr id="21" name="Image 2" descr="preencoded.png"/>
          <p:cNvPicPr>
            <a:picLocks noChangeAspect="1"/>
          </p:cNvPicPr>
          <p:nvPr/>
        </p:nvPicPr>
        <p:blipFill>
          <a:blip r:embed="rId5"/>
          <a:stretch>
            <a:fillRect/>
          </a:stretch>
        </p:blipFill>
        <p:spPr>
          <a:xfrm>
            <a:off x="6309360" y="3584448"/>
            <a:ext cx="292608" cy="292608"/>
          </a:xfrm>
          <a:prstGeom prst="rect">
            <a:avLst/>
          </a:prstGeom>
        </p:spPr>
      </p:pic>
      <p:sp>
        <p:nvSpPr>
          <p:cNvPr id="22" name="Text 16"/>
          <p:cNvSpPr/>
          <p:nvPr/>
        </p:nvSpPr>
        <p:spPr>
          <a:xfrm>
            <a:off x="6675120" y="3566160"/>
            <a:ext cx="1965960" cy="228600"/>
          </a:xfrm>
          <a:prstGeom prst="rect">
            <a:avLst/>
          </a:prstGeom>
          <a:noFill/>
          <a:ln/>
        </p:spPr>
        <p:txBody>
          <a:bodyPr wrap="square" lIns="0" tIns="0" rIns="0" bIns="0" rtlCol="0" anchor="ctr"/>
          <a:lstStyle/>
          <a:p>
            <a:pPr marL="0" indent="0">
              <a:buNone/>
            </a:pPr>
            <a:r>
              <a:rPr lang="en-US" sz="1000" b="1" dirty="0">
                <a:solidFill>
                  <a:srgbClr val="FFD166"/>
                </a:solidFill>
                <a:latin typeface="Calibri" pitchFamily="34" charset="0"/>
                <a:ea typeface="Calibri" pitchFamily="34" charset="-122"/>
                <a:cs typeface="Calibri" pitchFamily="34" charset="-120"/>
              </a:rPr>
              <a:t>Equilibrio biomeccanico</a:t>
            </a:r>
            <a:endParaRPr lang="en-US" sz="1000" dirty="0"/>
          </a:p>
        </p:txBody>
      </p:sp>
      <p:sp>
        <p:nvSpPr>
          <p:cNvPr id="23" name="Text 17"/>
          <p:cNvSpPr/>
          <p:nvPr/>
        </p:nvSpPr>
        <p:spPr>
          <a:xfrm>
            <a:off x="6309360" y="3858768"/>
            <a:ext cx="2377440" cy="320040"/>
          </a:xfrm>
          <a:prstGeom prst="rect">
            <a:avLst/>
          </a:prstGeom>
          <a:noFill/>
          <a:ln/>
        </p:spPr>
        <p:txBody>
          <a:bodyPr wrap="square" lIns="0" tIns="0" rIns="0" bIns="0" rtlCol="0" anchor="ctr"/>
          <a:lstStyle/>
          <a:p>
            <a:pPr marL="0" indent="0">
              <a:buNone/>
            </a:pPr>
            <a:r>
              <a:rPr lang="en-US" sz="900" dirty="0">
                <a:solidFill>
                  <a:srgbClr val="A0AEC0"/>
                </a:solidFill>
                <a:latin typeface="Calibri" pitchFamily="34" charset="0"/>
                <a:ea typeface="Calibri" pitchFamily="34" charset="-122"/>
                <a:cs typeface="Calibri" pitchFamily="34" charset="-120"/>
              </a:rPr>
              <a:t>5 rapporti scientifici calcolati da dati reali. Corregge gli squilibri.</a:t>
            </a:r>
            <a:endParaRPr lang="en-US" sz="900" dirty="0"/>
          </a:p>
        </p:txBody>
      </p:sp>
      <p:sp>
        <p:nvSpPr>
          <p:cNvPr id="24" name="Text 18"/>
          <p:cNvSpPr/>
          <p:nvPr/>
        </p:nvSpPr>
        <p:spPr>
          <a:xfrm>
            <a:off x="548640" y="4370832"/>
            <a:ext cx="8046720" cy="228600"/>
          </a:xfrm>
          <a:prstGeom prst="rect">
            <a:avLst/>
          </a:prstGeom>
          <a:noFill/>
          <a:ln/>
        </p:spPr>
        <p:txBody>
          <a:bodyPr wrap="square" lIns="0" tIns="0" rIns="0" bIns="0" rtlCol="0" anchor="ctr"/>
          <a:lstStyle/>
          <a:p>
            <a:pPr marL="0" indent="0">
              <a:buNone/>
            </a:pPr>
            <a:r>
              <a:rPr lang="en-US" sz="1000" b="1" dirty="0">
                <a:solidFill>
                  <a:srgbClr val="FFD166"/>
                </a:solidFill>
                <a:latin typeface="Calibri" pitchFamily="34" charset="0"/>
                <a:ea typeface="Calibri" pitchFamily="34" charset="-122"/>
                <a:cs typeface="Calibri" pitchFamily="34" charset="-120"/>
              </a:rPr>
              <a:t>Ogni competitor traccia volume totale. Nessuno incrocia il piano con l'esecuzione muscolo per muscolo con target personalizzati.</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 5 domande</a:t>
            </a:r>
            <a:endParaRPr lang="en-US" sz="2800" dirty="0"/>
          </a:p>
        </p:txBody>
      </p:sp>
      <p:sp>
        <p:nvSpPr>
          <p:cNvPr id="3" name="Text 1"/>
          <p:cNvSpPr/>
          <p:nvPr/>
        </p:nvSpPr>
        <p:spPr>
          <a:xfrm>
            <a:off x="457200" y="4754880"/>
            <a:ext cx="6400800" cy="274320"/>
          </a:xfrm>
          <a:prstGeom prst="rect">
            <a:avLst/>
          </a:prstGeom>
          <a:noFill/>
          <a:ln/>
        </p:spPr>
        <p:txBody>
          <a:bodyPr wrap="square" rtlCol="0" anchor="ctr"/>
          <a:lstStyle/>
          <a:p>
            <a:pPr marL="0" indent="0">
              <a:buNone/>
            </a:pPr>
            <a:r>
              <a:rPr lang="en-US" sz="800" dirty="0">
                <a:solidFill>
                  <a:srgbClr val="718096"/>
                </a:solidFill>
                <a:latin typeface="Calibri" pitchFamily="34" charset="0"/>
                <a:ea typeface="Calibri" pitchFamily="34" charset="-122"/>
                <a:cs typeface="Calibri" pitchFamily="34" charset="-120"/>
              </a:rPr>
              <a:t>FitManager Studio+ — Documento Operativo Partner</a:t>
            </a:r>
            <a:endParaRPr lang="en-US" sz="800" dirty="0"/>
          </a:p>
        </p:txBody>
      </p:sp>
      <p:sp>
        <p:nvSpPr>
          <p:cNvPr id="4" name="Text 2"/>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20 / 22</a:t>
            </a:r>
            <a:endParaRPr lang="en-US" sz="800" dirty="0"/>
          </a:p>
        </p:txBody>
      </p:sp>
      <p:sp>
        <p:nvSpPr>
          <p:cNvPr id="5" name="Shape 3"/>
          <p:cNvSpPr/>
          <p:nvPr/>
        </p:nvSpPr>
        <p:spPr>
          <a:xfrm>
            <a:off x="548640" y="914400"/>
            <a:ext cx="8046720" cy="65836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6" name="Shape 4"/>
          <p:cNvSpPr/>
          <p:nvPr/>
        </p:nvSpPr>
        <p:spPr>
          <a:xfrm>
            <a:off x="731520" y="1060704"/>
            <a:ext cx="365760" cy="365760"/>
          </a:xfrm>
          <a:prstGeom prst="ellipse">
            <a:avLst/>
          </a:prstGeom>
          <a:solidFill>
            <a:srgbClr val="00B4D8"/>
          </a:solidFill>
          <a:ln/>
        </p:spPr>
        <p:txBody>
          <a:bodyPr/>
          <a:lstStyle/>
          <a:p>
            <a:endParaRPr lang="it-IT"/>
          </a:p>
        </p:txBody>
      </p:sp>
      <p:sp>
        <p:nvSpPr>
          <p:cNvPr id="7" name="Text 5"/>
          <p:cNvSpPr/>
          <p:nvPr/>
        </p:nvSpPr>
        <p:spPr>
          <a:xfrm>
            <a:off x="731520" y="1060704"/>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280160" y="987552"/>
            <a:ext cx="7132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Come vedi la struttura a fasi e i termini economici?</a:t>
            </a:r>
            <a:endParaRPr lang="en-US" sz="1300" dirty="0"/>
          </a:p>
        </p:txBody>
      </p:sp>
      <p:sp>
        <p:nvSpPr>
          <p:cNvPr id="9" name="Text 7"/>
          <p:cNvSpPr/>
          <p:nvPr/>
        </p:nvSpPr>
        <p:spPr>
          <a:xfrm>
            <a:off x="1280160" y="1280160"/>
            <a:ext cx="7132320" cy="22860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I numeri sono sul tavolo — dimmi dove non ti tornano.</a:t>
            </a:r>
            <a:endParaRPr lang="en-US" sz="1100" dirty="0"/>
          </a:p>
        </p:txBody>
      </p:sp>
      <p:sp>
        <p:nvSpPr>
          <p:cNvPr id="10" name="Shape 8"/>
          <p:cNvSpPr/>
          <p:nvPr/>
        </p:nvSpPr>
        <p:spPr>
          <a:xfrm>
            <a:off x="548640" y="1664208"/>
            <a:ext cx="8046720" cy="65836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1" name="Shape 9"/>
          <p:cNvSpPr/>
          <p:nvPr/>
        </p:nvSpPr>
        <p:spPr>
          <a:xfrm>
            <a:off x="731520" y="1810512"/>
            <a:ext cx="365760" cy="365760"/>
          </a:xfrm>
          <a:prstGeom prst="ellipse">
            <a:avLst/>
          </a:prstGeom>
          <a:solidFill>
            <a:srgbClr val="06D6A0"/>
          </a:solidFill>
          <a:ln/>
        </p:spPr>
        <p:txBody>
          <a:bodyPr/>
          <a:lstStyle/>
          <a:p>
            <a:endParaRPr lang="it-IT"/>
          </a:p>
        </p:txBody>
      </p:sp>
      <p:sp>
        <p:nvSpPr>
          <p:cNvPr id="12" name="Text 10"/>
          <p:cNvSpPr/>
          <p:nvPr/>
        </p:nvSpPr>
        <p:spPr>
          <a:xfrm>
            <a:off x="731520" y="1810512"/>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2</a:t>
            </a:r>
            <a:endParaRPr lang="en-US" sz="1600" dirty="0"/>
          </a:p>
        </p:txBody>
      </p:sp>
      <p:sp>
        <p:nvSpPr>
          <p:cNvPr id="13" name="Text 11"/>
          <p:cNvSpPr/>
          <p:nvPr/>
        </p:nvSpPr>
        <p:spPr>
          <a:xfrm>
            <a:off x="1280160" y="1737360"/>
            <a:ext cx="7132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 sequenza di ingresso in Italia:</a:t>
            </a:r>
            <a:endParaRPr lang="en-US" sz="1300" dirty="0"/>
          </a:p>
        </p:txBody>
      </p:sp>
      <p:sp>
        <p:nvSpPr>
          <p:cNvPr id="14" name="Text 12"/>
          <p:cNvSpPr/>
          <p:nvPr/>
        </p:nvSpPr>
        <p:spPr>
          <a:xfrm>
            <a:off x="1280160" y="2029968"/>
            <a:ext cx="7132320" cy="22860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Il pricing e le tempistiche </a:t>
            </a:r>
            <a:r>
              <a:rPr lang="en-US" sz="1100" dirty="0" err="1">
                <a:solidFill>
                  <a:srgbClr val="A0AEC0"/>
                </a:solidFill>
                <a:latin typeface="Calibri" pitchFamily="34" charset="0"/>
                <a:ea typeface="Calibri" pitchFamily="34" charset="-122"/>
                <a:cs typeface="Calibri" pitchFamily="34" charset="-120"/>
              </a:rPr>
              <a:t>reggono</a:t>
            </a:r>
            <a:r>
              <a:rPr lang="en-US" sz="1100" dirty="0">
                <a:solidFill>
                  <a:srgbClr val="A0AEC0"/>
                </a:solidFill>
                <a:latin typeface="Calibri" pitchFamily="34" charset="0"/>
                <a:ea typeface="Calibri" pitchFamily="34" charset="-122"/>
                <a:cs typeface="Calibri" pitchFamily="34" charset="-120"/>
              </a:rPr>
              <a:t> per il mercato che conosci?</a:t>
            </a:r>
            <a:endParaRPr lang="en-US" sz="1100" dirty="0"/>
          </a:p>
        </p:txBody>
      </p:sp>
      <p:sp>
        <p:nvSpPr>
          <p:cNvPr id="15" name="Shape 13"/>
          <p:cNvSpPr/>
          <p:nvPr/>
        </p:nvSpPr>
        <p:spPr>
          <a:xfrm>
            <a:off x="548640" y="2414016"/>
            <a:ext cx="8046720" cy="65836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16" name="Shape 14"/>
          <p:cNvSpPr/>
          <p:nvPr/>
        </p:nvSpPr>
        <p:spPr>
          <a:xfrm>
            <a:off x="731520" y="2560320"/>
            <a:ext cx="365760" cy="365760"/>
          </a:xfrm>
          <a:prstGeom prst="ellipse">
            <a:avLst/>
          </a:prstGeom>
          <a:solidFill>
            <a:srgbClr val="FFD166"/>
          </a:solidFill>
          <a:ln/>
        </p:spPr>
        <p:txBody>
          <a:bodyPr/>
          <a:lstStyle/>
          <a:p>
            <a:endParaRPr lang="it-IT"/>
          </a:p>
        </p:txBody>
      </p:sp>
      <p:sp>
        <p:nvSpPr>
          <p:cNvPr id="17" name="Text 15"/>
          <p:cNvSpPr/>
          <p:nvPr/>
        </p:nvSpPr>
        <p:spPr>
          <a:xfrm>
            <a:off x="731520" y="2560320"/>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3</a:t>
            </a:r>
            <a:endParaRPr lang="en-US" sz="1600" dirty="0"/>
          </a:p>
        </p:txBody>
      </p:sp>
      <p:sp>
        <p:nvSpPr>
          <p:cNvPr id="18" name="Text 16"/>
          <p:cNvSpPr/>
          <p:nvPr/>
        </p:nvSpPr>
        <p:spPr>
          <a:xfrm>
            <a:off x="1280160" y="2487168"/>
            <a:ext cx="7132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Nordic Wellness e l'internazionale:</a:t>
            </a:r>
            <a:endParaRPr lang="en-US" sz="1300" dirty="0"/>
          </a:p>
        </p:txBody>
      </p:sp>
      <p:sp>
        <p:nvSpPr>
          <p:cNvPr id="19" name="Text 17"/>
          <p:cNvSpPr/>
          <p:nvPr/>
        </p:nvSpPr>
        <p:spPr>
          <a:xfrm>
            <a:off x="1280160" y="2779776"/>
            <a:ext cx="7132320" cy="22860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Qual è il percorso realistico? Che timeline vedi?</a:t>
            </a:r>
            <a:endParaRPr lang="en-US" sz="1100" dirty="0"/>
          </a:p>
        </p:txBody>
      </p:sp>
      <p:sp>
        <p:nvSpPr>
          <p:cNvPr id="20" name="Shape 18"/>
          <p:cNvSpPr/>
          <p:nvPr/>
        </p:nvSpPr>
        <p:spPr>
          <a:xfrm>
            <a:off x="548640" y="3163824"/>
            <a:ext cx="8046720" cy="65836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1" name="Shape 19"/>
          <p:cNvSpPr/>
          <p:nvPr/>
        </p:nvSpPr>
        <p:spPr>
          <a:xfrm>
            <a:off x="731520" y="3310128"/>
            <a:ext cx="365760" cy="365760"/>
          </a:xfrm>
          <a:prstGeom prst="ellipse">
            <a:avLst/>
          </a:prstGeom>
          <a:solidFill>
            <a:srgbClr val="F4A261"/>
          </a:solidFill>
          <a:ln/>
        </p:spPr>
        <p:txBody>
          <a:bodyPr/>
          <a:lstStyle/>
          <a:p>
            <a:endParaRPr lang="it-IT"/>
          </a:p>
        </p:txBody>
      </p:sp>
      <p:sp>
        <p:nvSpPr>
          <p:cNvPr id="22" name="Text 20"/>
          <p:cNvSpPr/>
          <p:nvPr/>
        </p:nvSpPr>
        <p:spPr>
          <a:xfrm>
            <a:off x="731520" y="3310128"/>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4</a:t>
            </a:r>
            <a:endParaRPr lang="en-US" sz="1600" dirty="0"/>
          </a:p>
        </p:txBody>
      </p:sp>
      <p:sp>
        <p:nvSpPr>
          <p:cNvPr id="23" name="Text 21"/>
          <p:cNvSpPr/>
          <p:nvPr/>
        </p:nvSpPr>
        <p:spPr>
          <a:xfrm>
            <a:off x="1280160" y="3236976"/>
            <a:ext cx="7132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 10 Fondatori:</a:t>
            </a:r>
            <a:endParaRPr lang="en-US" sz="1300" dirty="0"/>
          </a:p>
        </p:txBody>
      </p:sp>
      <p:sp>
        <p:nvSpPr>
          <p:cNvPr id="24" name="Text 22"/>
          <p:cNvSpPr/>
          <p:nvPr/>
        </p:nvSpPr>
        <p:spPr>
          <a:xfrm>
            <a:off x="1280160" y="3529584"/>
            <a:ext cx="7132320" cy="228600"/>
          </a:xfrm>
          <a:prstGeom prst="rect">
            <a:avLst/>
          </a:prstGeom>
          <a:noFill/>
          <a:ln/>
        </p:spPr>
        <p:txBody>
          <a:bodyPr wrap="square" lIns="0" tIns="0" rIns="0" bIns="0" rtlCol="0" anchor="ctr"/>
          <a:lstStyle/>
          <a:p>
            <a:pPr marL="0" indent="0">
              <a:buNone/>
            </a:pPr>
            <a:r>
              <a:rPr lang="en-US" sz="1100" dirty="0">
                <a:solidFill>
                  <a:srgbClr val="A0AEC0"/>
                </a:solidFill>
                <a:latin typeface="Calibri" pitchFamily="34" charset="0"/>
                <a:ea typeface="Calibri" pitchFamily="34" charset="-122"/>
                <a:cs typeface="Calibri" pitchFamily="34" charset="-120"/>
              </a:rPr>
              <a:t>Hai già qualche idea? Che profili dalla tua rete?</a:t>
            </a:r>
            <a:endParaRPr lang="en-US" sz="1100" dirty="0"/>
          </a:p>
        </p:txBody>
      </p:sp>
      <p:sp>
        <p:nvSpPr>
          <p:cNvPr id="25" name="Shape 23"/>
          <p:cNvSpPr/>
          <p:nvPr/>
        </p:nvSpPr>
        <p:spPr>
          <a:xfrm>
            <a:off x="548640" y="3913632"/>
            <a:ext cx="8046720" cy="658368"/>
          </a:xfrm>
          <a:prstGeom prst="rect">
            <a:avLst/>
          </a:prstGeom>
          <a:solidFill>
            <a:srgbClr val="1A2332"/>
          </a:solidFill>
          <a:ln/>
          <a:effectLst>
            <a:outerShdw blurRad="101600" dist="38100" dir="8100000" algn="bl" rotWithShape="0">
              <a:srgbClr val="000000">
                <a:alpha val="25000"/>
              </a:srgbClr>
            </a:outerShdw>
          </a:effectLst>
        </p:spPr>
        <p:txBody>
          <a:bodyPr/>
          <a:lstStyle/>
          <a:p>
            <a:endParaRPr lang="it-IT"/>
          </a:p>
        </p:txBody>
      </p:sp>
      <p:sp>
        <p:nvSpPr>
          <p:cNvPr id="26" name="Shape 24"/>
          <p:cNvSpPr/>
          <p:nvPr/>
        </p:nvSpPr>
        <p:spPr>
          <a:xfrm>
            <a:off x="731520" y="4059936"/>
            <a:ext cx="365760" cy="365760"/>
          </a:xfrm>
          <a:prstGeom prst="ellipse">
            <a:avLst/>
          </a:prstGeom>
          <a:solidFill>
            <a:srgbClr val="EF476F"/>
          </a:solidFill>
          <a:ln/>
        </p:spPr>
        <p:txBody>
          <a:bodyPr/>
          <a:lstStyle/>
          <a:p>
            <a:endParaRPr lang="it-IT"/>
          </a:p>
        </p:txBody>
      </p:sp>
      <p:sp>
        <p:nvSpPr>
          <p:cNvPr id="27" name="Text 25"/>
          <p:cNvSpPr/>
          <p:nvPr/>
        </p:nvSpPr>
        <p:spPr>
          <a:xfrm>
            <a:off x="731520" y="4059936"/>
            <a:ext cx="36576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5</a:t>
            </a:r>
            <a:endParaRPr lang="en-US" sz="1600" dirty="0"/>
          </a:p>
        </p:txBody>
      </p:sp>
      <p:sp>
        <p:nvSpPr>
          <p:cNvPr id="28" name="Text 26"/>
          <p:cNvSpPr/>
          <p:nvPr/>
        </p:nvSpPr>
        <p:spPr>
          <a:xfrm>
            <a:off x="1280160" y="3986784"/>
            <a:ext cx="7132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Cosa aggiungeresti? Cosa vedi che io non vedo?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Prossimi passi</a:t>
            </a:r>
            <a:endParaRPr lang="en-US" sz="2800" dirty="0"/>
          </a:p>
        </p:txBody>
      </p:sp>
      <p:sp>
        <p:nvSpPr>
          <p:cNvPr id="4" name="Text 2"/>
          <p:cNvSpPr/>
          <p:nvPr/>
        </p:nvSpPr>
        <p:spPr>
          <a:xfrm>
            <a:off x="7772400" y="4754880"/>
            <a:ext cx="914400" cy="27432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21 / 22</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822960"/>
          <a:ext cx="8046720" cy="3108960"/>
        </p:xfrm>
        <a:graphic>
          <a:graphicData uri="http://schemas.openxmlformats.org/drawingml/2006/table">
            <a:tbl>
              <a:tblPr/>
              <a:tblGrid>
                <a:gridCol w="3840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5603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Cosa</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Quando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Chi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E2D45"/>
                    </a:solidFill>
                  </a:tcPr>
                </a:tc>
                <a:extLst>
                  <a:ext uri="{0D108BD9-81ED-4DB2-BD59-A6C34878D82A}">
                    <a16:rowId xmlns:a16="http://schemas.microsoft.com/office/drawing/2014/main" val="10000"/>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NDA formale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1a sett. aprile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Giacomo → Alessio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1"/>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Consegna software + BP + Strategy Plan</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Post-firma NDA</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Giacomo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2"/>
                  </a:ext>
                </a:extLst>
              </a:tr>
              <a:tr h="274320">
                <a:tc>
                  <a:txBody>
                    <a:bodyPr/>
                    <a:lstStyle/>
                    <a:p>
                      <a:pPr marL="0" indent="0">
                        <a:buNone/>
                      </a:pPr>
                      <a:r>
                        <a:rPr lang="en-US" sz="1000" b="1" dirty="0">
                          <a:solidFill>
                            <a:srgbClr val="00B4D8"/>
                          </a:solidFill>
                          <a:latin typeface="Calibri" pitchFamily="34" charset="0"/>
                          <a:ea typeface="Calibri" pitchFamily="34" charset="-122"/>
                          <a:cs typeface="Calibri" pitchFamily="34" charset="-120"/>
                        </a:rPr>
                        <a:t>Test hands-on — una settimana con il prodotto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0B4D8"/>
                          </a:solidFill>
                          <a:latin typeface="Calibri" pitchFamily="34" charset="0"/>
                          <a:ea typeface="Calibri" pitchFamily="34" charset="-122"/>
                          <a:cs typeface="Calibri" pitchFamily="34" charset="-120"/>
                        </a:rPr>
                        <a:t>1a-2a sett. aprile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0B4D8"/>
                          </a:solidFill>
                          <a:latin typeface="Calibri" pitchFamily="34" charset="0"/>
                          <a:ea typeface="Calibri" pitchFamily="34" charset="-122"/>
                          <a:cs typeface="Calibri" pitchFamily="34" charset="-120"/>
                        </a:rPr>
                        <a:t>Alessio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3"/>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Call feedback (1h): analisi prodotto e idee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2a sett. aprile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Insieme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4"/>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Call: struttura partnership e termini economici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3a sett. aprile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Insieme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5"/>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Formalizzazione termini (Lettera di Intenti)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Entro aprile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Insieme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6"/>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Lista Fondatori (nomi)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Fine aprile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Alessio + Giacomo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7"/>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Demo live candidati Fondatori</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Fine aprile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Giacomo (Alessio presenta)</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08"/>
                  </a:ext>
                </a:extLst>
              </a:tr>
              <a:tr h="274320">
                <a:tc>
                  <a:txBody>
                    <a:bodyPr/>
                    <a:lstStyle/>
                    <a:p>
                      <a:pPr marL="0" indent="0">
                        <a:buNone/>
                      </a:pPr>
                      <a:r>
                        <a:rPr lang="en-US" sz="1000" b="1" dirty="0">
                          <a:solidFill>
                            <a:srgbClr val="00B4D8"/>
                          </a:solidFill>
                          <a:latin typeface="Calibri" pitchFamily="34" charset="0"/>
                          <a:ea typeface="Calibri" pitchFamily="34" charset="-122"/>
                          <a:cs typeface="Calibri" pitchFamily="34" charset="-120"/>
                        </a:rPr>
                        <a:t>Lancio Fase 1 — POC</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0B4D8"/>
                          </a:solidFill>
                          <a:latin typeface="Calibri" pitchFamily="34" charset="0"/>
                          <a:ea typeface="Calibri" pitchFamily="34" charset="-122"/>
                          <a:cs typeface="Calibri" pitchFamily="34" charset="-120"/>
                        </a:rPr>
                        <a:t>Maggio 2026</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b="1" dirty="0">
                          <a:solidFill>
                            <a:srgbClr val="00B4D8"/>
                          </a:solidFill>
                          <a:latin typeface="Calibri" pitchFamily="34" charset="0"/>
                          <a:ea typeface="Calibri" pitchFamily="34" charset="-122"/>
                          <a:cs typeface="Calibri" pitchFamily="34" charset="-120"/>
                        </a:rPr>
                        <a:t>Insieme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09"/>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Blocchi 1-2 pronti lingua target</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Luglio-Agosto 2026</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Giacomo</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A2540"/>
                    </a:solidFill>
                  </a:tcPr>
                </a:tc>
                <a:extLst>
                  <a:ext uri="{0D108BD9-81ED-4DB2-BD59-A6C34878D82A}">
                    <a16:rowId xmlns:a16="http://schemas.microsoft.com/office/drawing/2014/main" val="10010"/>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Go-to-market nazionale &amp; Primi contatti mercato internazionale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Settembre 2026</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Insieme</a:t>
                      </a:r>
                      <a:endParaRPr lang="en-US" sz="1000" dirty="0">
                        <a:latin typeface="Calibri" charset="0"/>
                        <a:ea typeface="Calibri" charset="0"/>
                        <a:cs typeface="Calibri" charset="0"/>
                      </a:endParaRPr>
                    </a:p>
                  </a:txBody>
                  <a:tcPr>
                    <a:lnL w="6350" cap="flat" cmpd="sng" algn="ctr">
                      <a:solidFill>
                        <a:srgbClr val="2D3E56"/>
                      </a:solidFill>
                      <a:prstDash val="solid"/>
                      <a:round/>
                      <a:headEnd type="none" w="med" len="med"/>
                      <a:tailEnd type="none" w="med" len="med"/>
                    </a:lnL>
                    <a:lnR w="6350" cap="flat" cmpd="sng" algn="ctr">
                      <a:solidFill>
                        <a:srgbClr val="2D3E56"/>
                      </a:solidFill>
                      <a:prstDash val="solid"/>
                      <a:round/>
                      <a:headEnd type="none" w="med" len="med"/>
                      <a:tailEnd type="none" w="med" len="med"/>
                    </a:lnR>
                    <a:lnT w="6350" cap="flat" cmpd="sng" algn="ctr">
                      <a:solidFill>
                        <a:srgbClr val="2D3E56"/>
                      </a:solidFill>
                      <a:prstDash val="solid"/>
                      <a:round/>
                      <a:headEnd type="none" w="med" len="med"/>
                      <a:tailEnd type="none" w="med" len="med"/>
                    </a:lnT>
                    <a:lnB w="6350" cap="flat" cmpd="sng" algn="ctr">
                      <a:solidFill>
                        <a:srgbClr val="2D3E56"/>
                      </a:solidFill>
                      <a:prstDash val="solid"/>
                      <a:round/>
                      <a:headEnd type="none" w="med" len="med"/>
                      <a:tailEnd type="none" w="med" len="med"/>
                    </a:lnB>
                    <a:solidFill>
                      <a:srgbClr val="162036"/>
                    </a:solidFill>
                  </a:tcPr>
                </a:tc>
                <a:extLst>
                  <a:ext uri="{0D108BD9-81ED-4DB2-BD59-A6C34878D82A}">
                    <a16:rowId xmlns:a16="http://schemas.microsoft.com/office/drawing/2014/main" val="10011"/>
                  </a:ext>
                </a:extLst>
              </a:tr>
            </a:tbl>
          </a:graphicData>
        </a:graphic>
      </p:graphicFrame>
      <p:sp>
        <p:nvSpPr>
          <p:cNvPr id="6" name="Shape 3"/>
          <p:cNvSpPr/>
          <p:nvPr/>
        </p:nvSpPr>
        <p:spPr>
          <a:xfrm>
            <a:off x="548640" y="4041648"/>
            <a:ext cx="8046720" cy="27432"/>
          </a:xfrm>
          <a:prstGeom prst="rect">
            <a:avLst/>
          </a:prstGeom>
          <a:solidFill>
            <a:srgbClr val="2D3E56"/>
          </a:solidFill>
          <a:ln/>
        </p:spPr>
        <p:txBody>
          <a:bodyPr/>
          <a:lstStyle/>
          <a:p>
            <a:endParaRPr lang="it-IT"/>
          </a:p>
        </p:txBody>
      </p:sp>
      <p:sp>
        <p:nvSpPr>
          <p:cNvPr id="7" name="Text 4"/>
          <p:cNvSpPr/>
          <p:nvPr/>
        </p:nvSpPr>
        <p:spPr>
          <a:xfrm>
            <a:off x="548640" y="4105656"/>
            <a:ext cx="8046720" cy="658368"/>
          </a:xfrm>
          <a:prstGeom prst="rect">
            <a:avLst/>
          </a:prstGeom>
          <a:noFill/>
          <a:ln/>
        </p:spPr>
        <p:txBody>
          <a:bodyPr wrap="square" lIns="0" tIns="0" rIns="0" bIns="0" rtlCol="0" anchor="t"/>
          <a:lstStyle/>
          <a:p>
            <a:pPr marL="0" indent="0">
              <a:buNone/>
            </a:pPr>
            <a:r>
              <a:rPr lang="en-US" sz="950" b="1" dirty="0">
                <a:solidFill>
                  <a:srgbClr val="00B4D8"/>
                </a:solidFill>
                <a:latin typeface="Trebuchet MS" pitchFamily="34" charset="0"/>
                <a:ea typeface="Trebuchet MS" pitchFamily="34" charset="-122"/>
                <a:cs typeface="Trebuchet MS" pitchFamily="34" charset="-120"/>
              </a:rPr>
              <a:t>Nota sulla timeline</a:t>
            </a:r>
            <a:endParaRPr lang="en-US" sz="950" dirty="0"/>
          </a:p>
          <a:p>
            <a:pPr marL="0" indent="0">
              <a:buNone/>
            </a:pPr>
            <a:r>
              <a:rPr lang="en-US" sz="900" dirty="0">
                <a:solidFill>
                  <a:srgbClr val="A0AEC0"/>
                </a:solidFill>
                <a:latin typeface="Calibri" pitchFamily="34" charset="0"/>
                <a:ea typeface="Calibri" pitchFamily="34" charset="-122"/>
                <a:cs typeface="Calibri" pitchFamily="34" charset="-120"/>
              </a:rPr>
              <a:t>Le date sopra sono la scaletta di massima — non scadenze rigide. La sequenza è intenzionale: prima metti le mani sul prodotto, poi parliamo di numeri.</a:t>
            </a:r>
            <a:endParaRPr lang="en-US" sz="950" dirty="0"/>
          </a:p>
          <a:p>
            <a:pPr marL="0" indent="0">
              <a:buNone/>
            </a:pPr>
            <a:endParaRPr lang="en-US" sz="950" dirty="0"/>
          </a:p>
          <a:p>
            <a:pPr marL="0" indent="0">
              <a:buNone/>
            </a:pPr>
            <a:r>
              <a:rPr lang="en-US" sz="900" i="1" dirty="0">
                <a:solidFill>
                  <a:srgbClr val="718096"/>
                </a:solidFill>
                <a:latin typeface="Calibri" pitchFamily="34" charset="0"/>
                <a:ea typeface="Calibri" pitchFamily="34" charset="-122"/>
                <a:cs typeface="Calibri" pitchFamily="34" charset="-120"/>
              </a:rPr>
              <a:t>Una considerazione sulla finestra temporale: se la stagionalità del settore è quella che immagino — meno afflusso clienti in estate, ripartenza a settembre — allora la POC in questo periodo potrebbe essere un vantaggio. Il professionista avrebbe il tempo di imparare il sistema senza la pressione dell’agenda piena, per arrivare operativo alla ripresa. Ma tu conosci il mercato meglio di me — è una delle cose di cui parlare nella prima call.</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629"/>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109728"/>
          </a:xfrm>
          <a:prstGeom prst="rect">
            <a:avLst/>
          </a:prstGeom>
          <a:solidFill>
            <a:srgbClr val="00B4D8"/>
          </a:solidFill>
          <a:ln/>
        </p:spPr>
        <p:txBody>
          <a:bodyPr/>
          <a:lstStyle/>
          <a:p>
            <a:endParaRPr lang="it-IT"/>
          </a:p>
        </p:txBody>
      </p:sp>
      <p:sp>
        <p:nvSpPr>
          <p:cNvPr id="3" name="Shape 1"/>
          <p:cNvSpPr/>
          <p:nvPr/>
        </p:nvSpPr>
        <p:spPr>
          <a:xfrm>
            <a:off x="9034272" y="0"/>
            <a:ext cx="109728" cy="2286000"/>
          </a:xfrm>
          <a:prstGeom prst="rect">
            <a:avLst/>
          </a:prstGeom>
          <a:solidFill>
            <a:srgbClr val="00B4D8"/>
          </a:solidFill>
          <a:ln/>
        </p:spPr>
        <p:txBody>
          <a:bodyPr/>
          <a:lstStyle/>
          <a:p>
            <a:endParaRPr lang="it-IT"/>
          </a:p>
        </p:txBody>
      </p:sp>
      <p:sp>
        <p:nvSpPr>
          <p:cNvPr id="4" name="Shape 2"/>
          <p:cNvSpPr/>
          <p:nvPr/>
        </p:nvSpPr>
        <p:spPr>
          <a:xfrm>
            <a:off x="0" y="5029200"/>
            <a:ext cx="2286000" cy="109728"/>
          </a:xfrm>
          <a:prstGeom prst="rect">
            <a:avLst/>
          </a:prstGeom>
          <a:solidFill>
            <a:srgbClr val="00B4D8"/>
          </a:solidFill>
          <a:ln/>
        </p:spPr>
        <p:txBody>
          <a:bodyPr/>
          <a:lstStyle/>
          <a:p>
            <a:endParaRPr lang="it-IT"/>
          </a:p>
        </p:txBody>
      </p:sp>
      <p:sp>
        <p:nvSpPr>
          <p:cNvPr id="5" name="Shape 3"/>
          <p:cNvSpPr/>
          <p:nvPr/>
        </p:nvSpPr>
        <p:spPr>
          <a:xfrm>
            <a:off x="0" y="2852928"/>
            <a:ext cx="109728" cy="2286000"/>
          </a:xfrm>
          <a:prstGeom prst="rect">
            <a:avLst/>
          </a:prstGeom>
          <a:solidFill>
            <a:srgbClr val="00B4D8"/>
          </a:solidFill>
          <a:ln/>
        </p:spPr>
        <p:txBody>
          <a:bodyPr/>
          <a:lstStyle/>
          <a:p>
            <a:endParaRPr lang="it-IT"/>
          </a:p>
        </p:txBody>
      </p:sp>
      <p:sp>
        <p:nvSpPr>
          <p:cNvPr id="6" name="Text 4"/>
          <p:cNvSpPr/>
          <p:nvPr/>
        </p:nvSpPr>
        <p:spPr>
          <a:xfrm>
            <a:off x="731520" y="502920"/>
            <a:ext cx="7680960" cy="13716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Il prodotto c'è.</a:t>
            </a:r>
            <a:endParaRPr lang="en-US" sz="2800" dirty="0"/>
          </a:p>
          <a:p>
            <a:pPr marL="0" indent="0">
              <a:buNone/>
            </a:pPr>
            <a:r>
              <a:rPr lang="en-US" sz="2800" b="1" dirty="0">
                <a:solidFill>
                  <a:srgbClr val="00B4D8"/>
                </a:solidFill>
                <a:latin typeface="Trebuchet MS" pitchFamily="34" charset="0"/>
                <a:ea typeface="Trebuchet MS" pitchFamily="34" charset="-122"/>
                <a:cs typeface="Trebuchet MS" pitchFamily="34" charset="-120"/>
              </a:rPr>
              <a:t>La strategia c'è.</a:t>
            </a:r>
            <a:endParaRPr lang="en-US" sz="2800" dirty="0"/>
          </a:p>
          <a:p>
            <a:pPr marL="0" indent="0">
              <a:buNone/>
            </a:pPr>
            <a:r>
              <a:rPr lang="en-US" sz="2800" b="1" dirty="0">
                <a:solidFill>
                  <a:srgbClr val="FFD166"/>
                </a:solidFill>
                <a:latin typeface="Trebuchet MS" pitchFamily="34" charset="0"/>
                <a:ea typeface="Trebuchet MS" pitchFamily="34" charset="-122"/>
                <a:cs typeface="Trebuchet MS" pitchFamily="34" charset="-120"/>
              </a:rPr>
              <a:t>I termini sono sul tavolo.</a:t>
            </a:r>
            <a:endParaRPr lang="en-US" sz="2800" dirty="0"/>
          </a:p>
        </p:txBody>
      </p:sp>
      <p:sp>
        <p:nvSpPr>
          <p:cNvPr id="7" name="Shape 5"/>
          <p:cNvSpPr/>
          <p:nvPr/>
        </p:nvSpPr>
        <p:spPr>
          <a:xfrm>
            <a:off x="731520" y="1965960"/>
            <a:ext cx="2743200" cy="27432"/>
          </a:xfrm>
          <a:prstGeom prst="rect">
            <a:avLst/>
          </a:prstGeom>
          <a:solidFill>
            <a:srgbClr val="00B4D8"/>
          </a:solidFill>
          <a:ln/>
        </p:spPr>
        <p:txBody>
          <a:bodyPr/>
          <a:lstStyle/>
          <a:p>
            <a:endParaRPr lang="it-IT"/>
          </a:p>
        </p:txBody>
      </p:sp>
      <p:sp>
        <p:nvSpPr>
          <p:cNvPr id="8" name="Text 6"/>
          <p:cNvSpPr/>
          <p:nvPr/>
        </p:nvSpPr>
        <p:spPr>
          <a:xfrm>
            <a:off x="731520" y="2103120"/>
            <a:ext cx="7680960" cy="365760"/>
          </a:xfrm>
          <a:prstGeom prst="rect">
            <a:avLst/>
          </a:prstGeom>
          <a:noFill/>
          <a:ln/>
        </p:spPr>
        <p:txBody>
          <a:bodyPr wrap="square" lIns="0" tIns="0" rIns="0" bIns="0" rtlCol="0" anchor="ctr"/>
          <a:lstStyle/>
          <a:p>
            <a:pPr marL="0" indent="0">
              <a:buNone/>
            </a:pPr>
            <a:r>
              <a:rPr lang="en-US" sz="1400" dirty="0">
                <a:solidFill>
                  <a:srgbClr val="A0AEC0"/>
                </a:solidFill>
                <a:latin typeface="Calibri" pitchFamily="34" charset="0"/>
                <a:ea typeface="Calibri" pitchFamily="34" charset="-122"/>
                <a:cs typeface="Calibri" pitchFamily="34" charset="-120"/>
              </a:rPr>
              <a:t>La struttura è a fasi — iniziamo dalla POC, vediamo come lavoriamo insieme, e costruiamo da lì.</a:t>
            </a:r>
            <a:endParaRPr lang="en-US" sz="1400" dirty="0"/>
          </a:p>
        </p:txBody>
      </p:sp>
      <p:sp>
        <p:nvSpPr>
          <p:cNvPr id="9" name="Text 7"/>
          <p:cNvSpPr/>
          <p:nvPr/>
        </p:nvSpPr>
        <p:spPr>
          <a:xfrm>
            <a:off x="731520" y="2560320"/>
            <a:ext cx="7680960" cy="685800"/>
          </a:xfrm>
          <a:prstGeom prst="rect">
            <a:avLst/>
          </a:prstGeom>
          <a:noFill/>
          <a:ln/>
        </p:spPr>
        <p:txBody>
          <a:bodyPr wrap="square" lIns="0" tIns="0" rIns="0" bIns="0" rtlCol="0" anchor="ctr"/>
          <a:lstStyle/>
          <a:p>
            <a:pPr marL="0" indent="0">
              <a:buNone/>
            </a:pPr>
            <a:r>
              <a:rPr lang="en-US" sz="1200" i="1" dirty="0">
                <a:solidFill>
                  <a:srgbClr val="718096"/>
                </a:solidFill>
                <a:latin typeface="Calibri" pitchFamily="34" charset="0"/>
                <a:ea typeface="Calibri" pitchFamily="34" charset="-122"/>
                <a:cs typeface="Calibri" pitchFamily="34" charset="-120"/>
              </a:rPr>
              <a:t>Questo progetto non è nato per caso. È nato da un sogno che avevamo con mio padre — pioniere dell’intelligenza artificiale in Italia — e da 15+ anni passati a gestire sistemi complessi, dai cantieri navali alle operazioni offshore. FitManager porta avanti quella visione: la tecnologia al servizio del lavoro reale delle persone.</a:t>
            </a:r>
            <a:endParaRPr lang="en-US" sz="1200" dirty="0"/>
          </a:p>
        </p:txBody>
      </p:sp>
      <p:sp>
        <p:nvSpPr>
          <p:cNvPr id="10" name="Text 8"/>
          <p:cNvSpPr/>
          <p:nvPr/>
        </p:nvSpPr>
        <p:spPr>
          <a:xfrm>
            <a:off x="731520" y="3337560"/>
            <a:ext cx="7680960" cy="594360"/>
          </a:xfrm>
          <a:prstGeom prst="rect">
            <a:avLst/>
          </a:prstGeom>
          <a:noFill/>
          <a:ln/>
        </p:spPr>
        <p:txBody>
          <a:bodyPr wrap="square" lIns="0" tIns="0" rIns="0" bIns="0" rtlCol="0" anchor="ctr"/>
          <a:lstStyle/>
          <a:p>
            <a:pPr marL="0" indent="0">
              <a:buNone/>
            </a:pPr>
            <a:r>
              <a:rPr lang="en-US" sz="1200" dirty="0">
                <a:solidFill>
                  <a:srgbClr val="A0AEC0"/>
                </a:solidFill>
                <a:latin typeface="Calibri" pitchFamily="34" charset="0"/>
                <a:ea typeface="Calibri" pitchFamily="34" charset="-122"/>
                <a:cs typeface="Calibri" pitchFamily="34" charset="-120"/>
              </a:rPr>
              <a:t>Domani parto per Marsiglia per un paio di settimane. Ma la testa è qui — su questo progetto, su questa partnership, su quello che possiamo costruire insieme.</a:t>
            </a:r>
            <a:endParaRPr lang="en-US" sz="1200" dirty="0"/>
          </a:p>
        </p:txBody>
      </p:sp>
      <p:sp>
        <p:nvSpPr>
          <p:cNvPr id="11" name="Shape 9"/>
          <p:cNvSpPr/>
          <p:nvPr/>
        </p:nvSpPr>
        <p:spPr>
          <a:xfrm>
            <a:off x="731520" y="4023360"/>
            <a:ext cx="2926080" cy="365760"/>
          </a:xfrm>
          <a:prstGeom prst="rect">
            <a:avLst/>
          </a:prstGeom>
          <a:solidFill>
            <a:srgbClr val="00B4D8"/>
          </a:solidFill>
          <a:ln/>
          <a:effectLst>
            <a:outerShdw blurRad="101600" dist="38100" dir="8100000" algn="bl" rotWithShape="0">
              <a:srgbClr val="000000">
                <a:alpha val="25000"/>
              </a:srgbClr>
            </a:outerShdw>
          </a:effectLst>
        </p:spPr>
        <p:txBody>
          <a:bodyPr/>
          <a:lstStyle/>
          <a:p>
            <a:endParaRPr lang="it-IT"/>
          </a:p>
        </p:txBody>
      </p:sp>
      <p:sp>
        <p:nvSpPr>
          <p:cNvPr id="12" name="Text 10"/>
          <p:cNvSpPr/>
          <p:nvPr/>
        </p:nvSpPr>
        <p:spPr>
          <a:xfrm>
            <a:off x="731520" y="4023360"/>
            <a:ext cx="2926080" cy="365760"/>
          </a:xfrm>
          <a:prstGeom prst="rect">
            <a:avLst/>
          </a:prstGeom>
          <a:noFill/>
          <a:ln/>
        </p:spPr>
        <p:txBody>
          <a:bodyPr wrap="square" lIns="0" tIns="0" rIns="0" bIns="0" rtlCol="0" anchor="ctr"/>
          <a:lstStyle/>
          <a:p>
            <a:pPr marL="0" indent="0" algn="ctr">
              <a:buNone/>
            </a:pPr>
            <a:r>
              <a:rPr lang="en-US" sz="1600" b="1" dirty="0">
                <a:solidFill>
                  <a:srgbClr val="0F1629"/>
                </a:solidFill>
                <a:latin typeface="Trebuchet MS" pitchFamily="34" charset="0"/>
                <a:ea typeface="Trebuchet MS" pitchFamily="34" charset="-122"/>
                <a:cs typeface="Trebuchet MS" pitchFamily="34" charset="-120"/>
              </a:rPr>
              <a:t>Che ne dici?</a:t>
            </a:r>
            <a:endParaRPr lang="en-US" sz="1600" dirty="0"/>
          </a:p>
        </p:txBody>
      </p:sp>
      <p:sp>
        <p:nvSpPr>
          <p:cNvPr id="13" name="Text 11"/>
          <p:cNvSpPr/>
          <p:nvPr/>
        </p:nvSpPr>
        <p:spPr>
          <a:xfrm>
            <a:off x="731520" y="4434840"/>
            <a:ext cx="4572000" cy="22860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Giacomo</a:t>
            </a:r>
            <a:endParaRPr lang="en-US" sz="1100" dirty="0"/>
          </a:p>
        </p:txBody>
      </p:sp>
      <p:sp>
        <p:nvSpPr>
          <p:cNvPr id="14" name="Text 12"/>
          <p:cNvSpPr/>
          <p:nvPr/>
        </p:nvSpPr>
        <p:spPr>
          <a:xfrm>
            <a:off x="5029200" y="4434840"/>
            <a:ext cx="3657600" cy="228600"/>
          </a:xfrm>
          <a:prstGeom prst="rect">
            <a:avLst/>
          </a:prstGeom>
          <a:noFill/>
          <a:ln/>
        </p:spPr>
        <p:txBody>
          <a:bodyPr wrap="square" lIns="0" tIns="0" rIns="0" bIns="0" rtlCol="0" anchor="ctr"/>
          <a:lstStyle/>
          <a:p>
            <a:pPr marL="0" indent="0" algn="r">
              <a:buNone/>
            </a:pPr>
            <a:r>
              <a:rPr lang="en-US" sz="1100" dirty="0">
                <a:solidFill>
                  <a:srgbClr val="718096"/>
                </a:solidFill>
                <a:latin typeface="Calibri" pitchFamily="34" charset="0"/>
                <a:ea typeface="Calibri" pitchFamily="34" charset="-122"/>
                <a:cs typeface="Calibri" pitchFamily="34" charset="-120"/>
              </a:rPr>
              <a:t>Documento Operativo Partner — 30 Marzo 2026</a:t>
            </a:r>
            <a:endParaRPr lang="en-US" sz="1100" dirty="0"/>
          </a:p>
        </p:txBody>
      </p:sp>
      <p:sp>
        <p:nvSpPr>
          <p:cNvPr id="15" name="Text 13"/>
          <p:cNvSpPr/>
          <p:nvPr/>
        </p:nvSpPr>
        <p:spPr>
          <a:xfrm>
            <a:off x="7772400" y="4663440"/>
            <a:ext cx="914400" cy="228600"/>
          </a:xfrm>
          <a:prstGeom prst="rect">
            <a:avLst/>
          </a:prstGeom>
          <a:noFill/>
          <a:ln/>
        </p:spPr>
        <p:txBody>
          <a:bodyPr wrap="square"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22 / 22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3298</Words>
  <Application>Microsoft Office PowerPoint</Application>
  <PresentationFormat>Presentazione su schermo (16:9)</PresentationFormat>
  <Paragraphs>548</Paragraphs>
  <Slides>22</Slides>
  <Notes>22</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22</vt:i4>
      </vt:variant>
    </vt:vector>
  </HeadingPairs>
  <TitlesOfParts>
    <vt:vector size="26" baseType="lpstr">
      <vt:lpstr>Arial</vt:lpstr>
      <vt:lpstr>Calibri</vt:lpstr>
      <vt:lpstr>Trebuchet MS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FitManager Studio+ - Documento Operativo Partner</dc:title>
  <dc:subject>PptxGenJS Presentation</dc:subject>
  <dc:creator>Giacomo Verardo</dc:creator>
  <cp:lastModifiedBy>Giacomo Verardo</cp:lastModifiedBy>
  <cp:revision>10</cp:revision>
  <dcterms:created xsi:type="dcterms:W3CDTF">2026-03-30T14:43:06Z</dcterms:created>
  <dcterms:modified xsi:type="dcterms:W3CDTF">2026-03-30T15:39:41Z</dcterms:modified>
</cp:coreProperties>
</file>