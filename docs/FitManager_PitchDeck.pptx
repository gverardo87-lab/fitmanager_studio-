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Licenze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34410</c:v>
                </c:pt>
                <c:pt idx="1">
                  <c:v>80820</c:v>
                </c:pt>
                <c:pt idx="2">
                  <c:v>134700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Upgrade + IC + MC</c:v>
                </c:pt>
              </c:strCache>
            </c:strRef>
          </c:tx>
          <c:spPr>
            <a:solidFill>
              <a:srgbClr val="14B8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9530</c:v>
                </c:pt>
                <c:pt idx="2">
                  <c:v>34270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Setup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1500</c:v>
                </c:pt>
                <c:pt idx="1">
                  <c:v>5000</c:v>
                </c:pt>
                <c:pt idx="2">
                  <c:v>10000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3152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3716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FitManager Studio+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640080" y="2148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CRM scientifico per il Personal Trainer Evoluto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40080" y="2834640"/>
            <a:ext cx="1097280" cy="3200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3108960"/>
            <a:ext cx="2103120" cy="3657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Licenza perpetua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17520" y="3108960"/>
            <a:ext cx="2103120" cy="3657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0" name="Text 7"/>
          <p:cNvSpPr/>
          <p:nvPr/>
        </p:nvSpPr>
        <p:spPr>
          <a:xfrm>
            <a:off x="3017520" y="3108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394960" y="3108960"/>
            <a:ext cx="2103120" cy="3657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2" name="Text 9"/>
          <p:cNvSpPr/>
          <p:nvPr/>
        </p:nvSpPr>
        <p:spPr>
          <a:xfrm>
            <a:off x="5394960" y="3108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in Italy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44805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Giacomo Verardo  |  Marzo 2026  |  Confidenziale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 60 secondi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7863840" cy="68580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005840"/>
            <a:ext cx="45720" cy="68580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61288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0515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problema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371600" y="1298448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120K professionisti fitness P.IVA in Italia gestiscono tutto con Excel e WhatsApp. Perdono 3-5h/settimana in admin, rischiano errori clinici, non possono scalare.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1810512"/>
            <a:ext cx="7863840" cy="68580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810512"/>
            <a:ext cx="45720" cy="68580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6596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71600" y="18562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soluzione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371600" y="2103120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locale con scienza integrata: 500 esercizi, Safety Engine (47 condizioni), nutrizione CREA (880 alimenti). Prodotto completo: 45K LOC, 395 test, installer pronto.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40080" y="2615184"/>
            <a:ext cx="7863840" cy="68580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40080" y="2615184"/>
            <a:ext cx="45720" cy="68580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770632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266090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mercato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1371600" y="290779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15.000 PT tech-ready (SAM €7,2M). Quadrante competitivo vuoto: nessun software combina locale + scienza. Category creation: il 'PT Evoluto'.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40080" y="3419856"/>
            <a:ext cx="7863840" cy="68580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0080" y="3419856"/>
            <a:ext cx="45720" cy="68580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575304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" y="34655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modello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1371600" y="3712464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Licenza perpetua €449 + upgrade €99/anno. Bootstrap: €330/mese costi fissi, break-even al mese 4, utile netto €22K Anno 1.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640080" y="4224528"/>
            <a:ext cx="7863840" cy="68580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40080" y="4224528"/>
            <a:ext cx="45720" cy="68580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379976"/>
            <a:ext cx="320040" cy="32004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371600" y="427024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Prossimo step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1371600" y="4517136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90 giorni con 10 Fondatori selezionati. Cerchiamo un Industry Partner con 15+ anni nel settore e il network per partire.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problema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914400"/>
            <a:ext cx="786384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914400"/>
            <a:ext cx="45720" cy="10058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987552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Marco, personal trainer a Milano, 32 clienti. 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Gestisce le anamnesi su fogli Word, le schede su PDF, i pagamenti su un Excel. Ogni lunedi' perde 2 ore a ricostruire chi ha pagato e chi no. Un mese fa ha dimenticato che un cliente aveva un'ernia L4-L5 e gli ha assegnato stacchi da terra. Il cliente non e' tornato.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148840"/>
            <a:ext cx="384048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2148840"/>
            <a:ext cx="45720" cy="73152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13432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80160" y="222199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 ore/settimana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49631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 in admin manuale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40080" y="3017520"/>
            <a:ext cx="384048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0080" y="3017520"/>
            <a:ext cx="45720" cy="73152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182112"/>
            <a:ext cx="320040" cy="3200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280160" y="30906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visione unificata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1280160" y="33649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anamnesi + schede + pagamenti frammentati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40080" y="3886200"/>
            <a:ext cx="384048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40080" y="3886200"/>
            <a:ext cx="45720" cy="73152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050792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280160" y="39593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Rischio errori clinici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1280160" y="42336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condizioni patologiche dimenticate, nessun alert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4800600" y="2148840"/>
            <a:ext cx="384048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800600" y="2148840"/>
            <a:ext cx="45720" cy="73152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2313432"/>
            <a:ext cx="320040" cy="32004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440680" y="222199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puo' scalare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5440680" y="249631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oltre 25-30 clienti perde il controllo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4800600" y="3017520"/>
            <a:ext cx="384048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4800600" y="3017520"/>
            <a:ext cx="45720" cy="73152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3182112"/>
            <a:ext cx="320040" cy="32004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5440680" y="30906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Contabilita' dispersa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5440680" y="33649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dimenticate, nessun report finanziario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4800600" y="3886200"/>
            <a:ext cx="384048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3" name="Shape 26"/>
          <p:cNvSpPr/>
          <p:nvPr/>
        </p:nvSpPr>
        <p:spPr>
          <a:xfrm>
            <a:off x="4800600" y="3886200"/>
            <a:ext cx="45720" cy="73152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4050792"/>
            <a:ext cx="320040" cy="32004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5440680" y="39593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puo' differenziarsi</a:t>
            </a:r>
            <a:endParaRPr lang="en-US" sz="1200" dirty="0"/>
          </a:p>
        </p:txBody>
      </p:sp>
      <p:sp>
        <p:nvSpPr>
          <p:cNvPr id="36" name="Text 28"/>
          <p:cNvSpPr/>
          <p:nvPr/>
        </p:nvSpPr>
        <p:spPr>
          <a:xfrm>
            <a:off x="5440680" y="42336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senza dati e scienza, tutti offrono la stessa cosa</a:t>
            </a:r>
            <a:endParaRPr lang="en-US" sz="1000" dirty="0"/>
          </a:p>
        </p:txBody>
      </p:sp>
      <p:sp>
        <p:nvSpPr>
          <p:cNvPr id="37" name="Text 29"/>
          <p:cNvSpPr/>
          <p:nvPr/>
        </p:nvSpPr>
        <p:spPr>
          <a:xfrm>
            <a:off x="640080" y="475488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competitor vero non e' un software. E' l'abitudine. Questo e' un mercato da educare, non da conquistare.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soluzione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unico strumento locale che unisce CRM operativo, scienza dell'allenamento e privacy dei dati clinici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100584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88720"/>
            <a:ext cx="45720" cy="100584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25880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1280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Completo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Clienti, contratti, pagamenti, agenda, cassa — tutto collegato in un unico profilo cliente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754880" y="1188720"/>
            <a:ext cx="4023360" cy="100584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54880" y="1188720"/>
            <a:ext cx="45720" cy="100584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3258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40680" y="1280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Engine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937760" y="16916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condizioni cliniche con 80 regole automatiche — il software protegge il trainer da errori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57200" y="2377440"/>
            <a:ext cx="4023360" cy="100584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57200" y="2377440"/>
            <a:ext cx="45720" cy="100584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51460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43000" y="2468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Science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640080" y="2880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Periodizzazione evidence-based, volume MEV/MAV/MRV, scoring 14D — scienza, non intuizione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4754880" y="2377440"/>
            <a:ext cx="4023360" cy="100584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754880" y="2377440"/>
            <a:ext cx="45720" cy="100584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514600"/>
            <a:ext cx="347472" cy="34747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440680" y="2468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4937760" y="2880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sul PC del trainer. Zero cloud obbligatorio. Backup = copiare un file. GDPR by design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457200" y="3566160"/>
            <a:ext cx="4023360" cy="100584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457200" y="3566160"/>
            <a:ext cx="45720" cy="100584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703320"/>
            <a:ext cx="347472" cy="34747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143000" y="3657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Nutrizione CREA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640080" y="4069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880 alimenti dal database ufficiale italiano, piani LARN 7 giorni, scoring 3 assi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4754880" y="3566160"/>
            <a:ext cx="4023360" cy="100584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4754880" y="3566160"/>
            <a:ext cx="45720" cy="100584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703320"/>
            <a:ext cx="347472" cy="34747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5440680" y="3657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Esercizi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4937760" y="4069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Catalogo con tassonomia muscolare/articolare, 940 relazioni (progressioni, regressioni, varianti)</a:t>
            </a:r>
            <a:endParaRPr lang="en-US" sz="1000" dirty="0"/>
          </a:p>
        </p:txBody>
      </p:sp>
      <p:sp>
        <p:nvSpPr>
          <p:cNvPr id="35" name="Text 27"/>
          <p:cNvSpPr/>
          <p:nvPr/>
        </p:nvSpPr>
        <p:spPr>
          <a:xfrm>
            <a:off x="640080" y="4709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Prodotto funzionante v1.0.4  |  45.000 LOC  |  395 test  |  Installer Windows 83 MB  |  Pronto per la POC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Perche' adesso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trend convergenti creano una finestra di mercato unica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7863840" cy="77724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34440"/>
            <a:ext cx="45720" cy="77724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417320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130759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Professionalizzazione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417320" y="160020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CONI attivo dal 1 luglio 2023. Nuovo ATECO 85.51.09 per PT. La regolamentazione spinge i professionisti verso strumenti strutturati.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2148840"/>
            <a:ext cx="7863840" cy="77724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0080" y="2148840"/>
            <a:ext cx="45720" cy="77724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33172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17320" y="222199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+35% domanda PT qualificati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1417320" y="251460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in 2 anni (ISTAT 2023). 75% dei PT europei lavora come P.IVA. Mercato fitness Italia €3,1 miliardi, +10% YoY.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40080" y="3063240"/>
            <a:ext cx="7863840" cy="77724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40080" y="3063240"/>
            <a:ext cx="45720" cy="77724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4612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17320" y="313639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GDPR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417320" y="342900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PT gestiscono dati sanitari (anamnesi, patologie). Il cloud generico non offre garanzie adeguate. Locale = conforme by design.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640080" y="3977640"/>
            <a:ext cx="7863840" cy="77724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40080" y="3977640"/>
            <a:ext cx="45720" cy="77724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160520"/>
            <a:ext cx="347472" cy="34747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417320" y="405079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come moltiplicatore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1417320" y="434340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trend 2026 e' AI + personalizzazione. FitManager ha l'architettura pronta (Langchain + Ollama). LLM locale, zero cloud.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mercato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120.000 operatori a 15.000 target reali: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~120K professionisti fitness P.IVA Italia → filtro: certificati CONI, &lt;45 anni, aree urbane, tech-ready → ~15.000 = il nostro SAM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265176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4630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15.000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tech-ready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(SAM)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37560" y="1417320"/>
            <a:ext cx="265176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37560" y="14630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€7,2M/anno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337560" y="2011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raggiungibile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417320"/>
            <a:ext cx="265176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0" y="14630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2-4%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217920" y="2011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cattura Anno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(300 clienti)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834640"/>
          <a:ext cx="7863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822960"/>
                <a:gridCol w="822960"/>
                <a:gridCol w="822960"/>
                <a:gridCol w="13716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Scienza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Nutr.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Prezzo/anno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FitManager Studio+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Perpetuo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€449+€99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Mangofit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€120-480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EvolutionFit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€360-960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Distinction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$240-960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 / WhatsApp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640080" y="470916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occupa un quadrante competitivo vuoto: locale + scienza integrata. Nessun competitor lo copre.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Category Creation: il PT Evoluto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vendiamo un gestionale. Creiamo una nuova categoria professionale.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TRADIZIONALE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846320" y="11887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EVOLUTO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1554480"/>
            <a:ext cx="3657600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EF44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554480"/>
            <a:ext cx="45720" cy="43891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9" name="Shape 7"/>
          <p:cNvSpPr/>
          <p:nvPr/>
        </p:nvSpPr>
        <p:spPr>
          <a:xfrm>
            <a:off x="4846320" y="1554480"/>
            <a:ext cx="3657600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1554480"/>
            <a:ext cx="45720" cy="43891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16459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Gestisce su WhatsApp + Excel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74920" y="16459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Traccia tutto in un unico sistema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" y="2084832"/>
            <a:ext cx="3657600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EF444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084832"/>
            <a:ext cx="45720" cy="43891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Shape 13"/>
          <p:cNvSpPr/>
          <p:nvPr/>
        </p:nvSpPr>
        <p:spPr>
          <a:xfrm>
            <a:off x="4846320" y="2084832"/>
            <a:ext cx="3657600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46320" y="2084832"/>
            <a:ext cx="45720" cy="43891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21762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Schede '3x10 per tutti'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74920" y="21762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Periodizzazione evidence-based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2615184"/>
            <a:ext cx="3657600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EF444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2615184"/>
            <a:ext cx="45720" cy="43891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1" name="Shape 19"/>
          <p:cNvSpPr/>
          <p:nvPr/>
        </p:nvSpPr>
        <p:spPr>
          <a:xfrm>
            <a:off x="4846320" y="2615184"/>
            <a:ext cx="3657600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46320" y="2615184"/>
            <a:ext cx="45720" cy="43891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27066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dato clinico strutturato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74920" y="27066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Engine: 47 condizioni + alert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0080" y="3145536"/>
            <a:ext cx="3657600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EF444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3145536"/>
            <a:ext cx="45720" cy="43891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7" name="Shape 25"/>
          <p:cNvSpPr/>
          <p:nvPr/>
        </p:nvSpPr>
        <p:spPr>
          <a:xfrm>
            <a:off x="4846320" y="3145536"/>
            <a:ext cx="3657600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46320" y="3145536"/>
            <a:ext cx="45720" cy="43891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323697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25-30 clienti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074920" y="323697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 a 40-60 senza perdere qualita'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3675888"/>
            <a:ext cx="3657600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EF444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3675888"/>
            <a:ext cx="45720" cy="43891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3" name="Shape 31"/>
          <p:cNvSpPr/>
          <p:nvPr/>
        </p:nvSpPr>
        <p:spPr>
          <a:xfrm>
            <a:off x="4846320" y="3675888"/>
            <a:ext cx="3657600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46320" y="3675888"/>
            <a:ext cx="45720" cy="43891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5" name="Text 33"/>
          <p:cNvSpPr/>
          <p:nvPr/>
        </p:nvSpPr>
        <p:spPr>
          <a:xfrm>
            <a:off x="868680" y="37673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puo' dimostrare risultati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74920" y="37673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Report, grafici, progressione misurabile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40080" y="4297680"/>
            <a:ext cx="7863840" cy="685800"/>
          </a:xfrm>
          <a:prstGeom prst="rect">
            <a:avLst/>
          </a:prstGeom>
          <a:solidFill>
            <a:srgbClr val="1E293B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4297680"/>
            <a:ext cx="45720" cy="685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9" name="Text 37"/>
          <p:cNvSpPr/>
          <p:nvPr/>
        </p:nvSpPr>
        <p:spPr>
          <a:xfrm>
            <a:off x="868680" y="4370832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mercato va educato. 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PT non sanno di aver bisogno di questo — servono 6-12 mesi di category creation. Ma chi educa il mercato, lo possiede. Le aziende che creano una categoria crescono 2,1x piu' velocemente (benchmark B2B).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un Industry Partner con credibilita' nel settore — un PT si fida di un pari, non di un software.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Modello di business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Licenza perpetua + upgrade annuale opzionale. Il tuo software, per sempre.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65176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26517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8016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FONDATORI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€149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57200" y="205740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licenze  |  Mese 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22960" y="2331720"/>
            <a:ext cx="19202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2316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LIFETIME incluso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'Fondatore'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 diretto roadmap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esclusiva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37560" y="1097280"/>
            <a:ext cx="265176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37560" y="1097280"/>
            <a:ext cx="265176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3337560" y="128016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ADOPTER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37560" y="1554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€299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337560" y="205740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licenze  |  Mesi 4-6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703320" y="2331720"/>
            <a:ext cx="19202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11880" y="242316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anni upgrade inclusi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prioritario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Testimonial Fondatori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0" y="1097280"/>
            <a:ext cx="265176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0" y="1097280"/>
            <a:ext cx="2651760" cy="457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1" name="Text 19"/>
          <p:cNvSpPr/>
          <p:nvPr/>
        </p:nvSpPr>
        <p:spPr>
          <a:xfrm>
            <a:off x="6217920" y="128016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PREZZO PIENO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217920" y="1554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€449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6217920" y="205740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Illimitate  |  Mese 7+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583680" y="2331720"/>
            <a:ext cx="19202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92240" y="242316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anno upgrade incluso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Garanzia 30gg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Soddisfatti o rimborsati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39319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 di conversione: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" y="41605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Scarsita' reale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" y="436168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poi 20 licenze — numeri credibili, non marketing trick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743200" y="41605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anchoring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743200" y="436168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€449 visibile subito → €149 sembra un regalo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846320" y="41605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aversion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46320" y="436168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lifetime SOLO per Fondatori — chi aspetta lo perde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949440" y="41605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rischio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949440" y="436168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abbonamento. Garanzia 30gg a prezzo pieno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Modello di ricavo composito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Licenza upfront + pavimento ricorrente che cresce con la base installata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143000"/>
            <a:ext cx="78638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143000"/>
            <a:ext cx="45720" cy="5943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1887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Ricavo = (Nuove licenze x Prezzo) + (Base installata x Tasso rinnovo x €99) + (Masterclass + Inner Circle)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143560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upfront, variabile                 ricorrente, crescente                     community-driven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 (target Anno 2)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7863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365760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Prezzo medio licenza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Mix: 10x€149 + 20x€299 + resto €449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Tasso rinnovo upgrade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55-65%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 software perpetuo: 50-70%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Organico + demo 1:1 + referral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LTV (5 anni)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€410 licenza + 4 anni upgrade al 60%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LTV:CAC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5,4:1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&gt;3:1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costi cloud per utente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40080" y="3977640"/>
            <a:ext cx="786384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" y="3977640"/>
            <a:ext cx="45720" cy="8686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04164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Confronto pricing annualizzato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14400" y="4297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Mangofit Pro: €40/mese = €480/anno, €960 in 2 anni, €1.440 in 3 anni — e continua a salire ogni anno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FitManager:   €449 + €99/anno = €548 in 2 anni, €647 in 3 anni — dal terzo anno il risparmio e' netto e cresce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Lancio: POC 90 giorni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primi 10 non sono clienti. Sono la Proof of Concept che valida tutto.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05840" y="118872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508760" y="1394460"/>
            <a:ext cx="128016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6916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Pre-lancio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19019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Sett. -4 a 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2148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 + waiting list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attivo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Teaser video 60 sec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46120" y="118872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324612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749040" y="1394460"/>
            <a:ext cx="128016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14600" y="16916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14600" y="19019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Giorni 1-14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606040" y="2148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Fondatori selezionati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Installazione 1:1 (30 min)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+ willingness-to-pay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0" y="118872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989320" y="1394460"/>
            <a:ext cx="128016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16916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Adozione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54880" y="19019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Giorni 15-75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846320" y="2148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Check-in bisettimanale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Micro-survey settimanale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Canale community attivo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726680" y="118872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4" name="Text 22"/>
          <p:cNvSpPr/>
          <p:nvPr/>
        </p:nvSpPr>
        <p:spPr>
          <a:xfrm>
            <a:off x="772668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995160" y="16916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Risultati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995160" y="19019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Giorni 75-90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086600" y="2148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Questionario vs baseline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Testimonial video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+ GO/NO-GO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" y="30175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Profili dei 10 Fondatori (selezione strategica)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" y="32918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05840" y="332841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in palestra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383280" y="32918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749040" y="332841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freelance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0" y="32918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92240" y="332841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Chinesiologi clinici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40080" y="37307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005840" y="37673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online/ibrido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383280" y="37307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3749040" y="37673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neoqualificato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126480" y="37307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492240" y="37673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senior (40+ clienti)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3017520"/>
          <a:ext cx="3657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14400"/>
                <a:gridCol w="118872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90gg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Ore admin/settimana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3-5h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&lt;2h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Organizzazione (1-10)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8+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Ricomprerebbe a €449?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8/10 si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2" name="Text 39"/>
          <p:cNvSpPr/>
          <p:nvPr/>
        </p:nvSpPr>
        <p:spPr>
          <a:xfrm>
            <a:off x="640080" y="46634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10 case study + 10 video + dati aggregati. Se fallisce, costa €200 + tempo. Se funziona, genera tutto il marketing.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Go-to-Market: 3 fasi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Dalla POC alla scala — ogni fase si autofinanzia con i ricavi della precedente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65176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45720" cy="32918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344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43560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Mesi 4-6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Early Adopter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2057400"/>
            <a:ext cx="19202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1945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licenze a €299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Testimonial Fondatori come social proof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list + demo 1:1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Conversione attesa: 40%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3703320"/>
            <a:ext cx="2103120" cy="41148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7033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clienti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337560" y="1097280"/>
            <a:ext cx="265176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337560" y="1097280"/>
            <a:ext cx="45720" cy="32918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3337560" y="12344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37560" y="143560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Mesi 7-12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37560" y="1691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Prezzo pieno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703320" y="2057400"/>
            <a:ext cx="19202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20440" y="21945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€449/licenza + garanzia 30gg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Webinar mensile + Q&amp;A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program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+ partnership formatori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11880" y="3703320"/>
            <a:ext cx="2103120" cy="41148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22" name="Text 20"/>
          <p:cNvSpPr/>
          <p:nvPr/>
        </p:nvSpPr>
        <p:spPr>
          <a:xfrm>
            <a:off x="3611880" y="37033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clienti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17920" y="1097280"/>
            <a:ext cx="265176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17920" y="1097280"/>
            <a:ext cx="45720" cy="32918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6217920" y="12344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217920" y="143560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Mesi 13-36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17920" y="1691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Scala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583680" y="2057400"/>
            <a:ext cx="19202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0" y="21945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Tirocinante + ufficio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Fiere settore (RiminiWellness)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 keyword transazionali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Moduli AI + white-label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92240" y="3703320"/>
            <a:ext cx="2103120" cy="41148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1" name="Text 29"/>
          <p:cNvSpPr/>
          <p:nvPr/>
        </p:nvSpPr>
        <p:spPr>
          <a:xfrm>
            <a:off x="6492240" y="37033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 clienti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Ecosistema Community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motore di ricavo ricorrente su licenza perpetua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143000"/>
            <a:ext cx="7863840" cy="822960"/>
          </a:xfrm>
          <a:prstGeom prst="rect">
            <a:avLst/>
          </a:prstGeom>
          <a:solidFill>
            <a:srgbClr val="1E293B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143000"/>
            <a:ext cx="45720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2161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CIRCLE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" y="143560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€299/anno  |  Max 50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566160" y="1216152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Mastermind mensile, mentorship 1:1, co-creazione roadmap, certificazione PT Evoluto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68680" y="2103120"/>
            <a:ext cx="7406640" cy="82296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2103120"/>
            <a:ext cx="45720" cy="8229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217627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PRO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97280" y="239572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€99/anno = Upgrade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94760" y="217627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Masterclass mensili, webinar Q&amp;A, nuovi cataloghi, template, supporto prioritario, badge PRO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7280" y="3063240"/>
            <a:ext cx="6949440" cy="822960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7280" y="3063240"/>
            <a:ext cx="45720" cy="82296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7" name="Text 15"/>
          <p:cNvSpPr/>
          <p:nvPr/>
        </p:nvSpPr>
        <p:spPr>
          <a:xfrm>
            <a:off x="1325880" y="3136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BASE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325880" y="335584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Gratuita  |  Tutti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023360" y="313639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Forum supporto, knowledge base, annunci versioni, networking per citta', onboarding 5 step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0080" y="4114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tipo mensile Community PRO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389120"/>
          <a:ext cx="7863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572000"/>
                <a:gridCol w="1371600"/>
              </a:tblGrid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Settimana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Contenuto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Valore singolo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Sett.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Masterclass tematica (45-60 min + Q&amp;A)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Sett.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Template del mese + aggiornamento catalogo esercizi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Sett.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Webinar 'Chiedi all'esperto' (live Q&amp;A)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Sett.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 studio community + recap mensile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 annuo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~€650 di valore percepito per €99/anno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6,5:1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Prodotto e moat competitivo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Costruito in 6 mesi. Non replicabile in settimane.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2344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89611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45.000+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74520" y="868680"/>
            <a:ext cx="12344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874520" y="89611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395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874520" y="132588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91840" y="868680"/>
            <a:ext cx="12344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91840" y="89611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500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291840" y="132588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Esercizi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868680"/>
            <a:ext cx="12344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09160" y="89611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880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709160" y="132588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Alimenti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26480" y="868680"/>
            <a:ext cx="12344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26480" y="89611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47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126480" y="132588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Condizioni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543800" y="868680"/>
            <a:ext cx="12344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543800" y="89611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83 MB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7543800" y="132588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" y="1874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tecnologico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214884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 + FastAPI + SQLModel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+ React 19 + TypeScript + shadcn/ui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WAL x 3 (crm + catalog + nutrition)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Langchain + Ollama (architettura pronta)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Distribuzione: PyInstaller + Inno Setup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0" y="1874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Moat competitivo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46320" y="214884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scientifico proprietario (6 mesi di costruzione)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Science Engine: 3.500 LOC evidence-based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Engine: 47 condizioni x 80 regole automatiche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Nutrizione CREA italiana (non traduzione USDA)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 by architecture (non retrofit)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657600"/>
          <a:ext cx="78638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754880"/>
                <a:gridCol w="118872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Clienti, contratti, pagamenti, agenda, cassa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Anamnesi 6 step, misurazioni, avatar 6D, readiness score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Allenamento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Workout builder 3-tab, DnD, blocchi, export PDF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Nutrizione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880 alimenti, 210 ricette, 12 template LARN, piano 7gg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Operativo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wizard, licenza HW-bound, backup/restore, diagnostica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Portale anamnesi self-service + Tailscale Funnel (HTTPS)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Proiezioni finanziarie — P&amp;L 3 anni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puro. Profittevole dal mese 4. Zero investimento esterno necessario.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51560"/>
          <a:ext cx="8595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920240"/>
                <a:gridCol w="1920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Nuove licenze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installata cumulativa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RICAVI LORDI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€35.910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€95.350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€178.970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Licenze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€34.410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€80.820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€134.700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Upgrade annuale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€4.850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€13.600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Inner Circle + Masterclass 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€4.680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€20.670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Setup/onboarding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€1.500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€5.000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€10.000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Rev. share partner (variabile)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-€2.445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-€8.275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-€18.582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Costi fissi operativi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-€4.000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-€28.500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-€48.100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€29.465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€58.575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€112.288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Margine EBITDA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Tasse + INPS (forfettario 5%)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-€7.465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-€19.833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~-€50K **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UTILE NETTO FOUNDER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€22.000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€38.742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€55-65K **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Inner Circle e Masterclass sono stream proiettati, non ancora validati. Senza di essi EBITDA Anno 3 resta &gt;€90K.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 Anno 3: transizione a regime ordinario/SRL se fatturato &gt;€85K. Carico fiscale stimato ~35-40% su reddito netto.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Cash flow e scenari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business non puo' morire per mancanza di cash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9202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07899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€330/mese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 fissi Anno 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606040" y="1051560"/>
            <a:ext cx="19202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06040" y="107899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Mese 4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606040" y="150876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0" y="1051560"/>
            <a:ext cx="19202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54880" y="107899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€22.000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754880" y="150876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Utile netto Anno 1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903720" y="1051560"/>
            <a:ext cx="19202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903720" y="107899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€0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903720" y="150876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 necessario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4884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920240"/>
                <a:gridCol w="1920240"/>
                <a:gridCol w="192024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Pessimistico (-50%)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Ottimistico (+50%)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Licenze Anno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Ricavi lordi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€17.500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€35.910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€54.000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Rev. share partner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-€1.200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-€2.445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-€3.700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Costi fissi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-€4.000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-€4.000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-€4.000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Tasse + INPS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-€3.600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-€7.465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-€11.200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Utile netto founder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€8.700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€22.000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€35.100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Guadagno partner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€2.445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€3.700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4279392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Anche nel worst case (vendite -50%), il business resta profittevole con €8.700 di utile netto.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costi fissi a €330/mese, bastano 1-2 vendite/mese per coprirli. Zero debito, zero runway problem.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Ricavo ricorrente: upgrade annuale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'pavimento' che cresce con la base installata e copre i costi operativi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97280"/>
          <a:ext cx="78638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554480"/>
                <a:gridCol w="1554480"/>
                <a:gridCol w="1371600"/>
                <a:gridCol w="155448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installata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Idonei rinnovo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Tasso rinnovo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Ricavo upgrade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(incluso)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€4.356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€16.731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regime (570+ clienti, tasso 65-70%), il solo upgrade genera €37-40K/anno — un pavimento che copre tutti i costi operativi.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10 Fondatori hanno upgrade lifetime — sono il premio per chi ha creduto per primo.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40080" y="2880360"/>
          <a:ext cx="786384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365760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868680"/>
            <a:ext cx="45720" cy="23774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875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26187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Giacomo Verardo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15087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Sviluppatore e Product Owner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17830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Prodotto costruito da zero in 6 mesi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45.000+ LOC, 395 test, 5 motori scientifici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 Python/FastAPI + Next.js/React + SQLite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database, release pipeline automatizzata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1: copre sviluppo, vendite, supporto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46320" y="868680"/>
            <a:ext cx="365760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868680"/>
            <a:ext cx="45720" cy="2377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9875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PARTNER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74920" y="126187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Ruolo strutturale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74920" y="15087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Candidato identificato — accordo in definizione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74920" y="17830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anni nel settore fitness/wellness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attivo (formatori, enti, catene)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Credibilita' diretta verso i PT target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Conduzione masterclass e webinar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Selezione 10 Fondatori per la POC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34290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Evoluzione team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03320"/>
          <a:ext cx="78638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754880"/>
                <a:gridCol w="164592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 fisso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Founder + Industry Partner (equity + rev. share)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Tirocinante (€1.200/m) + ufficio (€400/m)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€19.200/anno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Junior (€1.500/m) + eventuale 2o tirocinante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€29.400/anno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Industry Partner: compenso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costi fissi. Piu' vende, piu' guadagna. Allineamento perfetto.</a:t>
            </a:r>
            <a:endParaRPr lang="en-US" sz="1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43000"/>
          <a:ext cx="78638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420624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funziona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Vesting 4 anni, cliff 1 anno. Matura progressivamente.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Rev. share vendite network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 licenze generate tramite referral tracciato con codice univoco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Rev. share Community PRO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 tutti i rinnovi upgrade €99/anno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Rev. share Inner Circle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 abbonamenti €299/anno (dal Anno 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Rev. share Masterclass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 sessioni condotte personalmente (live + registrate)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27889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Proiezione guadagno partner</a:t>
            </a:r>
            <a:endParaRPr lang="en-US" sz="1200" dirty="0"/>
          </a:p>
        </p:txBody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063240"/>
          <a:ext cx="78638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645920"/>
                <a:gridCol w="1737360"/>
                <a:gridCol w="18288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(revenue share)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€2.445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€8.275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€18.582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paper value (6%)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~€15K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~€39K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~€75K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 (cash + equity)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~€17K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~€47K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~€93K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" y="41605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1: 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guadagno poco in cash, ma sto costruendo un asset che cresce.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3: 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€18K cash ricorrente + equity in un'azienda che vale €75K+. E continua a crescere.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640080" y="466344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revenue share sale solo quando salgono i ricavi — non pesa mai su mesi a zero vendite. Costo fisso per il founder: €0.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Rischi e mitigazioni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868680"/>
            <a:ext cx="45720" cy="457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89611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non valida il modello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498080" y="89611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14400" y="109728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persone, €200 di costo. Pivot rapido a basso costo.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1417320"/>
            <a:ext cx="786384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417320"/>
            <a:ext cx="45720" cy="457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144475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Proiezioni non validate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98080" y="144475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14400" y="16459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POC trasforma ipotesi in dati entro 90gg. Zero spese prima.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40080" y="1965960"/>
            <a:ext cx="786384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1965960"/>
            <a:ext cx="45720" cy="4572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19933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Prezzo €449 percepito alto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498080" y="199339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14400" y="21945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€449 una volta &lt; €480/anno Mangofit. Garanzia 30gg. WTP nella POC.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0080" y="2514600"/>
            <a:ext cx="786384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2514600"/>
            <a:ext cx="45720" cy="457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2542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Rinnovo upgrade basso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498080" y="254203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14400" y="274320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 percepito €650 per €99 (6,5:1). Se &lt;40% → rivedere pricing.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0080" y="3063240"/>
            <a:ext cx="786384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0080" y="3063240"/>
            <a:ext cx="45720" cy="457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309067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founder risk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498080" y="309067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4400" y="32918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dalla POC. Release automatizzata. Tirocinante dal mese 13.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40080" y="3611880"/>
            <a:ext cx="786384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0080" y="3611880"/>
            <a:ext cx="45720" cy="4572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363931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Adozione lenta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498080" y="363931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14400" y="384048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€330/mese fissi. 1-2 vendite/mese = break-even. Non muore.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0080" y="4160520"/>
            <a:ext cx="786384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0080" y="4160520"/>
            <a:ext cx="45720" cy="4572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6" name="Text 34"/>
          <p:cNvSpPr/>
          <p:nvPr/>
        </p:nvSpPr>
        <p:spPr>
          <a:xfrm>
            <a:off x="914400" y="418795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 SaaS aggressivo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498080" y="418795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Bassa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914400" y="43891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Quadrante vuoto. Riscrivere SaaS in locale = ordini di grandezza.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40080" y="4663440"/>
            <a:ext cx="7863840" cy="347472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4700016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case: -50% vendite → 45 licenze, €17.500 ricavi → €8.700 utile netto. Il business non muore.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 e milestones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45720" cy="38404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88696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920240" y="88696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+ beta program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920240" y="1078992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Fondatori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344168"/>
            <a:ext cx="45720" cy="38404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36245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920240" y="136245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Adopter + prezzo pieno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920240" y="1554480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30-60 clienti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40080" y="1819656"/>
            <a:ext cx="45720" cy="38404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183794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920240" y="183794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suggestions (Ollama)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920240" y="2029968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0080" y="2295144"/>
            <a:ext cx="45720" cy="38404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23134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920240" y="231343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Mobile-responsive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920240" y="2505456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Usabilita' palestra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40080" y="2770632"/>
            <a:ext cx="45720" cy="3840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27889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2027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920240" y="27889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Multi-operatore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920240" y="2980944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Centri fitness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0080" y="3246120"/>
            <a:ext cx="45720" cy="3840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3264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920240" y="326440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sync opzionale + cross-platform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920240" y="3456432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+ tablet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029200" y="8686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chiave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029200" y="11887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 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43600" y="1188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completata, NPS &gt;50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029200" y="16459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 6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43600" y="1645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clienti, social proof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029200" y="21031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 9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943600" y="2103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clienti, NPS &gt;40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029200" y="25603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 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943600" y="2560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clienti, €22K netti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0" y="30175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 18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943600" y="3017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Rinnovo upgrade &gt;50%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29200" y="34747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 24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943600" y="3474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370+ clienti, team 3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Cosa cerchiamo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Cerchiamo chi costruisce con noi.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097280"/>
            <a:ext cx="7863840" cy="749808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097280"/>
            <a:ext cx="45720" cy="749808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261872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11430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Partner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498080" y="114300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417320" y="14173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voce credibile che parla ai PT. Il network che apre le porte.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seleziona i 10 Fondatori e conduce le masterclass. Equity + revenue share.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640080" y="1965960"/>
            <a:ext cx="7863840" cy="749808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0080" y="1965960"/>
            <a:ext cx="45720" cy="749808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30552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17320" y="20116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Fondatori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7498080" y="201168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 1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417320" y="22860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Professionisti disposti a testare 90 giorni con protocollo strutturato.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loro dati reali sono la Proof of Concept di tutto il modello.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640080" y="2834640"/>
            <a:ext cx="7863840" cy="749808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40080" y="2834640"/>
            <a:ext cx="45720" cy="749808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999232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417320" y="28803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Adopter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7498080" y="28803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MESI 4-6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417320" y="31546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licenze a €299 con 2 anni upgrade. Comprano con dati della POC.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Testimonial dei Fondatori come trigger di acquisto.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640080" y="3703320"/>
            <a:ext cx="7863840" cy="749808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40080" y="3703320"/>
            <a:ext cx="45720" cy="749808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7912"/>
            <a:ext cx="347472" cy="3474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417320" y="37490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Investitori (opzionale)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7498080" y="37490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2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417320" y="40233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dal Anno 2, solo dopo validazione. €30-50K per accelerare.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90+ clienti e dati reali, non con promesse.</a:t>
            </a:r>
            <a:endParaRPr lang="en-US" sz="900" dirty="0"/>
          </a:p>
        </p:txBody>
      </p:sp>
      <p:sp>
        <p:nvSpPr>
          <p:cNvPr id="29" name="Shape 23"/>
          <p:cNvSpPr/>
          <p:nvPr/>
        </p:nvSpPr>
        <p:spPr>
          <a:xfrm>
            <a:off x="640080" y="4709160"/>
            <a:ext cx="7863840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0" name="Text 24"/>
          <p:cNvSpPr/>
          <p:nvPr/>
        </p:nvSpPr>
        <p:spPr>
          <a:xfrm>
            <a:off x="914400" y="47274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Oggi → Partner → Landing page → POC 90gg → Early Adopter → Prezzo pieno → Scala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144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554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FitManager Studio+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640080" y="22402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tuoi dati. Il tuo PC. La tua scienza.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cloud. Zero abbonamenti. Per sempre.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3017520"/>
            <a:ext cx="1097280" cy="3200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329184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Giacomo Verardo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[email da definire]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[telefono da definire]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43891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2026  |  Confidenziale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Appendice A: Struttura fiscale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P.IVA forfettaria Anno 1 → transizione a ordinario/SRL quando si supera €85K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097280"/>
            <a:ext cx="24688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097280"/>
            <a:ext cx="45720" cy="137160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188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Mesi 1-3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16002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Prestazione occasionale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€1.490 (&lt; €5.000 annui)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costo fisso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097280"/>
            <a:ext cx="24688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74720" y="1097280"/>
            <a:ext cx="45720" cy="13716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0" y="1188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Mesi 4-12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0" y="16002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P.IVA forfettaria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ATECO 62.10.00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IRPEF + 26% INPS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~20,8% effettivo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09360" y="1097280"/>
            <a:ext cx="24688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0" y="1097280"/>
            <a:ext cx="45720" cy="13716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0" y="1188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2+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(&gt;€85K)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92240" y="16002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 ordinario o SRL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~35-40% reddito netto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pianificare con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commercialista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743200"/>
          <a:ext cx="7863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320040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Aliquota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Applicata 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Coefficiente redditivita'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Fatturato lordo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IRPEF startup (5 anni)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Reddito imponibile (67% fatt.)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INPS gestione separata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Reddito imponibile (67% fatt.)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Carico fiscale totale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~20,8%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 fatturato lordo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Commercialista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€800-1.200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 fisso annuo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 forfettario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€85.000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Oltre → regime ordinario o SRL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640080" y="466344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su €50.000 fatturato → imponibile €33.500 → IRPEF €1.675 + INPS €8.730 = €10.405 → netto ~€39.600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FitManager Studio+ — Pitch Deck</dc:title>
  <dc:subject>PptxGenJS Presentation</dc:subject>
  <dc:creator>Giacomo Verardo</dc:creator>
  <cp:lastModifiedBy>Giacomo Verardo</cp:lastModifiedBy>
  <cp:revision>1</cp:revision>
  <dcterms:created xsi:type="dcterms:W3CDTF">2026-03-23T09:08:34Z</dcterms:created>
  <dcterms:modified xsi:type="dcterms:W3CDTF">2026-03-23T09:08:34Z</dcterms:modified>
</cp:coreProperties>
</file>